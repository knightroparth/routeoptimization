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3929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EFE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94742"/>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221F1A"/>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18642"/>
            <a:ext cx="10566400" cy="4226558"/>
          </a:xfrm>
          <a:prstGeom prst="rect">
            <a:avLst/>
          </a:prstGeom>
          <a:noFill/>
          <a:ln/>
        </p:spPr>
        <p:txBody>
          <a:bodyPr wrap="square" lIns="0" tIns="0" rIns="0" bIns="0" rtlCol="0" anchor="t"/>
          <a:lstStyle>
            <a:lvl1pPr marL="0" indent="0" algn="l">
              <a:lnSpc>
                <a:spcPct val="140000"/>
              </a:lnSpc>
              <a:buNone/>
              <a:defRPr lang="en-US" sz="1600" dirty="0">
                <a:solidFill>
                  <a:srgbClr val="221F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EFE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094742"/>
            <a:ext cx="10566400" cy="419100"/>
          </a:xfrm>
          <a:prstGeom prst="rect">
            <a:avLst/>
          </a:prstGeom>
          <a:noFill/>
          <a:ln/>
        </p:spPr>
        <p:txBody>
          <a:bodyPr wrap="square" lIns="0" tIns="0" rIns="0" bIns="0" rtlCol="0" anchor="t"/>
          <a:lstStyle>
            <a:lvl1pPr marL="0" indent="0" algn="l">
              <a:lnSpc>
                <a:spcPct val="115000"/>
              </a:lnSpc>
              <a:buNone/>
              <a:defRPr lang="en-US" sz="3000" dirty="0">
                <a:solidFill>
                  <a:srgbClr val="221F1A"/>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818642"/>
            <a:ext cx="10566400" cy="4226558"/>
          </a:xfrm>
          <a:prstGeom prst="rect">
            <a:avLst/>
          </a:prstGeom>
          <a:noFill/>
          <a:ln/>
        </p:spPr>
        <p:txBody>
          <a:bodyPr wrap="square" lIns="0" tIns="0" rIns="0" bIns="0" rtlCol="0" anchor="t"/>
          <a:lstStyle>
            <a:lvl1pPr marL="0" indent="0" algn="l">
              <a:lnSpc>
                <a:spcPct val="140000"/>
              </a:lnSpc>
              <a:buNone/>
              <a:defRPr lang="en-US" sz="1600" dirty="0">
                <a:solidFill>
                  <a:srgbClr val="221F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B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600" i="1" dirty="0">
                <a:solidFill>
                  <a:srgbClr val="D8A24A"/>
                </a:solidFill>
                <a:latin typeface="Times New Roman" panose="02020603050405020304" pitchFamily="18" charset="0"/>
                <a:ea typeface="Georgia" pitchFamily="18" charset="-122"/>
                <a:cs typeface="Times New Roman" panose="02020603050405020304" pitchFamily="18" charset="0"/>
              </a:rPr>
              <a:t>Project Review III</a:t>
            </a:r>
            <a:endParaRPr lang="en-US" sz="1600" dirty="0">
              <a:latin typeface="Times New Roman" panose="02020603050405020304" pitchFamily="18" charset="0"/>
              <a:cs typeface="Times New Roman" panose="02020603050405020304" pitchFamily="18" charset="0"/>
            </a:endParaRPr>
          </a:p>
        </p:txBody>
      </p:sp>
      <p:sp>
        <p:nvSpPr>
          <p:cNvPr id="3" name="Text 1"/>
          <p:cNvSpPr>
            <a:spLocks noGrp="1"/>
          </p:cNvSpPr>
          <p:nvPr>
            <p:ph type="title"/>
          </p:nvPr>
        </p:nvSpPr>
        <p:spPr>
          <a:xfrm>
            <a:off x="812800" y="2121297"/>
            <a:ext cx="10883392" cy="683736"/>
          </a:xfrm>
          <a:prstGeom prst="rect">
            <a:avLst/>
          </a:prstGeom>
          <a:noFill/>
          <a:ln/>
        </p:spPr>
        <p:txBody>
          <a:bodyPr wrap="square" lIns="0" tIns="0" rIns="0" bIns="0" rtlCol="0" anchor="t">
            <a:normAutofit/>
          </a:bodyPr>
          <a:lstStyle/>
          <a:p>
            <a:pPr marL="0" indent="0" algn="l">
              <a:lnSpc>
                <a:spcPts val="5184"/>
              </a:lnSpc>
              <a:buNone/>
            </a:pPr>
            <a:r>
              <a:rPr lang="en-US" sz="5400" b="0" i="0" dirty="0">
                <a:solidFill>
                  <a:srgbClr val="F5EFE3"/>
                </a:solidFill>
                <a:latin typeface="Times New Roman" panose="02020603050405020304" pitchFamily="18" charset="0"/>
                <a:ea typeface="Georgia" pitchFamily="18" charset="-122"/>
                <a:cs typeface="Times New Roman" panose="02020603050405020304" pitchFamily="18" charset="0"/>
              </a:rPr>
              <a:t>AI-Based Medical Representative</a:t>
            </a:r>
            <a:endParaRPr lang="en-US" sz="5400" dirty="0">
              <a:latin typeface="Times New Roman" panose="02020603050405020304" pitchFamily="18" charset="0"/>
              <a:cs typeface="Times New Roman" panose="02020603050405020304" pitchFamily="18" charset="0"/>
            </a:endParaRPr>
          </a:p>
        </p:txBody>
      </p:sp>
      <p:sp>
        <p:nvSpPr>
          <p:cNvPr id="4" name="Text 2"/>
          <p:cNvSpPr/>
          <p:nvPr/>
        </p:nvSpPr>
        <p:spPr>
          <a:xfrm>
            <a:off x="812800" y="2932033"/>
            <a:ext cx="10883392" cy="421640"/>
          </a:xfrm>
          <a:prstGeom prst="rect">
            <a:avLst/>
          </a:prstGeom>
          <a:noFill/>
          <a:ln/>
        </p:spPr>
        <p:txBody>
          <a:bodyPr wrap="square" lIns="0" tIns="0" rIns="0" bIns="0" rtlCol="0" anchor="t">
            <a:normAutofit/>
          </a:bodyPr>
          <a:lstStyle/>
          <a:p>
            <a:pPr marL="0" indent="0" algn="l">
              <a:lnSpc>
                <a:spcPts val="3120"/>
              </a:lnSpc>
              <a:buNone/>
            </a:pPr>
            <a:r>
              <a:rPr lang="en-US" sz="2800" i="1" dirty="0">
                <a:solidFill>
                  <a:srgbClr val="D8A24A"/>
                </a:solidFill>
                <a:latin typeface="Times New Roman" panose="02020603050405020304" pitchFamily="18" charset="0"/>
                <a:ea typeface="Georgia" pitchFamily="18" charset="-122"/>
                <a:cs typeface="Times New Roman" panose="02020603050405020304" pitchFamily="18" charset="0"/>
              </a:rPr>
              <a:t>Visit prioritization and route optimization</a:t>
            </a:r>
            <a:endParaRPr lang="en-US" sz="2800" dirty="0">
              <a:latin typeface="Times New Roman" panose="02020603050405020304" pitchFamily="18" charset="0"/>
              <a:cs typeface="Times New Roman" panose="02020603050405020304" pitchFamily="18" charset="0"/>
            </a:endParaRPr>
          </a:p>
        </p:txBody>
      </p:sp>
      <p:sp>
        <p:nvSpPr>
          <p:cNvPr id="5" name="Text 3"/>
          <p:cNvSpPr/>
          <p:nvPr/>
        </p:nvSpPr>
        <p:spPr>
          <a:xfrm>
            <a:off x="812800" y="3480673"/>
            <a:ext cx="8502650" cy="596900"/>
          </a:xfrm>
          <a:prstGeom prst="rect">
            <a:avLst/>
          </a:prstGeom>
          <a:noFill/>
          <a:ln/>
        </p:spPr>
        <p:txBody>
          <a:bodyPr wrap="square" lIns="0" tIns="0" rIns="0" bIns="0" rtlCol="0" anchor="t">
            <a:normAutofit/>
          </a:bodyPr>
          <a:lstStyle/>
          <a:p>
            <a:pPr marL="0" indent="0" algn="l">
              <a:lnSpc>
                <a:spcPts val="2250"/>
              </a:lnSpc>
              <a:buNone/>
            </a:pPr>
            <a:r>
              <a:rPr lang="en-US" sz="1600" dirty="0">
                <a:solidFill>
                  <a:srgbClr val="C9C3B3"/>
                </a:solidFill>
                <a:latin typeface="Times New Roman" panose="02020603050405020304" pitchFamily="18" charset="0"/>
                <a:ea typeface="Arial" pitchFamily="34" charset="-122"/>
                <a:cs typeface="Times New Roman" panose="02020603050405020304" pitchFamily="18" charset="0"/>
              </a:rPr>
              <a:t>A predictive, constraint-based planner that turns daily doctor-visit planning from guesswork into a data-driven decision.</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812800" y="5097145"/>
            <a:ext cx="10566400" cy="0"/>
          </a:xfrm>
          <a:prstGeom prst="line">
            <a:avLst/>
          </a:prstGeom>
          <a:noFill/>
          <a:ln w="6350">
            <a:solidFill>
              <a:srgbClr val="4A5A52"/>
            </a:solidFill>
            <a:prstDash val="solid"/>
          </a:ln>
        </p:spPr>
      </p:sp>
      <p:sp>
        <p:nvSpPr>
          <p:cNvPr id="7" name="Text 5"/>
          <p:cNvSpPr/>
          <p:nvPr/>
        </p:nvSpPr>
        <p:spPr>
          <a:xfrm>
            <a:off x="812800" y="5302250"/>
            <a:ext cx="2590283" cy="768350"/>
          </a:xfrm>
          <a:prstGeom prst="rect">
            <a:avLst/>
          </a:prstGeom>
          <a:noFill/>
          <a:ln/>
        </p:spPr>
        <p:txBody>
          <a:bodyPr wrap="square" lIns="0" tIns="0" rIns="0" bIns="0" rtlCol="0" anchor="t">
            <a:normAutofit/>
          </a:bodyPr>
          <a:lstStyle/>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Bhakti Jayantilal Gundecha · 3071</a:t>
            </a:r>
            <a:endParaRPr lang="en-US" sz="1400" dirty="0">
              <a:latin typeface="Times New Roman" panose="02020603050405020304" pitchFamily="18" charset="0"/>
              <a:cs typeface="Times New Roman" panose="02020603050405020304" pitchFamily="18" charset="0"/>
            </a:endParaRPr>
          </a:p>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Parth Lokhande · 1020</a:t>
            </a:r>
            <a:endParaRPr lang="en-US" sz="1400" dirty="0">
              <a:latin typeface="Times New Roman" panose="02020603050405020304" pitchFamily="18" charset="0"/>
              <a:cs typeface="Times New Roman" panose="02020603050405020304" pitchFamily="18" charset="0"/>
            </a:endParaRPr>
          </a:p>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Udaykiran Bitla · 3056</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3835638" y="5302250"/>
            <a:ext cx="2079470" cy="768350"/>
          </a:xfrm>
          <a:prstGeom prst="rect">
            <a:avLst/>
          </a:prstGeom>
          <a:noFill/>
          <a:ln/>
        </p:spPr>
        <p:txBody>
          <a:bodyPr wrap="square" lIns="0" tIns="0" rIns="0" bIns="0" rtlCol="0" anchor="t">
            <a:normAutofit/>
          </a:bodyPr>
          <a:lstStyle/>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Group 19</a:t>
            </a:r>
            <a:endParaRPr lang="en-US" sz="1400" dirty="0">
              <a:latin typeface="Times New Roman" panose="02020603050405020304" pitchFamily="18" charset="0"/>
              <a:cs typeface="Times New Roman" panose="02020603050405020304" pitchFamily="18" charset="0"/>
            </a:endParaRPr>
          </a:p>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Guide: Prof. M. U. Buchade</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6362541" y="5302250"/>
            <a:ext cx="4888370" cy="768350"/>
          </a:xfrm>
          <a:prstGeom prst="rect">
            <a:avLst/>
          </a:prstGeom>
          <a:noFill/>
          <a:ln/>
        </p:spPr>
        <p:txBody>
          <a:bodyPr wrap="square" lIns="0" tIns="0" rIns="0" bIns="0" rtlCol="0" anchor="t">
            <a:normAutofit/>
          </a:bodyPr>
          <a:lstStyle/>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PVG's College of Engineering, Technology &amp; Management, Pune</a:t>
            </a:r>
            <a:endParaRPr lang="en-US" sz="1400" dirty="0">
              <a:latin typeface="Times New Roman" panose="02020603050405020304" pitchFamily="18" charset="0"/>
              <a:cs typeface="Times New Roman" panose="02020603050405020304" pitchFamily="18" charset="0"/>
            </a:endParaRPr>
          </a:p>
          <a:p>
            <a:pPr marL="0" indent="0" algn="l">
              <a:lnSpc>
                <a:spcPts val="1950"/>
              </a:lnSpc>
              <a:buNone/>
            </a:pPr>
            <a:r>
              <a:rPr lang="en-US" sz="1400" dirty="0">
                <a:solidFill>
                  <a:srgbClr val="F5EFE3"/>
                </a:solidFill>
                <a:latin typeface="Times New Roman" panose="02020603050405020304" pitchFamily="18" charset="0"/>
                <a:ea typeface="Arial" pitchFamily="34" charset="-122"/>
                <a:cs typeface="Times New Roman" panose="02020603050405020304" pitchFamily="18" charset="0"/>
              </a:rPr>
              <a:t>Department of AI &amp; Data Science</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0"/>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Problem statement</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96135"/>
            <a:ext cx="10883392" cy="577850"/>
          </a:xfrm>
          <a:prstGeom prst="rect">
            <a:avLst/>
          </a:prstGeom>
          <a:noFill/>
          <a:ln/>
        </p:spPr>
        <p:txBody>
          <a:bodyPr wrap="square" lIns="0" tIns="0" rIns="0" bIns="0" rtlCol="0" anchor="t">
            <a:normAutofit/>
          </a:bodyPr>
          <a:lstStyle/>
          <a:p>
            <a:pPr marL="0" indent="0" algn="l">
              <a:lnSpc>
                <a:spcPts val="2175"/>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Medical Representatives need to visit multiple doctors during a working day. Manual planning becomes difficult when the number of doctors increases and each doctor has different:</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910082" y="3073400"/>
            <a:ext cx="4967910"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Priority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Availability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Preferred visit time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Visit duration</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6096635" y="3073400"/>
            <a:ext cx="0" cy="1102360"/>
          </a:xfrm>
          <a:prstGeom prst="line">
            <a:avLst/>
          </a:prstGeom>
          <a:noFill/>
          <a:ln w="6350">
            <a:solidFill>
              <a:srgbClr val="CDBFA6"/>
            </a:solidFill>
            <a:prstDash val="solid"/>
          </a:ln>
        </p:spPr>
      </p:sp>
      <p:sp>
        <p:nvSpPr>
          <p:cNvPr id="8" name="Text 6"/>
          <p:cNvSpPr/>
          <p:nvPr/>
        </p:nvSpPr>
        <p:spPr>
          <a:xfrm>
            <a:off x="6551422" y="3073400"/>
            <a:ext cx="4967910"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Location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Follow-up requirement</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Travel time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Working-hour constraints</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815975" y="4603750"/>
            <a:ext cx="1490107"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Multiple doctors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2372757" y="474662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2629932" y="4603750"/>
            <a:ext cx="1490186"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Different priorities</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4186793" y="474662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4443968" y="4603750"/>
            <a:ext cx="1490107"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Different time windows</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6000750" y="474662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6257925" y="4603750"/>
            <a:ext cx="1490186"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Different locations</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7814787" y="474662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8071962" y="4603750"/>
            <a:ext cx="1490107" cy="552450"/>
          </a:xfrm>
          <a:prstGeom prst="rect">
            <a:avLst/>
          </a:prstGeom>
          <a:noFill/>
          <a:ln w="6350">
            <a:solidFill>
              <a:srgbClr val="221F1A"/>
            </a:solidFill>
            <a:prstDash val="solid"/>
          </a:ln>
        </p:spPr>
        <p:txBody>
          <a:bodyPr wrap="square" lIns="78105" tIns="65405" rIns="78106"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Limited MR working hours</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9628743" y="474662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9885918" y="4603750"/>
            <a:ext cx="1490107"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Manual planning</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812800" y="6238241"/>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1"/>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Abstract</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347913"/>
            <a:ext cx="3275483" cy="1866900"/>
          </a:xfrm>
          <a:prstGeom prst="rect">
            <a:avLst/>
          </a:prstGeom>
          <a:noFill/>
          <a:ln/>
        </p:spPr>
        <p:txBody>
          <a:bodyPr wrap="square" lIns="0" tIns="0" rIns="0" bIns="0" rtlCol="0" anchor="t">
            <a:noAutofit/>
          </a:bodyPr>
          <a:lstStyle/>
          <a:p>
            <a:pPr marL="0" indent="0" algn="l">
              <a:lnSpc>
                <a:spcPts val="1813"/>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Medical Representatives (MRs) are required to plan multiple doctor visits within limited working hours, where doctor priority, availability, visit duration, geographical distance and travel time make manual planning difficult. This project proposes an AI-based web application for visit prioritization and route optimization.</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4250055" y="2347913"/>
            <a:ext cx="0" cy="2301875"/>
          </a:xfrm>
          <a:prstGeom prst="line">
            <a:avLst/>
          </a:prstGeom>
          <a:noFill/>
          <a:ln w="6350">
            <a:solidFill>
              <a:srgbClr val="CDBFA6"/>
            </a:solidFill>
            <a:prstDash val="solid"/>
          </a:ln>
        </p:spPr>
      </p:sp>
      <p:sp>
        <p:nvSpPr>
          <p:cNvPr id="7" name="Text 5"/>
          <p:cNvSpPr/>
          <p:nvPr/>
        </p:nvSpPr>
        <p:spPr>
          <a:xfrm>
            <a:off x="4505960" y="2347913"/>
            <a:ext cx="3275483" cy="2327275"/>
          </a:xfrm>
          <a:prstGeom prst="rect">
            <a:avLst/>
          </a:prstGeom>
          <a:noFill/>
          <a:ln/>
        </p:spPr>
        <p:txBody>
          <a:bodyPr wrap="square" lIns="0" tIns="0" rIns="0" bIns="0" rtlCol="0" anchor="t">
            <a:noAutofit/>
          </a:bodyPr>
          <a:lstStyle/>
          <a:p>
            <a:pPr marL="0" indent="0" algn="l">
              <a:lnSpc>
                <a:spcPts val="1813"/>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The system uses historical and operational data to estimate the priority of planned doctor visits using a Machine Learning model. The resulting priority information is combined with appointment time windows, visit duration, MR working hours and travel information. Google OR-Tools is then used to generate a feasible route using Vehicle Routing Problem with Time Windows (VRPTW) concepts.</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7943215" y="2347913"/>
            <a:ext cx="0" cy="920750"/>
          </a:xfrm>
          <a:prstGeom prst="line">
            <a:avLst/>
          </a:prstGeom>
          <a:noFill/>
          <a:ln w="6350">
            <a:solidFill>
              <a:srgbClr val="CDBFA6"/>
            </a:solidFill>
            <a:prstDash val="solid"/>
          </a:ln>
        </p:spPr>
      </p:sp>
      <p:sp>
        <p:nvSpPr>
          <p:cNvPr id="9" name="Text 7"/>
          <p:cNvSpPr/>
          <p:nvPr/>
        </p:nvSpPr>
        <p:spPr>
          <a:xfrm>
            <a:off x="8199120" y="2347913"/>
            <a:ext cx="3275483" cy="946150"/>
          </a:xfrm>
          <a:prstGeom prst="rect">
            <a:avLst/>
          </a:prstGeom>
          <a:noFill/>
          <a:ln/>
        </p:spPr>
        <p:txBody>
          <a:bodyPr wrap="square" lIns="0" tIns="0" rIns="0" bIns="0" rtlCol="0" anchor="t">
            <a:normAutofit/>
          </a:bodyPr>
          <a:lstStyle/>
          <a:p>
            <a:pPr marL="0" indent="0" algn="l">
              <a:lnSpc>
                <a:spcPts val="1813"/>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The system provides role-based dashboards for Medical Representatives and managers, enabling data-driven visit planning, monitoring and analysis.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812800" y="5326380"/>
            <a:ext cx="10883392" cy="54102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Keywords: Medical Representative, Machine Learning, Visit Prioritization, Route Optimization, VRPTW, Random Forest, Google OR-Tools</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12800" y="6238241"/>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3</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1"/>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Why this project?</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08108"/>
            <a:ext cx="10883392" cy="301625"/>
          </a:xfrm>
          <a:prstGeom prst="rect">
            <a:avLst/>
          </a:prstGeom>
          <a:noFill/>
          <a:ln/>
        </p:spPr>
        <p:txBody>
          <a:bodyPr wrap="square" lIns="0" tIns="0" rIns="0" bIns="0" rtlCol="0" anchor="t">
            <a:normAutofit/>
          </a:bodyPr>
          <a:lstStyle/>
          <a:p>
            <a:pPr marL="0" indent="0" algn="l">
              <a:lnSpc>
                <a:spcPts val="2175"/>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Medical Representatives spend significant time in field activities.</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815975" y="2624297"/>
            <a:ext cx="1852930"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Doctor selection</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2735580" y="278368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2992755" y="2624297"/>
            <a:ext cx="1852930" cy="58547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Appointment scheduling</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912360" y="278368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5169535" y="2624297"/>
            <a:ext cx="1852930"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Travel planning</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7089140" y="278368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7346315" y="2624297"/>
            <a:ext cx="1852930"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execution</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9265920" y="278368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9523095" y="2624297"/>
            <a:ext cx="1852930"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Follow-up</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812800" y="3549810"/>
            <a:ext cx="10883392" cy="283210"/>
          </a:xfrm>
          <a:prstGeom prst="rect">
            <a:avLst/>
          </a:prstGeom>
          <a:noFill/>
          <a:ln/>
        </p:spPr>
        <p:txBody>
          <a:bodyPr wrap="square" lIns="0" tIns="0" rIns="0" bIns="0" rtlCol="0" anchor="t">
            <a:normAutofit/>
          </a:bodyPr>
          <a:lstStyle/>
          <a:p>
            <a:pPr marL="0" indent="0" algn="l">
              <a:lnSpc>
                <a:spcPts val="2030"/>
              </a:lnSpc>
              <a:buNone/>
            </a:pPr>
            <a:r>
              <a:rPr lang="en-US" dirty="0">
                <a:solidFill>
                  <a:srgbClr val="6E665A"/>
                </a:solidFill>
                <a:latin typeface="Times New Roman" panose="02020603050405020304" pitchFamily="18" charset="0"/>
                <a:ea typeface="Arial" pitchFamily="34" charset="-122"/>
                <a:cs typeface="Times New Roman" panose="02020603050405020304" pitchFamily="18" charset="0"/>
              </a:rPr>
              <a:t>The existing manual process creates three major challenges:</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812800" y="4144407"/>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1</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812800" y="4464447"/>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Prioritization problem</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812800" y="4787027"/>
            <a:ext cx="3275483" cy="26479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Which doctor should be visited first?</a:t>
            </a:r>
            <a:endParaRPr lang="en-US" sz="1600" dirty="0">
              <a:latin typeface="Times New Roman" panose="02020603050405020304" pitchFamily="18" charset="0"/>
              <a:cs typeface="Times New Roman" panose="02020603050405020304" pitchFamily="18" charset="0"/>
            </a:endParaRPr>
          </a:p>
        </p:txBody>
      </p:sp>
      <p:sp>
        <p:nvSpPr>
          <p:cNvPr id="19" name="Shape 17"/>
          <p:cNvSpPr/>
          <p:nvPr/>
        </p:nvSpPr>
        <p:spPr>
          <a:xfrm>
            <a:off x="4250055" y="4144407"/>
            <a:ext cx="0" cy="882015"/>
          </a:xfrm>
          <a:prstGeom prst="line">
            <a:avLst/>
          </a:prstGeom>
          <a:noFill/>
          <a:ln w="6350">
            <a:solidFill>
              <a:srgbClr val="CDBFA6"/>
            </a:solidFill>
            <a:prstDash val="solid"/>
          </a:ln>
        </p:spPr>
      </p:sp>
      <p:sp>
        <p:nvSpPr>
          <p:cNvPr id="20" name="Text 18"/>
          <p:cNvSpPr/>
          <p:nvPr/>
        </p:nvSpPr>
        <p:spPr>
          <a:xfrm>
            <a:off x="4505960" y="4144407"/>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2</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4505960" y="4464447"/>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Scheduling problem</a:t>
            </a:r>
            <a:endParaRPr lang="en-US" sz="2000" dirty="0">
              <a:latin typeface="Times New Roman" panose="02020603050405020304" pitchFamily="18" charset="0"/>
              <a:cs typeface="Times New Roman" panose="02020603050405020304" pitchFamily="18" charset="0"/>
            </a:endParaRPr>
          </a:p>
        </p:txBody>
      </p:sp>
      <p:sp>
        <p:nvSpPr>
          <p:cNvPr id="22" name="Text 20"/>
          <p:cNvSpPr/>
          <p:nvPr/>
        </p:nvSpPr>
        <p:spPr>
          <a:xfrm>
            <a:off x="4505960" y="4787027"/>
            <a:ext cx="3275483" cy="26479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When can the doctor be visited?</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7943215" y="4144407"/>
            <a:ext cx="0" cy="1121410"/>
          </a:xfrm>
          <a:prstGeom prst="line">
            <a:avLst/>
          </a:prstGeom>
          <a:noFill/>
          <a:ln w="6350">
            <a:solidFill>
              <a:srgbClr val="CDBFA6"/>
            </a:solidFill>
            <a:prstDash val="solid"/>
          </a:ln>
        </p:spPr>
      </p:sp>
      <p:sp>
        <p:nvSpPr>
          <p:cNvPr id="24" name="Text 22"/>
          <p:cNvSpPr/>
          <p:nvPr/>
        </p:nvSpPr>
        <p:spPr>
          <a:xfrm>
            <a:off x="8199120" y="4144407"/>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3</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8199120" y="4464447"/>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Routing problem</a:t>
            </a:r>
            <a:endParaRPr lang="en-US" sz="2000" dirty="0">
              <a:latin typeface="Times New Roman" panose="02020603050405020304" pitchFamily="18" charset="0"/>
              <a:cs typeface="Times New Roman" panose="02020603050405020304" pitchFamily="18" charset="0"/>
            </a:endParaRPr>
          </a:p>
        </p:txBody>
      </p:sp>
      <p:sp>
        <p:nvSpPr>
          <p:cNvPr id="26" name="Text 24"/>
          <p:cNvSpPr/>
          <p:nvPr/>
        </p:nvSpPr>
        <p:spPr>
          <a:xfrm>
            <a:off x="8199120" y="4787027"/>
            <a:ext cx="3275483"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In what sequence should doctors be visited?</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812800" y="5602607"/>
            <a:ext cx="5177460" cy="264795"/>
          </a:xfrm>
          <a:prstGeom prst="rect">
            <a:avLst/>
          </a:prstGeom>
          <a:noFill/>
          <a:ln/>
        </p:spPr>
        <p:txBody>
          <a:bodyPr wrap="square" lIns="0" tIns="0" rIns="0" bIns="0" rtlCol="0" anchor="t">
            <a:normAutofit/>
          </a:bodyPr>
          <a:lstStyle/>
          <a:p>
            <a:pPr marL="0" indent="0" algn="l">
              <a:lnSpc>
                <a:spcPts val="1885"/>
              </a:lnSpc>
              <a:buNone/>
            </a:pPr>
            <a:r>
              <a:rPr lang="en-US" sz="1600" b="1" dirty="0">
                <a:solidFill>
                  <a:srgbClr val="221F1A"/>
                </a:solidFill>
                <a:latin typeface="Times New Roman" panose="02020603050405020304" pitchFamily="18" charset="0"/>
                <a:ea typeface="Arial" pitchFamily="34" charset="-122"/>
                <a:cs typeface="Times New Roman" panose="02020603050405020304" pitchFamily="18" charset="0"/>
              </a:rPr>
              <a:t>Visit priority</a:t>
            </a: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 → Machine Learning → “Who to prioritize?”</a:t>
            </a:r>
            <a:endParaRPr lang="en-US" sz="1600" dirty="0">
              <a:latin typeface="Times New Roman" panose="02020603050405020304" pitchFamily="18" charset="0"/>
              <a:cs typeface="Times New Roman" panose="02020603050405020304" pitchFamily="18" charset="0"/>
            </a:endParaRPr>
          </a:p>
        </p:txBody>
      </p:sp>
      <p:sp>
        <p:nvSpPr>
          <p:cNvPr id="28" name="Shape 26"/>
          <p:cNvSpPr/>
          <p:nvPr/>
        </p:nvSpPr>
        <p:spPr>
          <a:xfrm>
            <a:off x="6096635" y="5602607"/>
            <a:ext cx="0" cy="239395"/>
          </a:xfrm>
          <a:prstGeom prst="line">
            <a:avLst/>
          </a:prstGeom>
          <a:noFill/>
          <a:ln w="6350">
            <a:solidFill>
              <a:srgbClr val="CDBFA6"/>
            </a:solidFill>
            <a:prstDash val="solid"/>
          </a:ln>
        </p:spPr>
      </p:sp>
      <p:sp>
        <p:nvSpPr>
          <p:cNvPr id="29" name="Text 27"/>
          <p:cNvSpPr/>
          <p:nvPr/>
        </p:nvSpPr>
        <p:spPr>
          <a:xfrm>
            <a:off x="6352540" y="5602607"/>
            <a:ext cx="5177460" cy="264795"/>
          </a:xfrm>
          <a:prstGeom prst="rect">
            <a:avLst/>
          </a:prstGeom>
          <a:noFill/>
          <a:ln/>
        </p:spPr>
        <p:txBody>
          <a:bodyPr wrap="square" lIns="0" tIns="0" rIns="0" bIns="0" rtlCol="0" anchor="t">
            <a:normAutofit/>
          </a:bodyPr>
          <a:lstStyle/>
          <a:p>
            <a:pPr marL="0" indent="0" algn="l">
              <a:lnSpc>
                <a:spcPts val="1885"/>
              </a:lnSpc>
              <a:buNone/>
            </a:pPr>
            <a:r>
              <a:rPr lang="en-US" sz="1600" b="1" dirty="0">
                <a:solidFill>
                  <a:srgbClr val="221F1A"/>
                </a:solidFill>
                <a:latin typeface="Times New Roman" panose="02020603050405020304" pitchFamily="18" charset="0"/>
                <a:ea typeface="Arial" pitchFamily="34" charset="-122"/>
                <a:cs typeface="Times New Roman" panose="02020603050405020304" pitchFamily="18" charset="0"/>
              </a:rPr>
              <a:t>Route sequence</a:t>
            </a: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 → Optimization → “Where and when to go?”</a:t>
            </a:r>
            <a:endParaRPr lang="en-US" sz="1600" dirty="0">
              <a:latin typeface="Times New Roman" panose="02020603050405020304" pitchFamily="18" charset="0"/>
              <a:cs typeface="Times New Roman" panose="02020603050405020304" pitchFamily="18" charset="0"/>
            </a:endParaRPr>
          </a:p>
        </p:txBody>
      </p:sp>
      <p:sp>
        <p:nvSpPr>
          <p:cNvPr id="30" name="Text 28"/>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4</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Introduction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39"/>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Existing system</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5975" y="1999614"/>
            <a:ext cx="1230948"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Manager / MR</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2113598"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2370773" y="1999614"/>
            <a:ext cx="1231027"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Select doctors</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3668475"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3925650" y="1999614"/>
            <a:ext cx="1230948"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Check availability</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5223272"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5480447" y="1999614"/>
            <a:ext cx="1231027" cy="552450"/>
          </a:xfrm>
          <a:prstGeom prst="rect">
            <a:avLst/>
          </a:prstGeom>
          <a:noFill/>
          <a:ln w="6350">
            <a:solidFill>
              <a:srgbClr val="221F1A"/>
            </a:solidFill>
            <a:prstDash val="solid"/>
          </a:ln>
        </p:spPr>
        <p:txBody>
          <a:bodyPr wrap="square" lIns="78105" tIns="65405" rIns="781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Manually arrange visits</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6778149"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7035324" y="1999614"/>
            <a:ext cx="1230948" cy="552450"/>
          </a:xfrm>
          <a:prstGeom prst="rect">
            <a:avLst/>
          </a:prstGeom>
          <a:noFill/>
          <a:ln w="6350">
            <a:solidFill>
              <a:srgbClr val="221F1A"/>
            </a:solidFill>
            <a:prstDash val="solid"/>
          </a:ln>
        </p:spPr>
        <p:txBody>
          <a:bodyPr wrap="square" lIns="86122" tIns="78105" rIns="86122"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Estimate travel</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8332946"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8590121" y="1999614"/>
            <a:ext cx="1231027" cy="552450"/>
          </a:xfrm>
          <a:prstGeom prst="rect">
            <a:avLst/>
          </a:prstGeom>
          <a:noFill/>
          <a:ln w="6350">
            <a:solidFill>
              <a:srgbClr val="221F1A"/>
            </a:solidFill>
            <a:prstDash val="solid"/>
          </a:ln>
        </p:spPr>
        <p:txBody>
          <a:bodyPr wrap="square" lIns="78105" tIns="65405" rIns="781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Prepare daily schedule</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9887824" y="21424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10144999" y="1999614"/>
            <a:ext cx="1231027"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doctors</a:t>
            </a:r>
            <a:endParaRPr lang="en-US" sz="1600" dirty="0">
              <a:latin typeface="Times New Roman" panose="02020603050405020304" pitchFamily="18" charset="0"/>
              <a:cs typeface="Times New Roman" panose="02020603050405020304" pitchFamily="18" charset="0"/>
            </a:endParaRPr>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822960" y="2890521"/>
          <a:ext cx="10556240" cy="2951480"/>
        </p:xfrm>
        <a:graphic>
          <a:graphicData uri="http://schemas.openxmlformats.org/drawingml/2006/table">
            <a:tbl>
              <a:tblPr/>
              <a:tblGrid>
                <a:gridCol w="4644746">
                  <a:extLst>
                    <a:ext uri="{9D8B030D-6E8A-4147-A177-3AD203B41FA5}">
                      <a16:colId xmlns:a16="http://schemas.microsoft.com/office/drawing/2014/main" val="20000"/>
                    </a:ext>
                  </a:extLst>
                </a:gridCol>
                <a:gridCol w="5911494">
                  <a:extLst>
                    <a:ext uri="{9D8B030D-6E8A-4147-A177-3AD203B41FA5}">
                      <a16:colId xmlns:a16="http://schemas.microsoft.com/office/drawing/2014/main" val="20001"/>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Existing approach</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Limitation</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Manual prioritization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Subjective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Spreadsheet planning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Difficult to scale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Map navigation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Navigation ≠ visit scheduling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Separate appointment system</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Doesn't optimize the entire route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Static plans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Difficult to handle changes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Limited analytics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Poor management visibility</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9" name="Text 16"/>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5</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19091"/>
            <a:ext cx="10566400" cy="0"/>
          </a:xfrm>
          <a:prstGeom prst="line">
            <a:avLst/>
          </a:prstGeom>
          <a:noFill/>
          <a:ln w="6350">
            <a:solidFill>
              <a:srgbClr val="CDBFA6"/>
            </a:solidFill>
            <a:prstDash val="solid"/>
          </a:ln>
        </p:spPr>
      </p:sp>
      <p:sp>
        <p:nvSpPr>
          <p:cNvPr id="3" name="Text 1"/>
          <p:cNvSpPr/>
          <p:nvPr/>
        </p:nvSpPr>
        <p:spPr>
          <a:xfrm>
            <a:off x="812800" y="812800"/>
            <a:ext cx="10883392" cy="239078"/>
          </a:xfrm>
          <a:prstGeom prst="rect">
            <a:avLst/>
          </a:prstGeom>
          <a:noFill/>
          <a:ln/>
        </p:spPr>
        <p:txBody>
          <a:bodyPr wrap="square" lIns="0" tIns="0" rIns="0" bIns="0" rtlCol="0" anchor="t">
            <a:normAutofit/>
          </a:bodyPr>
          <a:lstStyle/>
          <a:p>
            <a:pPr marL="0" indent="0" algn="l">
              <a:lnSpc>
                <a:spcPts val="1723"/>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Background</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77277"/>
            <a:ext cx="10883392" cy="412909"/>
          </a:xfrm>
          <a:prstGeom prst="rect">
            <a:avLst/>
          </a:prstGeom>
          <a:noFill/>
          <a:ln/>
        </p:spPr>
        <p:txBody>
          <a:bodyPr wrap="square" lIns="0" tIns="0" rIns="0" bIns="0" rtlCol="0" anchor="t">
            <a:normAutofit/>
          </a:bodyPr>
          <a:lstStyle/>
          <a:p>
            <a:pPr marL="0" indent="0" algn="l">
              <a:lnSpc>
                <a:spcPts val="3073"/>
              </a:lnSpc>
              <a:buNone/>
            </a:pPr>
            <a:r>
              <a:rPr lang="en-US" sz="3200" b="1" i="0" dirty="0">
                <a:solidFill>
                  <a:srgbClr val="221F1A"/>
                </a:solidFill>
                <a:latin typeface="Times New Roman" panose="02020603050405020304" pitchFamily="18" charset="0"/>
                <a:ea typeface="Georgia" pitchFamily="18" charset="-122"/>
                <a:cs typeface="Times New Roman" panose="02020603050405020304" pitchFamily="18" charset="0"/>
              </a:rPr>
              <a:t>Literature survey</a:t>
            </a:r>
            <a:endParaRPr lang="en-US" sz="3200" dirty="0">
              <a:latin typeface="Times New Roman" panose="02020603050405020304" pitchFamily="18" charset="0"/>
              <a:cs typeface="Times New Roman" panose="02020603050405020304" pitchFamily="18" charset="0"/>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35627"/>
          <a:ext cx="10556239" cy="4006377"/>
        </p:xfrm>
        <a:graphic>
          <a:graphicData uri="http://schemas.openxmlformats.org/drawingml/2006/table">
            <a:tbl>
              <a:tblPr/>
              <a:tblGrid>
                <a:gridCol w="1900123">
                  <a:extLst>
                    <a:ext uri="{9D8B030D-6E8A-4147-A177-3AD203B41FA5}">
                      <a16:colId xmlns:a16="http://schemas.microsoft.com/office/drawing/2014/main" val="20000"/>
                    </a:ext>
                  </a:extLst>
                </a:gridCol>
                <a:gridCol w="2744622">
                  <a:extLst>
                    <a:ext uri="{9D8B030D-6E8A-4147-A177-3AD203B41FA5}">
                      <a16:colId xmlns:a16="http://schemas.microsoft.com/office/drawing/2014/main" val="20001"/>
                    </a:ext>
                  </a:extLst>
                </a:gridCol>
                <a:gridCol w="2744622">
                  <a:extLst>
                    <a:ext uri="{9D8B030D-6E8A-4147-A177-3AD203B41FA5}">
                      <a16:colId xmlns:a16="http://schemas.microsoft.com/office/drawing/2014/main" val="20002"/>
                    </a:ext>
                  </a:extLst>
                </a:gridCol>
                <a:gridCol w="3166872">
                  <a:extLst>
                    <a:ext uri="{9D8B030D-6E8A-4147-A177-3AD203B41FA5}">
                      <a16:colId xmlns:a16="http://schemas.microsoft.com/office/drawing/2014/main" val="20003"/>
                    </a:ext>
                  </a:extLst>
                </a:gridCol>
              </a:tblGrid>
              <a:tr h="399098">
                <a:tc>
                  <a:txBody>
                    <a:bodyPr/>
                    <a:lstStyle/>
                    <a:p>
                      <a:pPr marL="0" indent="0">
                        <a:lnSpc>
                          <a:spcPts val="2135"/>
                        </a:lnSpc>
                        <a:buNone/>
                      </a:pPr>
                      <a:r>
                        <a:rPr lang="en-US" sz="1525" b="1" dirty="0">
                          <a:solidFill>
                            <a:srgbClr val="221F1A"/>
                          </a:solidFill>
                          <a:latin typeface="Arial" pitchFamily="34" charset="0"/>
                          <a:ea typeface="Arial" pitchFamily="34" charset="-122"/>
                          <a:cs typeface="Arial" pitchFamily="34" charset="-120"/>
                        </a:rPr>
                        <a:t>Study</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135"/>
                        </a:lnSpc>
                        <a:buNone/>
                      </a:pPr>
                      <a:r>
                        <a:rPr lang="en-US" sz="1525" b="1" dirty="0">
                          <a:solidFill>
                            <a:srgbClr val="221F1A"/>
                          </a:solidFill>
                          <a:latin typeface="Arial" pitchFamily="34" charset="0"/>
                          <a:ea typeface="Arial" pitchFamily="34" charset="-122"/>
                          <a:cs typeface="Arial" pitchFamily="34" charset="-120"/>
                        </a:rPr>
                        <a:t>Main focus</a:t>
                      </a:r>
                      <a:endParaRPr lang="en-US" sz="1525"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135"/>
                        </a:lnSpc>
                        <a:buNone/>
                      </a:pPr>
                      <a:r>
                        <a:rPr lang="en-US" sz="1525" b="1" dirty="0">
                          <a:solidFill>
                            <a:srgbClr val="221F1A"/>
                          </a:solidFill>
                          <a:latin typeface="Arial" pitchFamily="34" charset="0"/>
                          <a:ea typeface="Arial" pitchFamily="34" charset="-122"/>
                          <a:cs typeface="Arial" pitchFamily="34" charset="-120"/>
                        </a:rPr>
                        <a:t>Technique</a:t>
                      </a:r>
                      <a:endParaRPr lang="en-US" sz="1525"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135"/>
                        </a:lnSpc>
                        <a:buNone/>
                      </a:pPr>
                      <a:r>
                        <a:rPr lang="en-US" sz="1525" b="1" dirty="0">
                          <a:solidFill>
                            <a:srgbClr val="221F1A"/>
                          </a:solidFill>
                          <a:latin typeface="Arial" pitchFamily="34" charset="0"/>
                          <a:ea typeface="Arial" pitchFamily="34" charset="-122"/>
                          <a:cs typeface="Arial" pitchFamily="34" charset="-120"/>
                        </a:rPr>
                        <a:t>Limitation / gap</a:t>
                      </a:r>
                      <a:endParaRPr lang="en-US" sz="1525"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399098">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Yi et al.</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Physician detailing planning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Neural network + optimization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Older expert-system approach</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670243">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Zhang et al.</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Pharmaceutical sales representative routing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Orienteering + time windows</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Focuses strongly on routing/selection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399098">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Solomon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VRPTW</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Routing algorithms</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General routing benchmark</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399098">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Liu et al.</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VRPTW literature review</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Survey</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No MR-specific application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670243">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Rhee &amp; Yi</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Physician interest prediction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Predictive modelling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Targeting rather than route planning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670322">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Bouatouche &amp; Belkadi</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Sales representative planning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Hybrid optimization</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Optimization-focused</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r h="399177">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Shala et al.</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Field-service planning</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Operations research</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135"/>
                        </a:lnSpc>
                        <a:buNone/>
                      </a:pPr>
                      <a:r>
                        <a:rPr lang="en-US" sz="1525" dirty="0">
                          <a:solidFill>
                            <a:srgbClr val="221F1A"/>
                          </a:solidFill>
                          <a:latin typeface="Arial" pitchFamily="34" charset="0"/>
                          <a:ea typeface="Arial" pitchFamily="34" charset="-122"/>
                          <a:cs typeface="Arial" pitchFamily="34" charset="-120"/>
                        </a:rPr>
                        <a:t>Technician/service context</a:t>
                      </a:r>
                      <a:endParaRPr lang="en-US" sz="1525"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6</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Background</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39"/>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Research gap</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440939"/>
            <a:ext cx="10883392" cy="577850"/>
          </a:xfrm>
          <a:prstGeom prst="rect">
            <a:avLst/>
          </a:prstGeom>
          <a:noFill/>
          <a:ln/>
        </p:spPr>
        <p:txBody>
          <a:bodyPr wrap="square" lIns="0" tIns="0" rIns="0" bIns="0" rtlCol="0" anchor="t">
            <a:normAutofit/>
          </a:bodyPr>
          <a:lstStyle/>
          <a:p>
            <a:pPr marL="0" indent="0" algn="l">
              <a:lnSpc>
                <a:spcPts val="2175"/>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Existing research commonly addresses physician targeting, sales representative planning, appointment scheduling, vehicle routing and field-service optimization. However, these areas are often treated as separate decision problems.</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815975" y="3766186"/>
            <a:ext cx="1490107" cy="75057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Historical / operational data</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2372757" y="40081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2629932" y="3766186"/>
            <a:ext cx="1490186" cy="750570"/>
          </a:xfrm>
          <a:prstGeom prst="rect">
            <a:avLst/>
          </a:prstGeom>
          <a:noFill/>
          <a:ln w="6350">
            <a:solidFill>
              <a:srgbClr val="221F1A"/>
            </a:solidFill>
            <a:prstDash val="solid"/>
          </a:ln>
        </p:spPr>
        <p:txBody>
          <a:bodyPr wrap="square" lIns="78105" tIns="78105" rIns="781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prioritization (ML model)</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186793" y="40081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4443968" y="3766186"/>
            <a:ext cx="1490107" cy="750570"/>
          </a:xfrm>
          <a:prstGeom prst="rect">
            <a:avLst/>
          </a:prstGeom>
          <a:noFill/>
          <a:ln w="6350">
            <a:solidFill>
              <a:srgbClr val="221F1A"/>
            </a:solidFill>
            <a:prstDash val="solid"/>
          </a:ln>
        </p:spPr>
        <p:txBody>
          <a:bodyPr wrap="square" lIns="84455" tIns="78105" rIns="8445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Priority information</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6000750" y="40081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6257925" y="3766186"/>
            <a:ext cx="1490186" cy="750570"/>
          </a:xfrm>
          <a:prstGeom prst="rect">
            <a:avLst/>
          </a:prstGeom>
          <a:noFill/>
          <a:ln w="6350">
            <a:solidFill>
              <a:srgbClr val="221F1A"/>
            </a:solidFill>
            <a:prstDash val="solid"/>
          </a:ln>
        </p:spPr>
        <p:txBody>
          <a:bodyPr wrap="square" lIns="78105" tIns="65405" rIns="781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Appointment constraints + travel information</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7814787" y="40081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8071962" y="3766186"/>
            <a:ext cx="1490107" cy="750570"/>
          </a:xfrm>
          <a:prstGeom prst="rect">
            <a:avLst/>
          </a:prstGeom>
          <a:noFill/>
          <a:ln w="6350">
            <a:solidFill>
              <a:srgbClr val="221F1A"/>
            </a:solidFill>
            <a:prstDash val="solid"/>
          </a:ln>
        </p:spPr>
        <p:txBody>
          <a:bodyPr wrap="square" lIns="78105" tIns="78105" rIns="78106"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Route optimization (OR-Tools)</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9628743" y="40081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9885918" y="3766186"/>
            <a:ext cx="1490107" cy="75057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Daily visit schedule</a:t>
            </a:r>
            <a:endParaRPr lang="en-US" sz="1600" dirty="0">
              <a:latin typeface="Times New Roman" panose="02020603050405020304" pitchFamily="18" charset="0"/>
              <a:cs typeface="Times New Roman" panose="02020603050405020304" pitchFamily="18" charset="0"/>
            </a:endParaRPr>
          </a:p>
        </p:txBody>
      </p:sp>
      <p:sp>
        <p:nvSpPr>
          <p:cNvPr id="17" name="Shape 15"/>
          <p:cNvSpPr/>
          <p:nvPr/>
        </p:nvSpPr>
        <p:spPr>
          <a:xfrm>
            <a:off x="831850" y="5289550"/>
            <a:ext cx="0" cy="552450"/>
          </a:xfrm>
          <a:prstGeom prst="line">
            <a:avLst/>
          </a:prstGeom>
          <a:noFill/>
          <a:ln w="38100">
            <a:solidFill>
              <a:srgbClr val="9E3B25"/>
            </a:solidFill>
            <a:prstDash val="solid"/>
          </a:ln>
        </p:spPr>
      </p:sp>
      <p:sp>
        <p:nvSpPr>
          <p:cNvPr id="18" name="Text 16"/>
          <p:cNvSpPr/>
          <p:nvPr/>
        </p:nvSpPr>
        <p:spPr>
          <a:xfrm>
            <a:off x="1051560" y="5289550"/>
            <a:ext cx="10637469" cy="577850"/>
          </a:xfrm>
          <a:prstGeom prst="rect">
            <a:avLst/>
          </a:prstGeom>
          <a:noFill/>
          <a:ln/>
        </p:spPr>
        <p:txBody>
          <a:bodyPr wrap="square" lIns="0" tIns="0" rIns="0" bIns="0" rtlCol="0" anchor="t">
            <a:normAutofit/>
          </a:bodyPr>
          <a:lstStyle/>
          <a:p>
            <a:pPr marL="0" indent="0" algn="l">
              <a:lnSpc>
                <a:spcPts val="2175"/>
              </a:lnSpc>
              <a:buNone/>
            </a:pPr>
            <a:r>
              <a:rPr lang="en-US" i="1" dirty="0">
                <a:solidFill>
                  <a:srgbClr val="221F1A"/>
                </a:solidFill>
                <a:latin typeface="Times New Roman" panose="02020603050405020304" pitchFamily="18" charset="0"/>
                <a:ea typeface="Georgia" pitchFamily="18" charset="-122"/>
                <a:cs typeface="Times New Roman" panose="02020603050405020304" pitchFamily="18" charset="0"/>
              </a:rPr>
              <a:t>Research contribution: integration of data-driven visit prioritization with constraint-based route optimization in a single MR decision-support workflow.</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7</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Proposed solution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39"/>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Three intelligence layers</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690496"/>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Layer 1 · Prediction</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812800" y="3010536"/>
            <a:ext cx="3275483"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Machine learning</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812800" y="3347721"/>
            <a:ext cx="3275483" cy="504190"/>
          </a:xfrm>
          <a:prstGeom prst="rect">
            <a:avLst/>
          </a:prstGeom>
          <a:noFill/>
          <a:ln/>
        </p:spPr>
        <p:txBody>
          <a:bodyPr wrap="square" lIns="0" tIns="0" rIns="0" bIns="0" rtlCol="0" anchor="t">
            <a:no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Predict visit priority.</a:t>
            </a:r>
            <a:endParaRPr lang="en-US" sz="1600" dirty="0">
              <a:latin typeface="Times New Roman" panose="02020603050405020304" pitchFamily="18" charset="0"/>
              <a:cs typeface="Times New Roman" panose="02020603050405020304" pitchFamily="18" charset="0"/>
            </a:endParaRPr>
          </a:p>
          <a:p>
            <a:pPr marL="0" indent="0" algn="l">
              <a:lnSpc>
                <a:spcPts val="1885"/>
              </a:lnSpc>
              <a:buNone/>
            </a:pPr>
            <a:r>
              <a:rPr lang="en-US" sz="1600" i="1" dirty="0">
                <a:solidFill>
                  <a:srgbClr val="221F1A"/>
                </a:solidFill>
                <a:latin typeface="Times New Roman" panose="02020603050405020304" pitchFamily="18" charset="0"/>
                <a:ea typeface="Arial" pitchFamily="34" charset="-122"/>
                <a:cs typeface="Times New Roman" panose="02020603050405020304" pitchFamily="18" charset="0"/>
              </a:rPr>
              <a:t>“Which planned visit is more important?”</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4250055" y="2690496"/>
            <a:ext cx="0" cy="1375410"/>
          </a:xfrm>
          <a:prstGeom prst="line">
            <a:avLst/>
          </a:prstGeom>
          <a:noFill/>
          <a:ln w="6350">
            <a:solidFill>
              <a:srgbClr val="CDBFA6"/>
            </a:solidFill>
            <a:prstDash val="solid"/>
          </a:ln>
        </p:spPr>
      </p:sp>
      <p:sp>
        <p:nvSpPr>
          <p:cNvPr id="9" name="Text 7"/>
          <p:cNvSpPr/>
          <p:nvPr/>
        </p:nvSpPr>
        <p:spPr>
          <a:xfrm>
            <a:off x="4505960" y="2690496"/>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Layer 2 · Optimization</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4505960" y="3010536"/>
            <a:ext cx="3275483"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Google OR-Tools / VRPTW</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4505960" y="3347721"/>
            <a:ext cx="3275483" cy="743585"/>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Generate a feasible route.</a:t>
            </a:r>
            <a:endParaRPr lang="en-US" sz="1600" dirty="0">
              <a:latin typeface="Times New Roman" panose="02020603050405020304" pitchFamily="18" charset="0"/>
              <a:cs typeface="Times New Roman" panose="02020603050405020304" pitchFamily="18" charset="0"/>
            </a:endParaRPr>
          </a:p>
          <a:p>
            <a:pPr marL="0" indent="0" algn="l">
              <a:lnSpc>
                <a:spcPts val="1885"/>
              </a:lnSpc>
              <a:buNone/>
            </a:pPr>
            <a:r>
              <a:rPr lang="en-US" sz="1600" i="1" dirty="0">
                <a:solidFill>
                  <a:srgbClr val="221F1A"/>
                </a:solidFill>
                <a:latin typeface="Times New Roman" panose="02020603050405020304" pitchFamily="18" charset="0"/>
                <a:ea typeface="Arial" pitchFamily="34" charset="-122"/>
                <a:cs typeface="Times New Roman" panose="02020603050405020304" pitchFamily="18" charset="0"/>
              </a:rPr>
              <a:t>“In what sequence should visits be performed?”</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7943215" y="2690496"/>
            <a:ext cx="0" cy="1136015"/>
          </a:xfrm>
          <a:prstGeom prst="line">
            <a:avLst/>
          </a:prstGeom>
          <a:noFill/>
          <a:ln w="6350">
            <a:solidFill>
              <a:srgbClr val="CDBFA6"/>
            </a:solidFill>
            <a:prstDash val="solid"/>
          </a:ln>
        </p:spPr>
      </p:sp>
      <p:sp>
        <p:nvSpPr>
          <p:cNvPr id="13" name="Text 11"/>
          <p:cNvSpPr/>
          <p:nvPr/>
        </p:nvSpPr>
        <p:spPr>
          <a:xfrm>
            <a:off x="8199120" y="2690496"/>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Layer 3 · Application</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8199120" y="3010536"/>
            <a:ext cx="3275483"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Web dashboard</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8199120" y="3347721"/>
            <a:ext cx="3275483"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Allow MRs and managers to interact with the results.</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815975" y="5088254"/>
            <a:ext cx="1490107" cy="7505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Agency data</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2372757"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2629932" y="5088254"/>
            <a:ext cx="1490186" cy="75057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Data preprocessing</a:t>
            </a:r>
            <a:endParaRPr lang="en-US" sz="1600" dirty="0">
              <a:latin typeface="Times New Roman" panose="02020603050405020304" pitchFamily="18" charset="0"/>
              <a:cs typeface="Times New Roman" panose="02020603050405020304" pitchFamily="18" charset="0"/>
            </a:endParaRPr>
          </a:p>
        </p:txBody>
      </p:sp>
      <p:sp>
        <p:nvSpPr>
          <p:cNvPr id="19" name="Text 17"/>
          <p:cNvSpPr/>
          <p:nvPr/>
        </p:nvSpPr>
        <p:spPr>
          <a:xfrm>
            <a:off x="4186793"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0" name="Text 18"/>
          <p:cNvSpPr/>
          <p:nvPr/>
        </p:nvSpPr>
        <p:spPr>
          <a:xfrm>
            <a:off x="4443968" y="5088254"/>
            <a:ext cx="1490107" cy="750570"/>
          </a:xfrm>
          <a:prstGeom prst="rect">
            <a:avLst/>
          </a:prstGeom>
          <a:noFill/>
          <a:ln w="6350">
            <a:solidFill>
              <a:srgbClr val="221F1A"/>
            </a:solidFill>
            <a:prstDash val="solid"/>
          </a:ln>
        </p:spPr>
        <p:txBody>
          <a:bodyPr wrap="square" lIns="78105" tIns="78105" rIns="78105" bIns="78105" rtlCol="0" anchor="ctr">
            <a:normAutofit fontScale="85000" lnSpcReduction="10000"/>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Priority prediction + constraints</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6000750"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2" name="Text 20"/>
          <p:cNvSpPr/>
          <p:nvPr/>
        </p:nvSpPr>
        <p:spPr>
          <a:xfrm>
            <a:off x="6257925" y="5088254"/>
            <a:ext cx="1490186" cy="750570"/>
          </a:xfrm>
          <a:prstGeom prst="rect">
            <a:avLst/>
          </a:prstGeom>
          <a:noFill/>
          <a:ln w="6350">
            <a:solidFill>
              <a:srgbClr val="221F1A"/>
            </a:solidFill>
            <a:prstDash val="solid"/>
          </a:ln>
        </p:spPr>
        <p:txBody>
          <a:bodyPr wrap="square" lIns="78105" tIns="78105" rIns="781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Route optimization (OR-Tools)</a:t>
            </a:r>
            <a:endParaRPr lang="en-US" sz="1600" dirty="0">
              <a:latin typeface="Times New Roman" panose="02020603050405020304" pitchFamily="18" charset="0"/>
              <a:cs typeface="Times New Roman" panose="02020603050405020304" pitchFamily="18" charset="0"/>
            </a:endParaRPr>
          </a:p>
        </p:txBody>
      </p:sp>
      <p:sp>
        <p:nvSpPr>
          <p:cNvPr id="23" name="Text 21"/>
          <p:cNvSpPr/>
          <p:nvPr/>
        </p:nvSpPr>
        <p:spPr>
          <a:xfrm>
            <a:off x="7814787"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4" name="Text 22"/>
          <p:cNvSpPr/>
          <p:nvPr/>
        </p:nvSpPr>
        <p:spPr>
          <a:xfrm>
            <a:off x="8071962" y="5088254"/>
            <a:ext cx="1490107" cy="750570"/>
          </a:xfrm>
          <a:prstGeom prst="rect">
            <a:avLst/>
          </a:prstGeom>
          <a:noFill/>
          <a:ln w="6350">
            <a:solidFill>
              <a:srgbClr val="221F1A"/>
            </a:solidFill>
            <a:prstDash val="solid"/>
          </a:ln>
        </p:spPr>
        <p:txBody>
          <a:bodyPr wrap="square" lIns="78105" tIns="78105" rIns="78106"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Optimized schedule</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9628743" y="533019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6" name="Text 24"/>
          <p:cNvSpPr/>
          <p:nvPr/>
        </p:nvSpPr>
        <p:spPr>
          <a:xfrm>
            <a:off x="9885918" y="5088254"/>
            <a:ext cx="1490107" cy="75057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dashboard | Manager dashboard</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8</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Proposed solution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Proposed methodology</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340614"/>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1</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812800" y="2660650"/>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Data collection</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812800" y="2983229"/>
            <a:ext cx="3275483" cy="68834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Doctor, MR, historical visit, appointment, location and visit-outcome information; existing priority/category information, if available.</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4250055" y="2340614"/>
            <a:ext cx="0" cy="1526540"/>
          </a:xfrm>
          <a:prstGeom prst="line">
            <a:avLst/>
          </a:prstGeom>
          <a:noFill/>
          <a:ln w="6350">
            <a:solidFill>
              <a:srgbClr val="CDBFA6"/>
            </a:solidFill>
            <a:prstDash val="solid"/>
          </a:ln>
        </p:spPr>
      </p:sp>
      <p:sp>
        <p:nvSpPr>
          <p:cNvPr id="9" name="Text 7"/>
          <p:cNvSpPr/>
          <p:nvPr/>
        </p:nvSpPr>
        <p:spPr>
          <a:xfrm>
            <a:off x="4505960" y="2340614"/>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2</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4505960" y="2660650"/>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Data preprocessing</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4505960" y="2983229"/>
            <a:ext cx="3275483" cy="90932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Remove duplicates, handle missing values, validate coordinates, encode categorical features, normalize/transform where required, detect inconsistent records.</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7943215" y="2340614"/>
            <a:ext cx="0" cy="863600"/>
          </a:xfrm>
          <a:prstGeom prst="line">
            <a:avLst/>
          </a:prstGeom>
          <a:noFill/>
          <a:ln w="6350">
            <a:solidFill>
              <a:srgbClr val="CDBFA6"/>
            </a:solidFill>
            <a:prstDash val="solid"/>
          </a:ln>
        </p:spPr>
      </p:sp>
      <p:sp>
        <p:nvSpPr>
          <p:cNvPr id="13" name="Text 11"/>
          <p:cNvSpPr/>
          <p:nvPr/>
        </p:nvSpPr>
        <p:spPr>
          <a:xfrm>
            <a:off x="8199120" y="2340614"/>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3</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8199120" y="2660650"/>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Machine learning</a:t>
            </a:r>
            <a:endParaRPr lang="en-US" sz="2000" dirty="0">
              <a:latin typeface="Times New Roman" panose="02020603050405020304" pitchFamily="18" charset="0"/>
              <a:cs typeface="Times New Roman" panose="02020603050405020304" pitchFamily="18" charset="0"/>
            </a:endParaRPr>
          </a:p>
        </p:txBody>
      </p:sp>
      <p:sp>
        <p:nvSpPr>
          <p:cNvPr id="15" name="Text 13"/>
          <p:cNvSpPr/>
          <p:nvPr/>
        </p:nvSpPr>
        <p:spPr>
          <a:xfrm>
            <a:off x="8199120" y="2983229"/>
            <a:ext cx="3275483" cy="24638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Train priority prediction model.</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812800" y="4536442"/>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4</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812800" y="4856479"/>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Optimization</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812800" y="5179064"/>
            <a:ext cx="3275483" cy="68834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Create travel-time matrix, distance matrix, time windows, visit duration and working-hour constraints. Then solve the routing problem.</a:t>
            </a:r>
            <a:endParaRPr lang="en-US" sz="1600" dirty="0">
              <a:latin typeface="Times New Roman" panose="02020603050405020304" pitchFamily="18" charset="0"/>
              <a:cs typeface="Times New Roman" panose="02020603050405020304" pitchFamily="18" charset="0"/>
            </a:endParaRPr>
          </a:p>
        </p:txBody>
      </p:sp>
      <p:sp>
        <p:nvSpPr>
          <p:cNvPr id="19" name="Shape 17"/>
          <p:cNvSpPr/>
          <p:nvPr/>
        </p:nvSpPr>
        <p:spPr>
          <a:xfrm>
            <a:off x="4250055" y="4536442"/>
            <a:ext cx="0" cy="863600"/>
          </a:xfrm>
          <a:prstGeom prst="line">
            <a:avLst/>
          </a:prstGeom>
          <a:noFill/>
          <a:ln w="6350">
            <a:solidFill>
              <a:srgbClr val="CDBFA6"/>
            </a:solidFill>
            <a:prstDash val="solid"/>
          </a:ln>
        </p:spPr>
      </p:sp>
      <p:sp>
        <p:nvSpPr>
          <p:cNvPr id="20" name="Text 18"/>
          <p:cNvSpPr/>
          <p:nvPr/>
        </p:nvSpPr>
        <p:spPr>
          <a:xfrm>
            <a:off x="4505960" y="4536442"/>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5</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4505960" y="4856479"/>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Web application</a:t>
            </a:r>
            <a:endParaRPr lang="en-US" sz="2000" dirty="0">
              <a:latin typeface="Times New Roman" panose="02020603050405020304" pitchFamily="18" charset="0"/>
              <a:cs typeface="Times New Roman" panose="02020603050405020304" pitchFamily="18" charset="0"/>
            </a:endParaRPr>
          </a:p>
        </p:txBody>
      </p:sp>
      <p:sp>
        <p:nvSpPr>
          <p:cNvPr id="22" name="Text 20"/>
          <p:cNvSpPr/>
          <p:nvPr/>
        </p:nvSpPr>
        <p:spPr>
          <a:xfrm>
            <a:off x="4505960" y="5179064"/>
            <a:ext cx="3275483" cy="24638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FastAPI + React + MySQL.</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7943215" y="4536442"/>
            <a:ext cx="0" cy="1084580"/>
          </a:xfrm>
          <a:prstGeom prst="line">
            <a:avLst/>
          </a:prstGeom>
          <a:noFill/>
          <a:ln w="6350">
            <a:solidFill>
              <a:srgbClr val="CDBFA6"/>
            </a:solidFill>
            <a:prstDash val="solid"/>
          </a:ln>
        </p:spPr>
      </p:sp>
      <p:sp>
        <p:nvSpPr>
          <p:cNvPr id="24" name="Text 22"/>
          <p:cNvSpPr/>
          <p:nvPr/>
        </p:nvSpPr>
        <p:spPr>
          <a:xfrm>
            <a:off x="8199120" y="4536442"/>
            <a:ext cx="3275483"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Phase 6</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8199120" y="4856479"/>
            <a:ext cx="3275483" cy="259080"/>
          </a:xfrm>
          <a:prstGeom prst="rect">
            <a:avLst/>
          </a:prstGeom>
          <a:noFill/>
          <a:ln/>
        </p:spPr>
        <p:txBody>
          <a:bodyPr wrap="square" lIns="0" tIns="0" rIns="0" bIns="0" rtlCol="0" anchor="t">
            <a:normAutofit/>
          </a:bodyPr>
          <a:lstStyle/>
          <a:p>
            <a:pPr marL="0" indent="0" algn="l">
              <a:lnSpc>
                <a:spcPts val="1840"/>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Evaluation</a:t>
            </a:r>
            <a:endParaRPr lang="en-US" sz="2000" dirty="0">
              <a:latin typeface="Times New Roman" panose="02020603050405020304" pitchFamily="18" charset="0"/>
              <a:cs typeface="Times New Roman" panose="02020603050405020304" pitchFamily="18" charset="0"/>
            </a:endParaRPr>
          </a:p>
        </p:txBody>
      </p:sp>
      <p:sp>
        <p:nvSpPr>
          <p:cNvPr id="26" name="Text 24"/>
          <p:cNvSpPr/>
          <p:nvPr/>
        </p:nvSpPr>
        <p:spPr>
          <a:xfrm>
            <a:off x="8199120" y="5179064"/>
            <a:ext cx="3275483" cy="46736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Compare manual/baseline plan vs optimized plan.</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9</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B26"/>
        </a:solidFill>
        <a:effectLst/>
      </p:bgPr>
    </p:bg>
    <p:spTree>
      <p:nvGrpSpPr>
        <p:cNvPr id="1" name=""/>
        <p:cNvGrpSpPr/>
        <p:nvPr/>
      </p:nvGrpSpPr>
      <p:grpSpPr>
        <a:xfrm>
          <a:off x="0" y="0"/>
          <a:ext cx="0" cy="0"/>
          <a:chOff x="0" y="0"/>
          <a:chExt cx="0" cy="0"/>
        </a:xfrm>
      </p:grpSpPr>
      <p:sp>
        <p:nvSpPr>
          <p:cNvPr id="2" name="Shape 0"/>
          <p:cNvSpPr/>
          <p:nvPr/>
        </p:nvSpPr>
        <p:spPr>
          <a:xfrm>
            <a:off x="812800" y="1734185"/>
            <a:ext cx="10566400" cy="0"/>
          </a:xfrm>
          <a:prstGeom prst="line">
            <a:avLst/>
          </a:prstGeom>
          <a:noFill/>
          <a:ln w="6350">
            <a:solidFill>
              <a:srgbClr val="4A5A52"/>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D8A24A"/>
                </a:solidFill>
                <a:latin typeface="Times New Roman" panose="02020603050405020304" pitchFamily="18" charset="0"/>
                <a:ea typeface="Georgia" pitchFamily="18" charset="-122"/>
                <a:cs typeface="Times New Roman" panose="02020603050405020304" pitchFamily="18" charset="0"/>
              </a:rPr>
              <a:t>Design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107442"/>
            <a:ext cx="10883392" cy="472440"/>
          </a:xfrm>
          <a:prstGeom prst="rect">
            <a:avLst/>
          </a:prstGeom>
          <a:noFill/>
          <a:ln/>
        </p:spPr>
        <p:txBody>
          <a:bodyPr wrap="square" lIns="0" tIns="0" rIns="0" bIns="0" rtlCol="0" anchor="t">
            <a:normAutofit/>
          </a:bodyPr>
          <a:lstStyle/>
          <a:p>
            <a:pPr marL="0" indent="0" algn="l">
              <a:lnSpc>
                <a:spcPts val="3520"/>
              </a:lnSpc>
              <a:buNone/>
            </a:pPr>
            <a:r>
              <a:rPr lang="en-US" sz="4000" b="1" i="0" dirty="0">
                <a:solidFill>
                  <a:srgbClr val="F5EFE3"/>
                </a:solidFill>
                <a:latin typeface="Times New Roman" panose="02020603050405020304" pitchFamily="18" charset="0"/>
                <a:ea typeface="Georgia" pitchFamily="18" charset="-122"/>
                <a:cs typeface="Times New Roman" panose="02020603050405020304" pitchFamily="18" charset="0"/>
              </a:rPr>
              <a:t>System architecture</a:t>
            </a:r>
            <a:endParaRPr lang="en-US" sz="4000" dirty="0">
              <a:latin typeface="Times New Roman" panose="02020603050405020304" pitchFamily="18" charset="0"/>
              <a:cs typeface="Times New Roman" panose="02020603050405020304" pitchFamily="18" charset="0"/>
            </a:endParaRPr>
          </a:p>
        </p:txBody>
      </p:sp>
      <p:pic>
        <p:nvPicPr>
          <p:cNvPr id="5" name="Image 0" descr="Architecture: data flows through preprocessing into the ML priority engine and constraint engine, then the OR-Tools route optimizer, then MR and manager dashboards"/>
          <p:cNvPicPr>
            <a:picLocks noChangeAspect="1"/>
          </p:cNvPicPr>
          <p:nvPr/>
        </p:nvPicPr>
        <p:blipFill>
          <a:blip r:embed="rId3"/>
          <a:srcRect l="-20" r="-20"/>
          <a:stretch/>
        </p:blipFill>
        <p:spPr>
          <a:xfrm>
            <a:off x="812800" y="2794000"/>
            <a:ext cx="10566400" cy="3048000"/>
          </a:xfrm>
          <a:prstGeom prst="rect">
            <a:avLst/>
          </a:prstGeom>
        </p:spPr>
      </p:pic>
      <p:sp>
        <p:nvSpPr>
          <p:cNvPr id="6" name="Text 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8D9A91"/>
                </a:solidFill>
                <a:latin typeface="Times New Roman" panose="02020603050405020304" pitchFamily="18" charset="0"/>
                <a:ea typeface="Arial" pitchFamily="34" charset="-122"/>
                <a:cs typeface="Times New Roman" panose="02020603050405020304" pitchFamily="18" charset="0"/>
              </a:rPr>
              <a:t>Group 19 · Project Review III · 10</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Design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Data flow</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487532"/>
            <a:ext cx="10883392" cy="283210"/>
          </a:xfrm>
          <a:prstGeom prst="rect">
            <a:avLst/>
          </a:prstGeom>
          <a:noFill/>
          <a:ln/>
        </p:spPr>
        <p:txBody>
          <a:bodyPr wrap="square" lIns="0" tIns="0" rIns="0" bIns="0" rtlCol="0" anchor="t">
            <a:normAutofit/>
          </a:bodyPr>
          <a:lstStyle/>
          <a:p>
            <a:pPr marL="0" indent="0" algn="l">
              <a:lnSpc>
                <a:spcPts val="2030"/>
              </a:lnSpc>
              <a:buNone/>
            </a:pPr>
            <a:r>
              <a:rPr lang="en-US" dirty="0">
                <a:solidFill>
                  <a:srgbClr val="6E665A"/>
                </a:solidFill>
                <a:latin typeface="Times New Roman" panose="02020603050405020304" pitchFamily="18" charset="0"/>
                <a:ea typeface="Arial" pitchFamily="34" charset="-122"/>
                <a:cs typeface="Times New Roman" panose="02020603050405020304" pitchFamily="18" charset="0"/>
              </a:rPr>
              <a:t>Suppose an MR logs in.</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815975" y="3564651"/>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login</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2735580" y="37075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2992755" y="3564651"/>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Select date</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4912360" y="37075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5169535" y="3564651"/>
            <a:ext cx="1852930"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Retrieve assigned doctors</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7089140" y="37075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7346315" y="3564651"/>
            <a:ext cx="1852930" cy="552450"/>
          </a:xfrm>
          <a:prstGeom prst="rect">
            <a:avLst/>
          </a:prstGeom>
          <a:noFill/>
          <a:ln w="6350">
            <a:solidFill>
              <a:srgbClr val="221F1A"/>
            </a:solidFill>
            <a:prstDash val="solid"/>
          </a:ln>
        </p:spPr>
        <p:txBody>
          <a:bodyPr wrap="square" lIns="78105" tIns="65405" rIns="781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Retrieve appointment constraints</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9265920" y="37075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9523095" y="3564651"/>
            <a:ext cx="185293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ML priority prediction</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815975" y="4212351"/>
            <a:ext cx="1852930"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Generate priority information</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2735580" y="43552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2992755" y="4212351"/>
            <a:ext cx="185293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Retrieve travel matrix</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4912360" y="43552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5169535" y="4212351"/>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Apply constraints</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7089140" y="43552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7346315" y="4212351"/>
            <a:ext cx="185293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OR-Tools optimization</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9265920" y="435522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3" name="Text 21"/>
          <p:cNvSpPr/>
          <p:nvPr/>
        </p:nvSpPr>
        <p:spPr>
          <a:xfrm>
            <a:off x="9523095" y="4212351"/>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Generate route</a:t>
            </a:r>
            <a:endParaRPr lang="en-US" sz="1600" dirty="0">
              <a:latin typeface="Times New Roman" panose="02020603050405020304" pitchFamily="18" charset="0"/>
              <a:cs typeface="Times New Roman" panose="02020603050405020304" pitchFamily="18" charset="0"/>
            </a:endParaRPr>
          </a:p>
        </p:txBody>
      </p:sp>
      <p:sp>
        <p:nvSpPr>
          <p:cNvPr id="24" name="Text 22"/>
          <p:cNvSpPr/>
          <p:nvPr/>
        </p:nvSpPr>
        <p:spPr>
          <a:xfrm>
            <a:off x="812800" y="5584192"/>
            <a:ext cx="1088339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Display: doctor · visit order · time · priority · travel time · distance</a:t>
            </a:r>
            <a:endParaRPr lang="en-US" dirty="0">
              <a:latin typeface="Times New Roman" panose="02020603050405020304" pitchFamily="18" charset="0"/>
              <a:cs typeface="Times New Roman" panose="02020603050405020304" pitchFamily="18" charset="0"/>
            </a:endParaRPr>
          </a:p>
        </p:txBody>
      </p:sp>
      <p:sp>
        <p:nvSpPr>
          <p:cNvPr id="25" name="Text 2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11</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Design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Data design</a:t>
            </a:r>
            <a:endParaRPr lang="en-US" sz="3600" dirty="0">
              <a:latin typeface="Times New Roman" panose="02020603050405020304" pitchFamily="18" charset="0"/>
              <a:cs typeface="Times New Roman" panose="02020603050405020304" pitchFamily="18" charset="0"/>
            </a:endParaRPr>
          </a:p>
        </p:txBody>
      </p:sp>
      <p:grpSp>
        <p:nvGrpSpPr>
          <p:cNvPr id="17" name="Group 16">
            <a:extLst>
              <a:ext uri="{FF2B5EF4-FFF2-40B4-BE49-F238E27FC236}">
                <a16:creationId xmlns:a16="http://schemas.microsoft.com/office/drawing/2014/main" id="{E576E2A6-DC1A-495A-51BD-312C14968AEE}"/>
              </a:ext>
            </a:extLst>
          </p:cNvPr>
          <p:cNvGrpSpPr/>
          <p:nvPr/>
        </p:nvGrpSpPr>
        <p:grpSpPr>
          <a:xfrm>
            <a:off x="812800" y="2475549"/>
            <a:ext cx="10717200" cy="804543"/>
            <a:chOff x="812800" y="2977517"/>
            <a:chExt cx="10717200" cy="804543"/>
          </a:xfrm>
        </p:grpSpPr>
        <p:sp>
          <p:nvSpPr>
            <p:cNvPr id="5" name="Text 3"/>
            <p:cNvSpPr/>
            <p:nvPr/>
          </p:nvSpPr>
          <p:spPr>
            <a:xfrm>
              <a:off x="812800" y="2977517"/>
              <a:ext cx="5177460"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Doctor</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812800" y="3314700"/>
              <a:ext cx="517746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doctor_id, specialization, territory, latitude, longitude, availability_start, availability_end, typical_visit_duration, priority_category</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6096635" y="2977517"/>
              <a:ext cx="0" cy="558165"/>
            </a:xfrm>
            <a:prstGeom prst="line">
              <a:avLst/>
            </a:prstGeom>
            <a:noFill/>
            <a:ln w="6350">
              <a:solidFill>
                <a:srgbClr val="CDBFA6"/>
              </a:solidFill>
              <a:prstDash val="solid"/>
            </a:ln>
          </p:spPr>
        </p:sp>
        <p:sp>
          <p:nvSpPr>
            <p:cNvPr id="8" name="Text 6"/>
            <p:cNvSpPr/>
            <p:nvPr/>
          </p:nvSpPr>
          <p:spPr>
            <a:xfrm>
              <a:off x="6352540" y="2977517"/>
              <a:ext cx="5177460"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Medical Representative</a:t>
              </a:r>
              <a:endParaRPr lang="en-US" sz="2000" dirty="0">
                <a:latin typeface="Times New Roman" panose="02020603050405020304" pitchFamily="18" charset="0"/>
                <a:cs typeface="Times New Roman" panose="02020603050405020304" pitchFamily="18" charset="0"/>
              </a:endParaRPr>
            </a:p>
          </p:txBody>
        </p:sp>
        <p:sp>
          <p:nvSpPr>
            <p:cNvPr id="9" name="Text 7"/>
            <p:cNvSpPr/>
            <p:nvPr/>
          </p:nvSpPr>
          <p:spPr>
            <a:xfrm>
              <a:off x="6352540" y="3314700"/>
              <a:ext cx="5177460" cy="24638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mr_id, territory, working_start, working_end, start_location, end_location</a:t>
              </a:r>
              <a:endParaRPr lang="en-US" sz="1600" dirty="0">
                <a:latin typeface="Times New Roman" panose="02020603050405020304" pitchFamily="18" charset="0"/>
                <a:cs typeface="Times New Roman" panose="02020603050405020304" pitchFamily="18" charset="0"/>
              </a:endParaRPr>
            </a:p>
          </p:txBody>
        </p:sp>
      </p:grpSp>
      <p:grpSp>
        <p:nvGrpSpPr>
          <p:cNvPr id="16" name="Group 15">
            <a:extLst>
              <a:ext uri="{FF2B5EF4-FFF2-40B4-BE49-F238E27FC236}">
                <a16:creationId xmlns:a16="http://schemas.microsoft.com/office/drawing/2014/main" id="{51AEFA4B-8029-1C04-5D72-A7A7BA528078}"/>
              </a:ext>
            </a:extLst>
          </p:cNvPr>
          <p:cNvGrpSpPr/>
          <p:nvPr/>
        </p:nvGrpSpPr>
        <p:grpSpPr>
          <a:xfrm>
            <a:off x="812800" y="3966524"/>
            <a:ext cx="10717200" cy="804548"/>
            <a:chOff x="812800" y="5062854"/>
            <a:chExt cx="10717200" cy="804548"/>
          </a:xfrm>
        </p:grpSpPr>
        <p:sp>
          <p:nvSpPr>
            <p:cNvPr id="10" name="Text 8"/>
            <p:cNvSpPr/>
            <p:nvPr/>
          </p:nvSpPr>
          <p:spPr>
            <a:xfrm>
              <a:off x="812800" y="5062854"/>
              <a:ext cx="5177460"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Visit</a:t>
              </a:r>
              <a:endParaRPr lang="en-US" sz="2000" dirty="0">
                <a:latin typeface="Times New Roman" panose="02020603050405020304" pitchFamily="18" charset="0"/>
                <a:cs typeface="Times New Roman" panose="02020603050405020304" pitchFamily="18" charset="0"/>
              </a:endParaRPr>
            </a:p>
          </p:txBody>
        </p:sp>
        <p:sp>
          <p:nvSpPr>
            <p:cNvPr id="11" name="Text 9"/>
            <p:cNvSpPr/>
            <p:nvPr/>
          </p:nvSpPr>
          <p:spPr>
            <a:xfrm>
              <a:off x="812800" y="5400042"/>
              <a:ext cx="517746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visit_id, doctor_id, mr_id, visit_date, planned_time, actual_arrival, actual_departure, visit_status, visit_outcome, follow_up_required</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6096635" y="5062854"/>
              <a:ext cx="0" cy="779145"/>
            </a:xfrm>
            <a:prstGeom prst="line">
              <a:avLst/>
            </a:prstGeom>
            <a:noFill/>
            <a:ln w="6350">
              <a:solidFill>
                <a:srgbClr val="CDBFA6"/>
              </a:solidFill>
              <a:prstDash val="solid"/>
            </a:ln>
          </p:spPr>
        </p:sp>
        <p:sp>
          <p:nvSpPr>
            <p:cNvPr id="13" name="Text 11"/>
            <p:cNvSpPr/>
            <p:nvPr/>
          </p:nvSpPr>
          <p:spPr>
            <a:xfrm>
              <a:off x="6352540" y="5062854"/>
              <a:ext cx="5177460"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Appointment</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6352540" y="5400042"/>
              <a:ext cx="5177460" cy="46736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appointment_id, doctor_id, mr_id, appointment_date, window_start, window_end, duration, status</a:t>
              </a:r>
              <a:endParaRPr lang="en-US" sz="1600" dirty="0">
                <a:latin typeface="Times New Roman" panose="02020603050405020304" pitchFamily="18" charset="0"/>
                <a:cs typeface="Times New Roman" panose="02020603050405020304" pitchFamily="18" charset="0"/>
              </a:endParaRPr>
            </a:p>
          </p:txBody>
        </p:sp>
      </p:grpSp>
      <p:sp>
        <p:nvSpPr>
          <p:cNvPr id="15" name="Text 1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12</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Machine learning</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ML priority prediction</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30493"/>
            <a:ext cx="10883392" cy="301625"/>
          </a:xfrm>
          <a:prstGeom prst="rect">
            <a:avLst/>
          </a:prstGeom>
          <a:noFill/>
          <a:ln/>
        </p:spPr>
        <p:txBody>
          <a:bodyPr wrap="square" lIns="0" tIns="0" rIns="0" bIns="0" rtlCol="0" anchor="t">
            <a:normAutofit/>
          </a:bodyPr>
          <a:lstStyle/>
          <a:p>
            <a:pPr marL="0" indent="0" algn="l">
              <a:lnSpc>
                <a:spcPts val="2175"/>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The model does not generate the route. It predicts the importance/priority of a planned doctor visit.</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910844" y="2665971"/>
            <a:ext cx="4967148" cy="2584450"/>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Historical visit frequency</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Days since last visit</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Previous visit outcome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Follow-up requirement</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Existing priority category</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Appointment status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Doctor engagement indicator</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history</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Territory information</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Other approved operational features</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4062562" y="2662796"/>
            <a:ext cx="0" cy="1879600"/>
          </a:xfrm>
          <a:prstGeom prst="line">
            <a:avLst/>
          </a:prstGeom>
          <a:noFill/>
          <a:ln w="6350">
            <a:solidFill>
              <a:srgbClr val="CDBFA6"/>
            </a:solidFill>
            <a:prstDash val="solid"/>
          </a:ln>
        </p:spPr>
      </p:sp>
      <p:sp>
        <p:nvSpPr>
          <p:cNvPr id="8" name="Text 6"/>
          <p:cNvSpPr/>
          <p:nvPr/>
        </p:nvSpPr>
        <p:spPr>
          <a:xfrm>
            <a:off x="4254765" y="2669146"/>
            <a:ext cx="1435582" cy="187325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Historical data</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5824016" y="34724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081192" y="2669146"/>
            <a:ext cx="1133090" cy="187325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Feature engineering</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7296832" y="3456546"/>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7554007" y="2669146"/>
            <a:ext cx="899815" cy="187325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Train/test split</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8574696" y="3476187"/>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8831872" y="2669146"/>
            <a:ext cx="899816" cy="1873250"/>
          </a:xfrm>
          <a:prstGeom prst="rect">
            <a:avLst/>
          </a:prstGeom>
          <a:noFill/>
          <a:ln w="6350">
            <a:solidFill>
              <a:srgbClr val="221F1A"/>
            </a:solidFill>
            <a:prstDash val="solid"/>
          </a:ln>
        </p:spPr>
        <p:txBody>
          <a:bodyPr wrap="square" lIns="78105" tIns="78105" rIns="781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Random Forest classifier</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9833164" y="3472421"/>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10109738" y="2669146"/>
            <a:ext cx="1516205" cy="18732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Predicted priority:</a:t>
            </a:r>
          </a:p>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High / Medium / Low</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812800" y="5584192"/>
            <a:ext cx="10883392" cy="283210"/>
          </a:xfrm>
          <a:prstGeom prst="rect">
            <a:avLst/>
          </a:prstGeom>
          <a:noFill/>
          <a:ln/>
        </p:spPr>
        <p:txBody>
          <a:bodyPr wrap="square" lIns="0" tIns="0" rIns="0" bIns="0" rtlCol="0" anchor="t">
            <a:no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The final ML formulation, classification or regression, will depend on the structure and reliability of the agency’s priority label.</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13</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Machine learning</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Feature engineering by example</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582230"/>
            <a:ext cx="5072812" cy="302895"/>
          </a:xfrm>
          <a:prstGeom prst="rect">
            <a:avLst/>
          </a:prstGeom>
          <a:noFill/>
          <a:ln/>
        </p:spPr>
        <p:txBody>
          <a:bodyPr wrap="square" lIns="0" tIns="0" rIns="0" bIns="0" rtlCol="0" anchor="t">
            <a:normAutofit/>
          </a:bodyPr>
          <a:lstStyle/>
          <a:p>
            <a:pPr marL="0" indent="0" algn="l">
              <a:lnSpc>
                <a:spcPts val="2185"/>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Doctor A</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910082" y="2948626"/>
            <a:ext cx="4967910" cy="140335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Last visit: 25 days ago</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Frequent follow-up</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High historical priority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Appointment confirmed</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Previous outcome requires follow-up</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812800" y="4415476"/>
            <a:ext cx="507281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9E3B25"/>
                </a:solidFill>
                <a:latin typeface="Times New Roman" panose="02020603050405020304" pitchFamily="18" charset="0"/>
                <a:ea typeface="Georgia" pitchFamily="18" charset="-122"/>
                <a:cs typeface="Times New Roman" panose="02020603050405020304" pitchFamily="18" charset="0"/>
              </a:rPr>
              <a:t>The model may assign a high priority probability.</a:t>
            </a:r>
            <a:endParaRPr lang="en-US" dirty="0">
              <a:latin typeface="Times New Roman" panose="02020603050405020304" pitchFamily="18" charset="0"/>
              <a:cs typeface="Times New Roman" panose="02020603050405020304" pitchFamily="18" charset="0"/>
            </a:endParaRPr>
          </a:p>
        </p:txBody>
      </p:sp>
      <p:sp>
        <p:nvSpPr>
          <p:cNvPr id="8" name="Shape 6"/>
          <p:cNvSpPr/>
          <p:nvPr/>
        </p:nvSpPr>
        <p:spPr>
          <a:xfrm>
            <a:off x="6096635" y="2582230"/>
            <a:ext cx="0" cy="1815465"/>
          </a:xfrm>
          <a:prstGeom prst="line">
            <a:avLst/>
          </a:prstGeom>
          <a:noFill/>
          <a:ln w="6350">
            <a:solidFill>
              <a:srgbClr val="CDBFA6"/>
            </a:solidFill>
            <a:prstDash val="solid"/>
          </a:ln>
        </p:spPr>
      </p:sp>
      <p:sp>
        <p:nvSpPr>
          <p:cNvPr id="9" name="Text 7"/>
          <p:cNvSpPr/>
          <p:nvPr/>
        </p:nvSpPr>
        <p:spPr>
          <a:xfrm>
            <a:off x="6454140" y="2582230"/>
            <a:ext cx="5072812" cy="302895"/>
          </a:xfrm>
          <a:prstGeom prst="rect">
            <a:avLst/>
          </a:prstGeom>
          <a:noFill/>
          <a:ln/>
        </p:spPr>
        <p:txBody>
          <a:bodyPr wrap="square" lIns="0" tIns="0" rIns="0" bIns="0" rtlCol="0" anchor="t">
            <a:normAutofit/>
          </a:bodyPr>
          <a:lstStyle/>
          <a:p>
            <a:pPr marL="0" indent="0" algn="l">
              <a:lnSpc>
                <a:spcPts val="2185"/>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Doctor B</a:t>
            </a:r>
            <a:endParaRPr lang="en-US" sz="2400" dirty="0">
              <a:latin typeface="Times New Roman" panose="02020603050405020304" pitchFamily="18" charset="0"/>
              <a:cs typeface="Times New Roman" panose="02020603050405020304" pitchFamily="18" charset="0"/>
            </a:endParaRPr>
          </a:p>
        </p:txBody>
      </p:sp>
      <p:sp>
        <p:nvSpPr>
          <p:cNvPr id="10" name="Text 8"/>
          <p:cNvSpPr/>
          <p:nvPr/>
        </p:nvSpPr>
        <p:spPr>
          <a:xfrm>
            <a:off x="6551422" y="2948626"/>
            <a:ext cx="4967910"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Recently visited</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No follow-up</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Low historical priority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Flexible availability</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6454140" y="4139884"/>
            <a:ext cx="507281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9E3B25"/>
                </a:solidFill>
                <a:latin typeface="Times New Roman" panose="02020603050405020304" pitchFamily="18" charset="0"/>
                <a:ea typeface="Georgia" pitchFamily="18" charset="-122"/>
                <a:cs typeface="Times New Roman" panose="02020603050405020304" pitchFamily="18" charset="0"/>
              </a:rPr>
              <a:t>May receive a lower priority.</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812800" y="5584192"/>
            <a:ext cx="1088339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These values are illustrative until the actual model is trained and evaluated.</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14</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Optimization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Route optimization</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41767"/>
            <a:ext cx="5177460"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Vehicle Routing Problem with Time Windows (VRPTW). Locations: MR start, Doctors A–D, MR end.</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924306" y="2790678"/>
            <a:ext cx="5058334" cy="1442720"/>
          </a:xfrm>
          <a:prstGeom prst="rect">
            <a:avLst/>
          </a:prstGeom>
          <a:noFill/>
          <a:ln/>
        </p:spPr>
        <p:txBody>
          <a:bodyPr wrap="square" lIns="0" tIns="0" rIns="0" bIns="0" rtlCol="0" anchor="t">
            <a:noAutofit/>
          </a:bodyPr>
          <a:lstStyle/>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 working hours</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Doctor availability</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Visit duration, travel time</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Location</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Appointment time window</a:t>
            </a:r>
            <a:endParaRPr lang="en-US" sz="1600" dirty="0">
              <a:latin typeface="Times New Roman" panose="02020603050405020304" pitchFamily="18" charset="0"/>
              <a:cs typeface="Times New Roman" panose="02020603050405020304" pitchFamily="18" charset="0"/>
            </a:endParaRPr>
          </a:p>
          <a:p>
            <a:pPr marL="142494" indent="-142494" algn="l">
              <a:lnSpc>
                <a:spcPts val="1860"/>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Number of available MRs</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3558708" y="2845836"/>
            <a:ext cx="0" cy="1416525"/>
          </a:xfrm>
          <a:prstGeom prst="line">
            <a:avLst/>
          </a:prstGeom>
          <a:noFill/>
          <a:ln w="6350">
            <a:solidFill>
              <a:srgbClr val="CDBFA6"/>
            </a:solidFill>
            <a:prstDash val="solid"/>
          </a:ln>
        </p:spPr>
        <p:txBody>
          <a:bodyPr/>
          <a:lstStyle/>
          <a:p>
            <a:endParaRPr lang="en-IN" sz="2400" dirty="0">
              <a:latin typeface="Times New Roman" panose="02020603050405020304" pitchFamily="18" charset="0"/>
              <a:cs typeface="Times New Roman" panose="02020603050405020304" pitchFamily="18" charset="0"/>
            </a:endParaRPr>
          </a:p>
        </p:txBody>
      </p:sp>
      <p:pic>
        <p:nvPicPr>
          <p:cNvPr id="8" name="Image 0" descr="Doctor A high 9-10, Doctor B medium 10-12, Doctor C high 13-14, Doctor D low 14-17"/>
          <p:cNvPicPr>
            <a:picLocks noChangeAspect="1"/>
          </p:cNvPicPr>
          <p:nvPr/>
        </p:nvPicPr>
        <p:blipFill>
          <a:blip r:embed="rId3"/>
          <a:srcRect t="-14" b="-14"/>
          <a:stretch/>
        </p:blipFill>
        <p:spPr>
          <a:xfrm>
            <a:off x="4394200" y="2362838"/>
            <a:ext cx="6985000" cy="1968500"/>
          </a:xfrm>
          <a:prstGeom prst="rect">
            <a:avLst/>
          </a:prstGeom>
        </p:spPr>
      </p:pic>
      <p:grpSp>
        <p:nvGrpSpPr>
          <p:cNvPr id="20" name="Group 19">
            <a:extLst>
              <a:ext uri="{FF2B5EF4-FFF2-40B4-BE49-F238E27FC236}">
                <a16:creationId xmlns:a16="http://schemas.microsoft.com/office/drawing/2014/main" id="{A49A3684-8025-D01C-B2ED-8B65AC877427}"/>
              </a:ext>
            </a:extLst>
          </p:cNvPr>
          <p:cNvGrpSpPr/>
          <p:nvPr/>
        </p:nvGrpSpPr>
        <p:grpSpPr>
          <a:xfrm>
            <a:off x="815975" y="4588508"/>
            <a:ext cx="10560050" cy="552450"/>
            <a:chOff x="815975" y="4400314"/>
            <a:chExt cx="10560050" cy="552450"/>
          </a:xfrm>
        </p:grpSpPr>
        <p:sp>
          <p:nvSpPr>
            <p:cNvPr id="9" name="Text 6"/>
            <p:cNvSpPr/>
            <p:nvPr/>
          </p:nvSpPr>
          <p:spPr>
            <a:xfrm>
              <a:off x="815975" y="4400314"/>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Locations</a:t>
              </a:r>
              <a:endParaRPr lang="en-US" sz="1600" dirty="0">
                <a:latin typeface="Times New Roman" panose="02020603050405020304" pitchFamily="18" charset="0"/>
                <a:cs typeface="Times New Roman" panose="02020603050405020304" pitchFamily="18" charset="0"/>
              </a:endParaRPr>
            </a:p>
          </p:txBody>
        </p:sp>
        <p:sp>
          <p:nvSpPr>
            <p:cNvPr id="10" name="Text 7"/>
            <p:cNvSpPr/>
            <p:nvPr/>
          </p:nvSpPr>
          <p:spPr>
            <a:xfrm>
              <a:off x="2735580" y="45431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8"/>
            <p:cNvSpPr/>
            <p:nvPr/>
          </p:nvSpPr>
          <p:spPr>
            <a:xfrm>
              <a:off x="2992755" y="4400314"/>
              <a:ext cx="1852930" cy="552450"/>
            </a:xfrm>
            <a:prstGeom prst="rect">
              <a:avLst/>
            </a:prstGeom>
            <a:noFill/>
            <a:ln w="6350">
              <a:solidFill>
                <a:srgbClr val="221F1A"/>
              </a:solidFill>
              <a:prstDash val="solid"/>
            </a:ln>
          </p:spPr>
          <p:txBody>
            <a:bodyPr wrap="square" lIns="78105" tIns="65405" rIns="781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Routing / travel-time source</a:t>
              </a:r>
              <a:endParaRPr lang="en-US" sz="1600" dirty="0">
                <a:latin typeface="Times New Roman" panose="02020603050405020304" pitchFamily="18" charset="0"/>
                <a:cs typeface="Times New Roman" panose="02020603050405020304" pitchFamily="18" charset="0"/>
              </a:endParaRPr>
            </a:p>
          </p:txBody>
        </p:sp>
        <p:sp>
          <p:nvSpPr>
            <p:cNvPr id="12" name="Text 9"/>
            <p:cNvSpPr/>
            <p:nvPr/>
          </p:nvSpPr>
          <p:spPr>
            <a:xfrm>
              <a:off x="4912360" y="45431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3" name="Text 10"/>
            <p:cNvSpPr/>
            <p:nvPr/>
          </p:nvSpPr>
          <p:spPr>
            <a:xfrm>
              <a:off x="5169535" y="4400314"/>
              <a:ext cx="1852930"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Distance-time matrix</a:t>
              </a:r>
              <a:endParaRPr lang="en-US" sz="1600" dirty="0">
                <a:latin typeface="Times New Roman" panose="02020603050405020304" pitchFamily="18" charset="0"/>
                <a:cs typeface="Times New Roman" panose="02020603050405020304" pitchFamily="18" charset="0"/>
              </a:endParaRPr>
            </a:p>
          </p:txBody>
        </p:sp>
        <p:sp>
          <p:nvSpPr>
            <p:cNvPr id="14" name="Text 11"/>
            <p:cNvSpPr/>
            <p:nvPr/>
          </p:nvSpPr>
          <p:spPr>
            <a:xfrm>
              <a:off x="7089140" y="45431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Text 12"/>
            <p:cNvSpPr/>
            <p:nvPr/>
          </p:nvSpPr>
          <p:spPr>
            <a:xfrm>
              <a:off x="7346315" y="4400314"/>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OR-Tools</a:t>
              </a:r>
              <a:endParaRPr lang="en-US" sz="1600" dirty="0">
                <a:latin typeface="Times New Roman" panose="02020603050405020304" pitchFamily="18" charset="0"/>
                <a:cs typeface="Times New Roman" panose="02020603050405020304" pitchFamily="18" charset="0"/>
              </a:endParaRPr>
            </a:p>
          </p:txBody>
        </p:sp>
        <p:sp>
          <p:nvSpPr>
            <p:cNvPr id="16" name="Text 13"/>
            <p:cNvSpPr/>
            <p:nvPr/>
          </p:nvSpPr>
          <p:spPr>
            <a:xfrm>
              <a:off x="9265920" y="4543189"/>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4"/>
            <p:cNvSpPr/>
            <p:nvPr/>
          </p:nvSpPr>
          <p:spPr>
            <a:xfrm>
              <a:off x="9523095" y="4400314"/>
              <a:ext cx="1852930"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Optimized route</a:t>
              </a:r>
              <a:endParaRPr lang="en-US" sz="1600" dirty="0">
                <a:latin typeface="Times New Roman" panose="02020603050405020304" pitchFamily="18" charset="0"/>
                <a:cs typeface="Times New Roman" panose="02020603050405020304" pitchFamily="18" charset="0"/>
              </a:endParaRPr>
            </a:p>
          </p:txBody>
        </p:sp>
      </p:grpSp>
      <p:sp>
        <p:nvSpPr>
          <p:cNvPr id="18" name="Text 15"/>
          <p:cNvSpPr/>
          <p:nvPr/>
        </p:nvSpPr>
        <p:spPr>
          <a:xfrm>
            <a:off x="812800" y="5326379"/>
            <a:ext cx="10883392" cy="54102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Route must be feasible, priority-aware, time-window compliant and efficient. OR-Tools needs a distance/time matrix: a map/routing API, organization-provided data, precomputed distances or a controlled simulation.</a:t>
            </a:r>
            <a:endParaRPr lang="en-US" dirty="0">
              <a:latin typeface="Times New Roman" panose="02020603050405020304" pitchFamily="18" charset="0"/>
              <a:cs typeface="Times New Roman" panose="02020603050405020304" pitchFamily="18" charset="0"/>
            </a:endParaRPr>
          </a:p>
        </p:txBody>
      </p:sp>
      <p:sp>
        <p:nvSpPr>
          <p:cNvPr id="19" name="Text 1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15</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Optimization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Optimization objective</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064779"/>
            <a:ext cx="10883392" cy="292100"/>
          </a:xfrm>
          <a:prstGeom prst="rect">
            <a:avLst/>
          </a:prstGeom>
          <a:noFill/>
          <a:ln/>
        </p:spPr>
        <p:txBody>
          <a:bodyPr wrap="square" lIns="0" tIns="0" rIns="0" bIns="0" rtlCol="0" anchor="t">
            <a:normAutofit/>
          </a:bodyPr>
          <a:lstStyle/>
          <a:p>
            <a:pPr marL="0" indent="0" algn="l">
              <a:lnSpc>
                <a:spcPts val="2100"/>
              </a:lnSpc>
              <a:buNone/>
            </a:pPr>
            <a:r>
              <a:rPr lang="en-US" i="1" dirty="0">
                <a:solidFill>
                  <a:srgbClr val="9E3B25"/>
                </a:solidFill>
                <a:latin typeface="Times New Roman" panose="02020603050405020304" pitchFamily="18" charset="0"/>
                <a:ea typeface="Georgia" pitchFamily="18" charset="-122"/>
                <a:cs typeface="Times New Roman" panose="02020603050405020304" pitchFamily="18" charset="0"/>
              </a:rPr>
              <a:t>Minimize</a:t>
            </a:r>
            <a:endParaRPr lang="en-US" dirty="0">
              <a:latin typeface="Times New Roman" panose="02020603050405020304" pitchFamily="18" charset="0"/>
              <a:cs typeface="Times New Roman" panose="02020603050405020304" pitchFamily="18" charset="0"/>
            </a:endParaRPr>
          </a:p>
        </p:txBody>
      </p:sp>
      <p:sp>
        <p:nvSpPr>
          <p:cNvPr id="6" name="Text 4"/>
          <p:cNvSpPr/>
          <p:nvPr/>
        </p:nvSpPr>
        <p:spPr>
          <a:xfrm>
            <a:off x="812800" y="2382279"/>
            <a:ext cx="10883392" cy="1000760"/>
          </a:xfrm>
          <a:prstGeom prst="rect">
            <a:avLst/>
          </a:prstGeom>
          <a:noFill/>
          <a:ln/>
        </p:spPr>
        <p:txBody>
          <a:bodyPr wrap="square" lIns="0" tIns="0" rIns="0" bIns="0" rtlCol="0" anchor="t">
            <a:normAutofit/>
          </a:bodyPr>
          <a:lstStyle/>
          <a:p>
            <a:pPr marL="0" indent="0" algn="l">
              <a:lnSpc>
                <a:spcPts val="3840"/>
              </a:lnSpc>
              <a:buNone/>
            </a:pPr>
            <a:r>
              <a:rPr lang="en-US" sz="4000" dirty="0">
                <a:solidFill>
                  <a:srgbClr val="221F1A"/>
                </a:solidFill>
                <a:latin typeface="Times New Roman" panose="02020603050405020304" pitchFamily="18" charset="0"/>
                <a:ea typeface="Georgia" pitchFamily="18" charset="-122"/>
                <a:cs typeface="Times New Roman" panose="02020603050405020304" pitchFamily="18" charset="0"/>
              </a:rPr>
              <a:t>Travel time + Waiting time + Penalty for missing important visits</a:t>
            </a:r>
            <a:endParaRPr lang="en-US" sz="4000" dirty="0">
              <a:latin typeface="Times New Roman" panose="02020603050405020304" pitchFamily="18" charset="0"/>
              <a:cs typeface="Times New Roman" panose="02020603050405020304" pitchFamily="18" charset="0"/>
            </a:endParaRPr>
          </a:p>
        </p:txBody>
      </p:sp>
      <p:sp>
        <p:nvSpPr>
          <p:cNvPr id="7" name="Text 5"/>
          <p:cNvSpPr/>
          <p:nvPr/>
        </p:nvSpPr>
        <p:spPr>
          <a:xfrm>
            <a:off x="812800" y="3751188"/>
            <a:ext cx="5072812"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Subject to</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910082" y="4088371"/>
            <a:ext cx="4967910"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Doctor availability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MR working hours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Visit duration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Route feasibility</a:t>
            </a:r>
            <a:endParaRPr lang="en-US" dirty="0">
              <a:latin typeface="Times New Roman" panose="02020603050405020304" pitchFamily="18" charset="0"/>
              <a:cs typeface="Times New Roman" panose="02020603050405020304" pitchFamily="18" charset="0"/>
            </a:endParaRPr>
          </a:p>
        </p:txBody>
      </p:sp>
      <p:sp>
        <p:nvSpPr>
          <p:cNvPr id="9" name="Shape 7"/>
          <p:cNvSpPr/>
          <p:nvPr/>
        </p:nvSpPr>
        <p:spPr>
          <a:xfrm>
            <a:off x="6096635" y="3751188"/>
            <a:ext cx="0" cy="515620"/>
          </a:xfrm>
          <a:prstGeom prst="line">
            <a:avLst/>
          </a:prstGeom>
          <a:noFill/>
          <a:ln w="6350">
            <a:solidFill>
              <a:srgbClr val="CDBFA6"/>
            </a:solidFill>
            <a:prstDash val="solid"/>
          </a:ln>
        </p:spPr>
      </p:sp>
      <p:sp>
        <p:nvSpPr>
          <p:cNvPr id="10" name="Text 8"/>
          <p:cNvSpPr/>
          <p:nvPr/>
        </p:nvSpPr>
        <p:spPr>
          <a:xfrm>
            <a:off x="6454140" y="3751188"/>
            <a:ext cx="5072812" cy="54102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Priority information can influence which visits are more valuable to serve.</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12800" y="5584192"/>
            <a:ext cx="1088339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This is a simplified conceptual objective.</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16</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Algorithms and techniques used</a:t>
            </a:r>
            <a:endParaRPr lang="en-US" sz="3600" dirty="0">
              <a:latin typeface="Times New Roman" panose="02020603050405020304" pitchFamily="18" charset="0"/>
              <a:cs typeface="Times New Roman" panose="02020603050405020304" pitchFamily="18" charset="0"/>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2890518"/>
          <a:ext cx="4965700" cy="2951480"/>
        </p:xfrm>
        <a:graphic>
          <a:graphicData uri="http://schemas.openxmlformats.org/drawingml/2006/table">
            <a:tbl>
              <a:tblPr/>
              <a:tblGrid>
                <a:gridCol w="2135251">
                  <a:extLst>
                    <a:ext uri="{9D8B030D-6E8A-4147-A177-3AD203B41FA5}">
                      <a16:colId xmlns:a16="http://schemas.microsoft.com/office/drawing/2014/main" val="20000"/>
                    </a:ext>
                  </a:extLst>
                </a:gridCol>
                <a:gridCol w="2830449">
                  <a:extLst>
                    <a:ext uri="{9D8B030D-6E8A-4147-A177-3AD203B41FA5}">
                      <a16:colId xmlns:a16="http://schemas.microsoft.com/office/drawing/2014/main" val="20001"/>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Component</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Technique</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 preprocessing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Cleaning + transformation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Priority prediction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Random Forest</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Feature engineering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Statistical / domain features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Vehicle Routing Problem</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Time constraints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VRPTW</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Optimization engine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Google OR-Tools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6096635" y="2880358"/>
            <a:ext cx="0" cy="2540000"/>
          </a:xfrm>
          <a:prstGeom prst="line">
            <a:avLst/>
          </a:prstGeom>
          <a:noFill/>
          <a:ln w="6350">
            <a:solidFill>
              <a:srgbClr val="CDBFA6"/>
            </a:solidFill>
            <a:prstDash val="solid"/>
          </a:ln>
        </p:spPr>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413500" y="2890518"/>
          <a:ext cx="4965700" cy="2529840"/>
        </p:xfrm>
        <a:graphic>
          <a:graphicData uri="http://schemas.openxmlformats.org/drawingml/2006/table">
            <a:tbl>
              <a:tblPr/>
              <a:tblGrid>
                <a:gridCol w="2135251">
                  <a:extLst>
                    <a:ext uri="{9D8B030D-6E8A-4147-A177-3AD203B41FA5}">
                      <a16:colId xmlns:a16="http://schemas.microsoft.com/office/drawing/2014/main" val="20000"/>
                    </a:ext>
                  </a:extLst>
                </a:gridCol>
                <a:gridCol w="2830449">
                  <a:extLst>
                    <a:ext uri="{9D8B030D-6E8A-4147-A177-3AD203B41FA5}">
                      <a16:colId xmlns:a16="http://schemas.microsoft.com/office/drawing/2014/main" val="20001"/>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Component</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Technique</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Backend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FastAPI</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Database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MySQL</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Frontend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React.js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Visualization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Charts + maps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API communication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REST APIs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17</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Module split-up</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480308"/>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1</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812800" y="2800350"/>
            <a:ext cx="2402980" cy="43434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Authentication &amp; role management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812800" y="3298192"/>
            <a:ext cx="2402980" cy="46736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Login, MR role, Manager role, access control</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3352165" y="2480308"/>
            <a:ext cx="0" cy="1276350"/>
          </a:xfrm>
          <a:prstGeom prst="line">
            <a:avLst/>
          </a:prstGeom>
          <a:noFill/>
          <a:ln w="6350">
            <a:solidFill>
              <a:srgbClr val="CDBFA6"/>
            </a:solidFill>
            <a:prstDash val="solid"/>
          </a:ln>
        </p:spPr>
      </p:sp>
      <p:sp>
        <p:nvSpPr>
          <p:cNvPr id="9" name="Text 7"/>
          <p:cNvSpPr/>
          <p:nvPr/>
        </p:nvSpPr>
        <p:spPr>
          <a:xfrm>
            <a:off x="3557270" y="2480308"/>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2</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3557270" y="2800350"/>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Doctor management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3557270" y="3093727"/>
            <a:ext cx="2402980" cy="68834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Doctor master, location, specialization, availability, visit duration</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6096635" y="2480308"/>
            <a:ext cx="0" cy="1055370"/>
          </a:xfrm>
          <a:prstGeom prst="line">
            <a:avLst/>
          </a:prstGeom>
          <a:noFill/>
          <a:ln w="6350">
            <a:solidFill>
              <a:srgbClr val="CDBFA6"/>
            </a:solidFill>
            <a:prstDash val="solid"/>
          </a:ln>
        </p:spPr>
      </p:sp>
      <p:sp>
        <p:nvSpPr>
          <p:cNvPr id="13" name="Text 11"/>
          <p:cNvSpPr/>
          <p:nvPr/>
        </p:nvSpPr>
        <p:spPr>
          <a:xfrm>
            <a:off x="6301740" y="2480308"/>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3</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6301740" y="2800350"/>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MR management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6301740" y="3093727"/>
            <a:ext cx="240298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 profile, territory, working hours, start/end location</a:t>
            </a:r>
            <a:endParaRPr lang="en-US" sz="1600" dirty="0">
              <a:latin typeface="Times New Roman" panose="02020603050405020304" pitchFamily="18" charset="0"/>
              <a:cs typeface="Times New Roman" panose="02020603050405020304" pitchFamily="18" charset="0"/>
            </a:endParaRPr>
          </a:p>
        </p:txBody>
      </p:sp>
      <p:sp>
        <p:nvSpPr>
          <p:cNvPr id="16" name="Shape 14"/>
          <p:cNvSpPr/>
          <p:nvPr/>
        </p:nvSpPr>
        <p:spPr>
          <a:xfrm>
            <a:off x="8841105" y="2480308"/>
            <a:ext cx="0" cy="1259840"/>
          </a:xfrm>
          <a:prstGeom prst="line">
            <a:avLst/>
          </a:prstGeom>
          <a:noFill/>
          <a:ln w="6350">
            <a:solidFill>
              <a:srgbClr val="CDBFA6"/>
            </a:solidFill>
            <a:prstDash val="solid"/>
          </a:ln>
        </p:spPr>
      </p:sp>
      <p:sp>
        <p:nvSpPr>
          <p:cNvPr id="17" name="Text 15"/>
          <p:cNvSpPr/>
          <p:nvPr/>
        </p:nvSpPr>
        <p:spPr>
          <a:xfrm>
            <a:off x="9046210" y="2480308"/>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4</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9046210" y="2800350"/>
            <a:ext cx="2402980" cy="43434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Visit &amp; appointment management</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9046210" y="3298192"/>
            <a:ext cx="240298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Create visit, appointment, reschedule, visit status, follow-up</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812800" y="4565650"/>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5</a:t>
            </a:r>
            <a:endParaRPr lang="en-US" sz="1600" dirty="0">
              <a:latin typeface="Times New Roman" panose="02020603050405020304" pitchFamily="18" charset="0"/>
              <a:cs typeface="Times New Roman" panose="02020603050405020304" pitchFamily="18" charset="0"/>
            </a:endParaRPr>
          </a:p>
        </p:txBody>
      </p:sp>
      <p:sp>
        <p:nvSpPr>
          <p:cNvPr id="21" name="Text 19"/>
          <p:cNvSpPr/>
          <p:nvPr/>
        </p:nvSpPr>
        <p:spPr>
          <a:xfrm>
            <a:off x="812800" y="4885692"/>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ML priority engine</a:t>
            </a:r>
            <a:endParaRPr lang="en-US" dirty="0">
              <a:latin typeface="Times New Roman" panose="02020603050405020304" pitchFamily="18" charset="0"/>
              <a:cs typeface="Times New Roman" panose="02020603050405020304" pitchFamily="18" charset="0"/>
            </a:endParaRPr>
          </a:p>
        </p:txBody>
      </p:sp>
      <p:sp>
        <p:nvSpPr>
          <p:cNvPr id="22" name="Text 20"/>
          <p:cNvSpPr/>
          <p:nvPr/>
        </p:nvSpPr>
        <p:spPr>
          <a:xfrm>
            <a:off x="812800" y="5179058"/>
            <a:ext cx="2402980" cy="68834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Data preprocessing, feature extraction, model prediction, priority output</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3352165" y="4565650"/>
            <a:ext cx="0" cy="1055370"/>
          </a:xfrm>
          <a:prstGeom prst="line">
            <a:avLst/>
          </a:prstGeom>
          <a:noFill/>
          <a:ln w="6350">
            <a:solidFill>
              <a:srgbClr val="CDBFA6"/>
            </a:solidFill>
            <a:prstDash val="solid"/>
          </a:ln>
        </p:spPr>
      </p:sp>
      <p:sp>
        <p:nvSpPr>
          <p:cNvPr id="24" name="Text 22"/>
          <p:cNvSpPr/>
          <p:nvPr/>
        </p:nvSpPr>
        <p:spPr>
          <a:xfrm>
            <a:off x="3557270" y="4565650"/>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6</a:t>
            </a:r>
            <a:endParaRPr lang="en-US" sz="1600" dirty="0">
              <a:latin typeface="Times New Roman" panose="02020603050405020304" pitchFamily="18" charset="0"/>
              <a:cs typeface="Times New Roman" panose="02020603050405020304" pitchFamily="18" charset="0"/>
            </a:endParaRPr>
          </a:p>
        </p:txBody>
      </p:sp>
      <p:sp>
        <p:nvSpPr>
          <p:cNvPr id="25" name="Text 23"/>
          <p:cNvSpPr/>
          <p:nvPr/>
        </p:nvSpPr>
        <p:spPr>
          <a:xfrm>
            <a:off x="3557270" y="4885692"/>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Route optimization</a:t>
            </a:r>
            <a:endParaRPr lang="en-US" dirty="0">
              <a:latin typeface="Times New Roman" panose="02020603050405020304" pitchFamily="18" charset="0"/>
              <a:cs typeface="Times New Roman" panose="02020603050405020304" pitchFamily="18" charset="0"/>
            </a:endParaRPr>
          </a:p>
        </p:txBody>
      </p:sp>
      <p:sp>
        <p:nvSpPr>
          <p:cNvPr id="26" name="Text 24"/>
          <p:cNvSpPr/>
          <p:nvPr/>
        </p:nvSpPr>
        <p:spPr>
          <a:xfrm>
            <a:off x="3557270" y="5179058"/>
            <a:ext cx="2402980" cy="46736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Travel matrix, constraints, OR-Tools, optimized sequence</a:t>
            </a:r>
            <a:endParaRPr lang="en-US" sz="1600" dirty="0">
              <a:latin typeface="Times New Roman" panose="02020603050405020304" pitchFamily="18" charset="0"/>
              <a:cs typeface="Times New Roman" panose="02020603050405020304" pitchFamily="18" charset="0"/>
            </a:endParaRPr>
          </a:p>
        </p:txBody>
      </p:sp>
      <p:sp>
        <p:nvSpPr>
          <p:cNvPr id="27" name="Shape 25"/>
          <p:cNvSpPr/>
          <p:nvPr/>
        </p:nvSpPr>
        <p:spPr>
          <a:xfrm>
            <a:off x="6096635" y="4565650"/>
            <a:ext cx="0" cy="1055370"/>
          </a:xfrm>
          <a:prstGeom prst="line">
            <a:avLst/>
          </a:prstGeom>
          <a:noFill/>
          <a:ln w="6350">
            <a:solidFill>
              <a:srgbClr val="CDBFA6"/>
            </a:solidFill>
            <a:prstDash val="solid"/>
          </a:ln>
        </p:spPr>
      </p:sp>
      <p:sp>
        <p:nvSpPr>
          <p:cNvPr id="28" name="Text 26"/>
          <p:cNvSpPr/>
          <p:nvPr/>
        </p:nvSpPr>
        <p:spPr>
          <a:xfrm>
            <a:off x="6301740" y="4565650"/>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7</a:t>
            </a:r>
            <a:endParaRPr lang="en-US" sz="1600" dirty="0">
              <a:latin typeface="Times New Roman" panose="02020603050405020304" pitchFamily="18" charset="0"/>
              <a:cs typeface="Times New Roman" panose="02020603050405020304" pitchFamily="18" charset="0"/>
            </a:endParaRPr>
          </a:p>
        </p:txBody>
      </p:sp>
      <p:sp>
        <p:nvSpPr>
          <p:cNvPr id="29" name="Text 27"/>
          <p:cNvSpPr/>
          <p:nvPr/>
        </p:nvSpPr>
        <p:spPr>
          <a:xfrm>
            <a:off x="6301740" y="4885692"/>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MR dashboard</a:t>
            </a:r>
            <a:endParaRPr lang="en-US" dirty="0">
              <a:latin typeface="Times New Roman" panose="02020603050405020304" pitchFamily="18" charset="0"/>
              <a:cs typeface="Times New Roman" panose="02020603050405020304" pitchFamily="18" charset="0"/>
            </a:endParaRPr>
          </a:p>
        </p:txBody>
      </p:sp>
      <p:sp>
        <p:nvSpPr>
          <p:cNvPr id="30" name="Text 28"/>
          <p:cNvSpPr/>
          <p:nvPr/>
        </p:nvSpPr>
        <p:spPr>
          <a:xfrm>
            <a:off x="6301740" y="5179058"/>
            <a:ext cx="2402980" cy="467360"/>
          </a:xfrm>
          <a:prstGeom prst="rect">
            <a:avLst/>
          </a:prstGeom>
          <a:noFill/>
          <a:ln/>
        </p:spPr>
        <p:txBody>
          <a:bodyPr wrap="square" lIns="0" tIns="0" rIns="0" bIns="0" rtlCol="0" anchor="t">
            <a:norm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Today's visits, priority, route, schedule, status</a:t>
            </a:r>
            <a:endParaRPr lang="en-US" sz="1600" dirty="0">
              <a:latin typeface="Times New Roman" panose="02020603050405020304" pitchFamily="18" charset="0"/>
              <a:cs typeface="Times New Roman" panose="02020603050405020304" pitchFamily="18" charset="0"/>
            </a:endParaRPr>
          </a:p>
        </p:txBody>
      </p:sp>
      <p:sp>
        <p:nvSpPr>
          <p:cNvPr id="31" name="Shape 29"/>
          <p:cNvSpPr/>
          <p:nvPr/>
        </p:nvSpPr>
        <p:spPr>
          <a:xfrm>
            <a:off x="8841105" y="4565650"/>
            <a:ext cx="0" cy="1276350"/>
          </a:xfrm>
          <a:prstGeom prst="line">
            <a:avLst/>
          </a:prstGeom>
          <a:noFill/>
          <a:ln w="6350">
            <a:solidFill>
              <a:srgbClr val="CDBFA6"/>
            </a:solidFill>
            <a:prstDash val="solid"/>
          </a:ln>
        </p:spPr>
      </p:sp>
      <p:sp>
        <p:nvSpPr>
          <p:cNvPr id="32" name="Text 30"/>
          <p:cNvSpPr/>
          <p:nvPr/>
        </p:nvSpPr>
        <p:spPr>
          <a:xfrm>
            <a:off x="9046210" y="4565650"/>
            <a:ext cx="2402980"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Module 8</a:t>
            </a:r>
            <a:endParaRPr lang="en-US" sz="1600" dirty="0">
              <a:latin typeface="Times New Roman" panose="02020603050405020304" pitchFamily="18" charset="0"/>
              <a:cs typeface="Times New Roman" panose="02020603050405020304" pitchFamily="18" charset="0"/>
            </a:endParaRPr>
          </a:p>
        </p:txBody>
      </p:sp>
      <p:sp>
        <p:nvSpPr>
          <p:cNvPr id="33" name="Text 31"/>
          <p:cNvSpPr/>
          <p:nvPr/>
        </p:nvSpPr>
        <p:spPr>
          <a:xfrm>
            <a:off x="9046210" y="4885692"/>
            <a:ext cx="2402980" cy="229870"/>
          </a:xfrm>
          <a:prstGeom prst="rect">
            <a:avLst/>
          </a:prstGeom>
          <a:noFill/>
          <a:ln/>
        </p:spPr>
        <p:txBody>
          <a:bodyPr wrap="square" lIns="0" tIns="0" rIns="0" bIns="0" rtlCol="0" anchor="t">
            <a:normAutofit/>
          </a:bodyPr>
          <a:lstStyle/>
          <a:p>
            <a:pPr marL="0" indent="0" algn="l">
              <a:lnSpc>
                <a:spcPts val="1610"/>
              </a:lnSpc>
              <a:buNone/>
            </a:pPr>
            <a:r>
              <a:rPr lang="en-US" b="1" dirty="0">
                <a:solidFill>
                  <a:srgbClr val="221F1A"/>
                </a:solidFill>
                <a:latin typeface="Times New Roman" panose="02020603050405020304" pitchFamily="18" charset="0"/>
                <a:ea typeface="Georgia" pitchFamily="18" charset="-122"/>
                <a:cs typeface="Times New Roman" panose="02020603050405020304" pitchFamily="18" charset="0"/>
              </a:rPr>
              <a:t>Manager dashboard</a:t>
            </a:r>
            <a:endParaRPr lang="en-US" dirty="0">
              <a:latin typeface="Times New Roman" panose="02020603050405020304" pitchFamily="18" charset="0"/>
              <a:cs typeface="Times New Roman" panose="02020603050405020304" pitchFamily="18" charset="0"/>
            </a:endParaRPr>
          </a:p>
        </p:txBody>
      </p:sp>
      <p:sp>
        <p:nvSpPr>
          <p:cNvPr id="34" name="Text 32"/>
          <p:cNvSpPr/>
          <p:nvPr/>
        </p:nvSpPr>
        <p:spPr>
          <a:xfrm>
            <a:off x="9046210" y="5179058"/>
            <a:ext cx="2402980" cy="688340"/>
          </a:xfrm>
          <a:prstGeom prst="rect">
            <a:avLst/>
          </a:prstGeom>
          <a:noFill/>
          <a:ln/>
        </p:spPr>
        <p:txBody>
          <a:bodyPr wrap="square" lIns="0" tIns="0" rIns="0" bIns="0" rtlCol="0" anchor="t">
            <a:noAutofit/>
          </a:bodyPr>
          <a:lstStyle/>
          <a:p>
            <a:pPr marL="0" indent="0" algn="l">
              <a:lnSpc>
                <a:spcPts val="174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 performance, planned/completed visits, priority visits, route analytics, reports</a:t>
            </a:r>
            <a:endParaRPr lang="en-US" sz="1600" dirty="0">
              <a:latin typeface="Times New Roman" panose="02020603050405020304" pitchFamily="18" charset="0"/>
              <a:cs typeface="Times New Roman" panose="02020603050405020304" pitchFamily="18" charset="0"/>
            </a:endParaRPr>
          </a:p>
        </p:txBody>
      </p:sp>
      <p:sp>
        <p:nvSpPr>
          <p:cNvPr id="35" name="Text 3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18</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Proposed system UI</a:t>
            </a:r>
            <a:endParaRPr lang="en-US" sz="3600" dirty="0">
              <a:latin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7A4FA638-04F4-9EC8-ED49-77E36C679A3B}"/>
              </a:ext>
            </a:extLst>
          </p:cNvPr>
          <p:cNvGrpSpPr/>
          <p:nvPr/>
        </p:nvGrpSpPr>
        <p:grpSpPr>
          <a:xfrm>
            <a:off x="1034389" y="2995931"/>
            <a:ext cx="10661803" cy="1656717"/>
            <a:chOff x="812800" y="4210683"/>
            <a:chExt cx="10661803" cy="1656717"/>
          </a:xfrm>
        </p:grpSpPr>
        <p:sp>
          <p:nvSpPr>
            <p:cNvPr id="5" name="Text 3"/>
            <p:cNvSpPr/>
            <p:nvPr/>
          </p:nvSpPr>
          <p:spPr>
            <a:xfrm>
              <a:off x="812800" y="4210683"/>
              <a:ext cx="3275483"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Login</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812800" y="4562475"/>
              <a:ext cx="3275483"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Email / username and password, then Login.</a:t>
              </a:r>
              <a:endParaRPr lang="en-US" sz="1600" dirty="0">
                <a:latin typeface="Times New Roman" panose="02020603050405020304" pitchFamily="18" charset="0"/>
                <a:cs typeface="Times New Roman" panose="02020603050405020304" pitchFamily="18" charset="0"/>
              </a:endParaRPr>
            </a:p>
          </p:txBody>
        </p:sp>
        <p:sp>
          <p:nvSpPr>
            <p:cNvPr id="7" name="Shape 5"/>
            <p:cNvSpPr/>
            <p:nvPr/>
          </p:nvSpPr>
          <p:spPr>
            <a:xfrm>
              <a:off x="4250055" y="4210683"/>
              <a:ext cx="0" cy="1375410"/>
            </a:xfrm>
            <a:prstGeom prst="line">
              <a:avLst/>
            </a:prstGeom>
            <a:noFill/>
            <a:ln w="6350">
              <a:solidFill>
                <a:srgbClr val="CDBFA6"/>
              </a:solidFill>
              <a:prstDash val="solid"/>
            </a:ln>
          </p:spPr>
        </p:sp>
        <p:sp>
          <p:nvSpPr>
            <p:cNvPr id="8" name="Text 6"/>
            <p:cNvSpPr/>
            <p:nvPr/>
          </p:nvSpPr>
          <p:spPr>
            <a:xfrm>
              <a:off x="4505960" y="4210683"/>
              <a:ext cx="3275483"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MR dashboard</a:t>
              </a:r>
              <a:endParaRPr lang="en-US" sz="2400" dirty="0">
                <a:latin typeface="Times New Roman" panose="02020603050405020304" pitchFamily="18" charset="0"/>
                <a:cs typeface="Times New Roman" panose="02020603050405020304" pitchFamily="18" charset="0"/>
              </a:endParaRPr>
            </a:p>
          </p:txBody>
        </p:sp>
        <p:sp>
          <p:nvSpPr>
            <p:cNvPr id="9" name="Text 7"/>
            <p:cNvSpPr/>
            <p:nvPr/>
          </p:nvSpPr>
          <p:spPr>
            <a:xfrm>
              <a:off x="4604004" y="4562475"/>
              <a:ext cx="3169819" cy="1049020"/>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Total visits, completed, pending</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High-priority visits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Today's route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Map</a:t>
              </a:r>
              <a:endParaRPr lang="en-US" sz="1600" dirty="0">
                <a:latin typeface="Times New Roman" panose="02020603050405020304" pitchFamily="18" charset="0"/>
                <a:cs typeface="Times New Roman" panose="02020603050405020304" pitchFamily="18" charset="0"/>
              </a:endParaRPr>
            </a:p>
          </p:txBody>
        </p:sp>
        <p:sp>
          <p:nvSpPr>
            <p:cNvPr id="10" name="Shape 8"/>
            <p:cNvSpPr/>
            <p:nvPr/>
          </p:nvSpPr>
          <p:spPr>
            <a:xfrm>
              <a:off x="7943215" y="4210683"/>
              <a:ext cx="0" cy="1631315"/>
            </a:xfrm>
            <a:prstGeom prst="line">
              <a:avLst/>
            </a:prstGeom>
            <a:noFill/>
            <a:ln w="6350">
              <a:solidFill>
                <a:srgbClr val="CDBFA6"/>
              </a:solidFill>
              <a:prstDash val="solid"/>
            </a:ln>
          </p:spPr>
        </p:sp>
        <p:sp>
          <p:nvSpPr>
            <p:cNvPr id="11" name="Text 9"/>
            <p:cNvSpPr/>
            <p:nvPr/>
          </p:nvSpPr>
          <p:spPr>
            <a:xfrm>
              <a:off x="8199120" y="4210683"/>
              <a:ext cx="3275483"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Manager dashboard</a:t>
              </a:r>
              <a:endParaRPr lang="en-US" sz="2400" dirty="0">
                <a:latin typeface="Times New Roman" panose="02020603050405020304" pitchFamily="18" charset="0"/>
                <a:cs typeface="Times New Roman" panose="02020603050405020304" pitchFamily="18" charset="0"/>
              </a:endParaRPr>
            </a:p>
          </p:txBody>
        </p:sp>
        <p:sp>
          <p:nvSpPr>
            <p:cNvPr id="12" name="Text 10"/>
            <p:cNvSpPr/>
            <p:nvPr/>
          </p:nvSpPr>
          <p:spPr>
            <a:xfrm>
              <a:off x="8297164" y="4562475"/>
              <a:ext cx="3169819" cy="1304925"/>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Total MRs, total planned visits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Completion rate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High-priority visits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MR-wise performance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Route efficiency</a:t>
              </a:r>
              <a:endParaRPr lang="en-US" sz="1600" dirty="0">
                <a:latin typeface="Times New Roman" panose="02020603050405020304" pitchFamily="18" charset="0"/>
                <a:cs typeface="Times New Roman" panose="02020603050405020304" pitchFamily="18" charset="0"/>
              </a:endParaRPr>
            </a:p>
          </p:txBody>
        </p:sp>
      </p:grpSp>
      <p:sp>
        <p:nvSpPr>
          <p:cNvPr id="13" name="Text 11"/>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19</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Working modules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Working module: MR</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5975" y="2196467"/>
            <a:ext cx="2397125" cy="55245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logs in</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3279775" y="233934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3536950" y="2196467"/>
            <a:ext cx="2397125"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Dashboard shows today's visits</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6000750" y="233934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257925" y="2196467"/>
            <a:ext cx="2397125" cy="552450"/>
          </a:xfrm>
          <a:prstGeom prst="rect">
            <a:avLst/>
          </a:prstGeom>
          <a:noFill/>
          <a:ln w="6350">
            <a:solidFill>
              <a:srgbClr val="221F1A"/>
            </a:solidFill>
            <a:prstDash val="solid"/>
          </a:ln>
        </p:spPr>
        <p:txBody>
          <a:bodyPr wrap="square" lIns="70653" tIns="65405" rIns="70653"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System retrieves doctor/appointment data</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8721725" y="2339342"/>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978900" y="2196467"/>
            <a:ext cx="2397125" cy="552450"/>
          </a:xfrm>
          <a:prstGeom prst="rect">
            <a:avLst/>
          </a:prstGeom>
          <a:noFill/>
          <a:ln w="6350">
            <a:solidFill>
              <a:srgbClr val="221F1A"/>
            </a:solidFill>
            <a:prstDash val="solid"/>
          </a:ln>
        </p:spPr>
        <p:txBody>
          <a:bodyPr wrap="square" lIns="103505" tIns="78105" rIns="103505" bIns="781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ML model generates priority</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815975" y="2844167"/>
            <a:ext cx="3304064"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clicks Generate Optimized Route</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4186714" y="288798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4443889" y="2844167"/>
            <a:ext cx="3304143"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OR-Tools processes</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7814707" y="288798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8071882" y="2844167"/>
            <a:ext cx="3304143"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System produces route</a:t>
            </a:r>
            <a:endParaRPr lang="en-US" sz="1600" dirty="0">
              <a:latin typeface="Times New Roman" panose="02020603050405020304" pitchFamily="18" charset="0"/>
              <a:cs typeface="Times New Roman" panose="02020603050405020304" pitchFamily="18" charset="0"/>
            </a:endParaRPr>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3733802"/>
          <a:ext cx="4965700" cy="2108200"/>
        </p:xfrm>
        <a:graphic>
          <a:graphicData uri="http://schemas.openxmlformats.org/drawingml/2006/table">
            <a:tbl>
              <a:tblPr/>
              <a:tblGrid>
                <a:gridCol w="2830449">
                  <a:extLst>
                    <a:ext uri="{9D8B030D-6E8A-4147-A177-3AD203B41FA5}">
                      <a16:colId xmlns:a16="http://schemas.microsoft.com/office/drawing/2014/main" val="20000"/>
                    </a:ext>
                  </a:extLst>
                </a:gridCol>
                <a:gridCol w="2135251">
                  <a:extLst>
                    <a:ext uri="{9D8B030D-6E8A-4147-A177-3AD203B41FA5}">
                      <a16:colId xmlns:a16="http://schemas.microsoft.com/office/drawing/2014/main" val="20001"/>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Doctor</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Priority</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 A</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High</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 B</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High</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 C</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Medium</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 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Low</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8" name="Shape 15"/>
          <p:cNvSpPr/>
          <p:nvPr/>
        </p:nvSpPr>
        <p:spPr>
          <a:xfrm>
            <a:off x="6096635" y="3723642"/>
            <a:ext cx="0" cy="1046480"/>
          </a:xfrm>
          <a:prstGeom prst="line">
            <a:avLst/>
          </a:prstGeom>
          <a:noFill/>
          <a:ln w="6350">
            <a:solidFill>
              <a:srgbClr val="CDBFA6"/>
            </a:solidFill>
            <a:prstDash val="solid"/>
          </a:ln>
        </p:spPr>
      </p:sp>
      <p:sp>
        <p:nvSpPr>
          <p:cNvPr id="19" name="Text 16"/>
          <p:cNvSpPr/>
          <p:nvPr/>
        </p:nvSpPr>
        <p:spPr>
          <a:xfrm>
            <a:off x="6403340" y="3723642"/>
            <a:ext cx="5125136" cy="504190"/>
          </a:xfrm>
          <a:prstGeom prst="rect">
            <a:avLst/>
          </a:prstGeom>
          <a:noFill/>
          <a:ln/>
        </p:spPr>
        <p:txBody>
          <a:bodyPr wrap="square" lIns="0" tIns="0" rIns="0" bIns="0" rtlCol="0" anchor="t">
            <a:normAutofit/>
          </a:bodyPr>
          <a:lstStyle/>
          <a:p>
            <a:pPr marL="0" indent="0" algn="l">
              <a:lnSpc>
                <a:spcPts val="1885"/>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Priority + location + time windows + visit duration + MR working hours</a:t>
            </a:r>
            <a:endParaRPr lang="en-US" sz="1600" dirty="0">
              <a:latin typeface="Times New Roman" panose="02020603050405020304" pitchFamily="18" charset="0"/>
              <a:cs typeface="Times New Roman" panose="02020603050405020304" pitchFamily="18" charset="0"/>
            </a:endParaRPr>
          </a:p>
        </p:txBody>
      </p:sp>
      <p:sp>
        <p:nvSpPr>
          <p:cNvPr id="20" name="Text 17"/>
          <p:cNvSpPr/>
          <p:nvPr/>
        </p:nvSpPr>
        <p:spPr>
          <a:xfrm>
            <a:off x="6403340" y="4291335"/>
            <a:ext cx="5125136" cy="504190"/>
          </a:xfrm>
          <a:prstGeom prst="rect">
            <a:avLst/>
          </a:prstGeom>
          <a:noFill/>
          <a:ln/>
        </p:spPr>
        <p:txBody>
          <a:bodyPr wrap="square" lIns="0" tIns="0" rIns="0" bIns="0" rtlCol="0" anchor="t">
            <a:normAutofit/>
          </a:bodyPr>
          <a:lstStyle/>
          <a:p>
            <a:pPr marL="0" indent="0" algn="l">
              <a:lnSpc>
                <a:spcPts val="1885"/>
              </a:lnSpc>
              <a:buNone/>
            </a:pPr>
            <a:r>
              <a:rPr lang="en-US" sz="1600" b="1" dirty="0">
                <a:solidFill>
                  <a:srgbClr val="221F1A"/>
                </a:solidFill>
                <a:latin typeface="Times New Roman" panose="02020603050405020304" pitchFamily="18" charset="0"/>
                <a:ea typeface="Arial" pitchFamily="34" charset="-122"/>
                <a:cs typeface="Times New Roman" panose="02020603050405020304" pitchFamily="18" charset="0"/>
              </a:rPr>
              <a:t>Route:</a:t>
            </a: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 1 → Doctor A, 2 → Doctor B, 3 → Doctor C, 4 → Doctor D, with appointment times.</a:t>
            </a:r>
            <a:endParaRPr lang="en-US" sz="1600" dirty="0">
              <a:latin typeface="Times New Roman" panose="02020603050405020304" pitchFamily="18" charset="0"/>
              <a:cs typeface="Times New Roman" panose="02020603050405020304" pitchFamily="18" charset="0"/>
            </a:endParaRPr>
          </a:p>
        </p:txBody>
      </p:sp>
      <p:sp>
        <p:nvSpPr>
          <p:cNvPr id="21" name="Text 18"/>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20</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Working modules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Working module: manager</a:t>
            </a:r>
            <a:endParaRPr lang="en-US" sz="3600" dirty="0">
              <a:latin typeface="Times New Roman" panose="02020603050405020304" pitchFamily="18" charset="0"/>
              <a:cs typeface="Times New Roman" panose="02020603050405020304" pitchFamily="18" charset="0"/>
            </a:endParaRPr>
          </a:p>
        </p:txBody>
      </p:sp>
      <p:sp>
        <p:nvSpPr>
          <p:cNvPr id="5" name="Shape 3"/>
          <p:cNvSpPr/>
          <p:nvPr/>
        </p:nvSpPr>
        <p:spPr>
          <a:xfrm>
            <a:off x="812800" y="2947033"/>
            <a:ext cx="1591707" cy="0"/>
          </a:xfrm>
          <a:prstGeom prst="line">
            <a:avLst/>
          </a:prstGeom>
          <a:noFill/>
          <a:ln w="25400">
            <a:solidFill>
              <a:srgbClr val="221F1A"/>
            </a:solidFill>
            <a:prstDash val="solid"/>
          </a:ln>
        </p:spPr>
      </p:sp>
      <p:sp>
        <p:nvSpPr>
          <p:cNvPr id="6" name="Text 4"/>
          <p:cNvSpPr/>
          <p:nvPr/>
        </p:nvSpPr>
        <p:spPr>
          <a:xfrm>
            <a:off x="812800" y="3035933"/>
            <a:ext cx="1642507"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12</a:t>
            </a:r>
            <a:endParaRPr lang="en-US" sz="4400" dirty="0">
              <a:latin typeface="Times New Roman" panose="02020603050405020304" pitchFamily="18" charset="0"/>
              <a:cs typeface="Times New Roman" panose="02020603050405020304" pitchFamily="18" charset="0"/>
            </a:endParaRPr>
          </a:p>
        </p:txBody>
      </p:sp>
      <p:sp>
        <p:nvSpPr>
          <p:cNvPr id="7" name="Text 5"/>
          <p:cNvSpPr/>
          <p:nvPr/>
        </p:nvSpPr>
        <p:spPr>
          <a:xfrm>
            <a:off x="812800" y="3538860"/>
            <a:ext cx="1642507"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Total MRs</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2607707" y="2947033"/>
            <a:ext cx="1591786" cy="0"/>
          </a:xfrm>
          <a:prstGeom prst="line">
            <a:avLst/>
          </a:prstGeom>
          <a:noFill/>
          <a:ln w="25400">
            <a:solidFill>
              <a:srgbClr val="221F1A"/>
            </a:solidFill>
            <a:prstDash val="solid"/>
          </a:ln>
        </p:spPr>
      </p:sp>
      <p:sp>
        <p:nvSpPr>
          <p:cNvPr id="9" name="Text 7"/>
          <p:cNvSpPr/>
          <p:nvPr/>
        </p:nvSpPr>
        <p:spPr>
          <a:xfrm>
            <a:off x="2607707" y="3035933"/>
            <a:ext cx="1642586"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82</a:t>
            </a:r>
            <a:endParaRPr lang="en-US" sz="4400" dirty="0">
              <a:latin typeface="Times New Roman" panose="02020603050405020304" pitchFamily="18" charset="0"/>
              <a:cs typeface="Times New Roman" panose="02020603050405020304" pitchFamily="18" charset="0"/>
            </a:endParaRPr>
          </a:p>
        </p:txBody>
      </p:sp>
      <p:sp>
        <p:nvSpPr>
          <p:cNvPr id="10" name="Text 8"/>
          <p:cNvSpPr/>
          <p:nvPr/>
        </p:nvSpPr>
        <p:spPr>
          <a:xfrm>
            <a:off x="2607707" y="3538860"/>
            <a:ext cx="1642586"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Today's planned</a:t>
            </a:r>
            <a:endParaRPr lang="en-US" sz="1600" dirty="0">
              <a:latin typeface="Times New Roman" panose="02020603050405020304" pitchFamily="18" charset="0"/>
              <a:cs typeface="Times New Roman" panose="02020603050405020304" pitchFamily="18" charset="0"/>
            </a:endParaRPr>
          </a:p>
        </p:txBody>
      </p:sp>
      <p:sp>
        <p:nvSpPr>
          <p:cNvPr id="11" name="Shape 9"/>
          <p:cNvSpPr/>
          <p:nvPr/>
        </p:nvSpPr>
        <p:spPr>
          <a:xfrm>
            <a:off x="4402693" y="2947033"/>
            <a:ext cx="1591707" cy="0"/>
          </a:xfrm>
          <a:prstGeom prst="line">
            <a:avLst/>
          </a:prstGeom>
          <a:noFill/>
          <a:ln w="25400">
            <a:solidFill>
              <a:srgbClr val="221F1A"/>
            </a:solidFill>
            <a:prstDash val="solid"/>
          </a:ln>
        </p:spPr>
      </p:sp>
      <p:sp>
        <p:nvSpPr>
          <p:cNvPr id="12" name="Text 10"/>
          <p:cNvSpPr/>
          <p:nvPr/>
        </p:nvSpPr>
        <p:spPr>
          <a:xfrm>
            <a:off x="4402693" y="3035933"/>
            <a:ext cx="1642507"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61</a:t>
            </a:r>
            <a:endParaRPr lang="en-US" sz="4400" dirty="0">
              <a:latin typeface="Times New Roman" panose="02020603050405020304" pitchFamily="18" charset="0"/>
              <a:cs typeface="Times New Roman" panose="02020603050405020304" pitchFamily="18" charset="0"/>
            </a:endParaRPr>
          </a:p>
        </p:txBody>
      </p:sp>
      <p:sp>
        <p:nvSpPr>
          <p:cNvPr id="13" name="Text 11"/>
          <p:cNvSpPr/>
          <p:nvPr/>
        </p:nvSpPr>
        <p:spPr>
          <a:xfrm>
            <a:off x="4402693" y="3538860"/>
            <a:ext cx="1642507"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Completed</a:t>
            </a:r>
            <a:endParaRPr lang="en-US" sz="1600" dirty="0">
              <a:latin typeface="Times New Roman" panose="02020603050405020304" pitchFamily="18" charset="0"/>
              <a:cs typeface="Times New Roman" panose="02020603050405020304" pitchFamily="18" charset="0"/>
            </a:endParaRPr>
          </a:p>
        </p:txBody>
      </p:sp>
      <p:sp>
        <p:nvSpPr>
          <p:cNvPr id="14" name="Shape 12"/>
          <p:cNvSpPr/>
          <p:nvPr/>
        </p:nvSpPr>
        <p:spPr>
          <a:xfrm>
            <a:off x="6197600" y="2947033"/>
            <a:ext cx="1591786" cy="0"/>
          </a:xfrm>
          <a:prstGeom prst="line">
            <a:avLst/>
          </a:prstGeom>
          <a:noFill/>
          <a:ln w="25400">
            <a:solidFill>
              <a:srgbClr val="221F1A"/>
            </a:solidFill>
            <a:prstDash val="solid"/>
          </a:ln>
        </p:spPr>
      </p:sp>
      <p:sp>
        <p:nvSpPr>
          <p:cNvPr id="15" name="Text 13"/>
          <p:cNvSpPr/>
          <p:nvPr/>
        </p:nvSpPr>
        <p:spPr>
          <a:xfrm>
            <a:off x="6197600" y="3035933"/>
            <a:ext cx="1642586"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21</a:t>
            </a:r>
            <a:endParaRPr lang="en-US" sz="4400" dirty="0">
              <a:latin typeface="Times New Roman" panose="02020603050405020304" pitchFamily="18" charset="0"/>
              <a:cs typeface="Times New Roman" panose="02020603050405020304" pitchFamily="18" charset="0"/>
            </a:endParaRPr>
          </a:p>
        </p:txBody>
      </p:sp>
      <p:sp>
        <p:nvSpPr>
          <p:cNvPr id="16" name="Text 14"/>
          <p:cNvSpPr/>
          <p:nvPr/>
        </p:nvSpPr>
        <p:spPr>
          <a:xfrm>
            <a:off x="6197600" y="3538860"/>
            <a:ext cx="1642586"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Pending</a:t>
            </a:r>
            <a:endParaRPr lang="en-US" sz="1600" dirty="0">
              <a:latin typeface="Times New Roman" panose="02020603050405020304" pitchFamily="18" charset="0"/>
              <a:cs typeface="Times New Roman" panose="02020603050405020304" pitchFamily="18" charset="0"/>
            </a:endParaRPr>
          </a:p>
        </p:txBody>
      </p:sp>
      <p:sp>
        <p:nvSpPr>
          <p:cNvPr id="17" name="Shape 15"/>
          <p:cNvSpPr/>
          <p:nvPr/>
        </p:nvSpPr>
        <p:spPr>
          <a:xfrm>
            <a:off x="7992587" y="2947033"/>
            <a:ext cx="1591707" cy="0"/>
          </a:xfrm>
          <a:prstGeom prst="line">
            <a:avLst/>
          </a:prstGeom>
          <a:noFill/>
          <a:ln w="25400">
            <a:solidFill>
              <a:srgbClr val="221F1A"/>
            </a:solidFill>
            <a:prstDash val="solid"/>
          </a:ln>
        </p:spPr>
      </p:sp>
      <p:sp>
        <p:nvSpPr>
          <p:cNvPr id="18" name="Text 16"/>
          <p:cNvSpPr/>
          <p:nvPr/>
        </p:nvSpPr>
        <p:spPr>
          <a:xfrm>
            <a:off x="7992587" y="3035933"/>
            <a:ext cx="1642507"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19</a:t>
            </a:r>
            <a:endParaRPr lang="en-US" sz="4400" dirty="0">
              <a:latin typeface="Times New Roman" panose="02020603050405020304" pitchFamily="18" charset="0"/>
              <a:cs typeface="Times New Roman" panose="02020603050405020304" pitchFamily="18" charset="0"/>
            </a:endParaRPr>
          </a:p>
        </p:txBody>
      </p:sp>
      <p:sp>
        <p:nvSpPr>
          <p:cNvPr id="19" name="Text 17"/>
          <p:cNvSpPr/>
          <p:nvPr/>
        </p:nvSpPr>
        <p:spPr>
          <a:xfrm>
            <a:off x="7992587" y="3538860"/>
            <a:ext cx="1642507"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High priority</a:t>
            </a:r>
            <a:endParaRPr lang="en-US" sz="1600" dirty="0">
              <a:latin typeface="Times New Roman" panose="02020603050405020304" pitchFamily="18" charset="0"/>
              <a:cs typeface="Times New Roman" panose="02020603050405020304" pitchFamily="18" charset="0"/>
            </a:endParaRPr>
          </a:p>
        </p:txBody>
      </p:sp>
      <p:sp>
        <p:nvSpPr>
          <p:cNvPr id="20" name="Shape 18"/>
          <p:cNvSpPr/>
          <p:nvPr/>
        </p:nvSpPr>
        <p:spPr>
          <a:xfrm>
            <a:off x="9787493" y="2947033"/>
            <a:ext cx="1591707" cy="0"/>
          </a:xfrm>
          <a:prstGeom prst="line">
            <a:avLst/>
          </a:prstGeom>
          <a:noFill/>
          <a:ln w="25400">
            <a:solidFill>
              <a:srgbClr val="221F1A"/>
            </a:solidFill>
            <a:prstDash val="solid"/>
          </a:ln>
        </p:spPr>
      </p:sp>
      <p:sp>
        <p:nvSpPr>
          <p:cNvPr id="21" name="Text 19"/>
          <p:cNvSpPr/>
          <p:nvPr/>
        </p:nvSpPr>
        <p:spPr>
          <a:xfrm>
            <a:off x="9787493" y="3035933"/>
            <a:ext cx="1642507" cy="528320"/>
          </a:xfrm>
          <a:prstGeom prst="rect">
            <a:avLst/>
          </a:prstGeom>
          <a:noFill/>
          <a:ln/>
        </p:spPr>
        <p:txBody>
          <a:bodyPr wrap="square" lIns="0" tIns="0" rIns="0" bIns="0" rtlCol="0" anchor="t">
            <a:normAutofit/>
          </a:bodyPr>
          <a:lstStyle/>
          <a:p>
            <a:pPr marL="0" indent="0" algn="l">
              <a:lnSpc>
                <a:spcPts val="3960"/>
              </a:lnSpc>
              <a:buNone/>
            </a:pPr>
            <a:r>
              <a:rPr lang="en-US" sz="4400" dirty="0">
                <a:solidFill>
                  <a:srgbClr val="221F1A"/>
                </a:solidFill>
                <a:latin typeface="Times New Roman" panose="02020603050405020304" pitchFamily="18" charset="0"/>
                <a:ea typeface="Georgia" pitchFamily="18" charset="-122"/>
                <a:cs typeface="Times New Roman" panose="02020603050405020304" pitchFamily="18" charset="0"/>
              </a:rPr>
              <a:t>XX%</a:t>
            </a:r>
            <a:endParaRPr lang="en-US" sz="4400" dirty="0">
              <a:latin typeface="Times New Roman" panose="02020603050405020304" pitchFamily="18" charset="0"/>
              <a:cs typeface="Times New Roman" panose="02020603050405020304" pitchFamily="18" charset="0"/>
            </a:endParaRPr>
          </a:p>
        </p:txBody>
      </p:sp>
      <p:sp>
        <p:nvSpPr>
          <p:cNvPr id="22" name="Text 20"/>
          <p:cNvSpPr/>
          <p:nvPr/>
        </p:nvSpPr>
        <p:spPr>
          <a:xfrm>
            <a:off x="9787493" y="3538860"/>
            <a:ext cx="1642507"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Completion rate</a:t>
            </a:r>
            <a:endParaRPr lang="en-US" sz="1600" dirty="0">
              <a:latin typeface="Times New Roman" panose="02020603050405020304" pitchFamily="18" charset="0"/>
              <a:cs typeface="Times New Roman" panose="02020603050405020304" pitchFamily="18" charset="0"/>
            </a:endParaRPr>
          </a:p>
        </p:txBody>
      </p:sp>
      <p:grpSp>
        <p:nvGrpSpPr>
          <p:cNvPr id="29" name="Group 28">
            <a:extLst>
              <a:ext uri="{FF2B5EF4-FFF2-40B4-BE49-F238E27FC236}">
                <a16:creationId xmlns:a16="http://schemas.microsoft.com/office/drawing/2014/main" id="{7F3EB657-24DA-A7A5-27AE-8AF6FDEC27FD}"/>
              </a:ext>
            </a:extLst>
          </p:cNvPr>
          <p:cNvGrpSpPr/>
          <p:nvPr/>
        </p:nvGrpSpPr>
        <p:grpSpPr>
          <a:xfrm>
            <a:off x="927404" y="4581846"/>
            <a:ext cx="10654183" cy="852170"/>
            <a:chOff x="812800" y="5015235"/>
            <a:chExt cx="10654183" cy="852170"/>
          </a:xfrm>
        </p:grpSpPr>
        <p:sp>
          <p:nvSpPr>
            <p:cNvPr id="23" name="Text 21"/>
            <p:cNvSpPr/>
            <p:nvPr/>
          </p:nvSpPr>
          <p:spPr>
            <a:xfrm>
              <a:off x="812800" y="5015235"/>
              <a:ext cx="3275483" cy="273685"/>
            </a:xfrm>
            <a:prstGeom prst="rect">
              <a:avLst/>
            </a:prstGeom>
            <a:noFill/>
            <a:ln/>
          </p:spPr>
          <p:txBody>
            <a:bodyPr wrap="square" lIns="0" tIns="0" rIns="0" bIns="0" rtlCol="0" anchor="t">
              <a:normAutofit/>
            </a:bodyPr>
            <a:lstStyle/>
            <a:p>
              <a:pPr marL="0" indent="0" algn="l">
                <a:lnSpc>
                  <a:spcPts val="1955"/>
                </a:lnSpc>
                <a:buNone/>
              </a:pPr>
              <a:r>
                <a:rPr lang="en-US" sz="2000" b="1" dirty="0">
                  <a:solidFill>
                    <a:srgbClr val="221F1A"/>
                  </a:solidFill>
                  <a:latin typeface="Times New Roman" panose="02020603050405020304" pitchFamily="18" charset="0"/>
                  <a:ea typeface="Georgia" pitchFamily="18" charset="-122"/>
                  <a:cs typeface="Times New Roman" panose="02020603050405020304" pitchFamily="18" charset="0"/>
                </a:rPr>
                <a:t>The manager can see</a:t>
              </a:r>
              <a:endParaRPr lang="en-US" sz="2000" dirty="0">
                <a:latin typeface="Times New Roman" panose="02020603050405020304" pitchFamily="18" charset="0"/>
                <a:cs typeface="Times New Roman" panose="02020603050405020304" pitchFamily="18" charset="0"/>
              </a:endParaRPr>
            </a:p>
          </p:txBody>
        </p:sp>
        <p:sp>
          <p:nvSpPr>
            <p:cNvPr id="24" name="Shape 22"/>
            <p:cNvSpPr/>
            <p:nvPr/>
          </p:nvSpPr>
          <p:spPr>
            <a:xfrm>
              <a:off x="4250055" y="5015235"/>
              <a:ext cx="0" cy="826770"/>
            </a:xfrm>
            <a:prstGeom prst="line">
              <a:avLst/>
            </a:prstGeom>
            <a:noFill/>
            <a:ln w="6350">
              <a:solidFill>
                <a:srgbClr val="CDBFA6"/>
              </a:solidFill>
              <a:prstDash val="solid"/>
            </a:ln>
          </p:spPr>
        </p:sp>
        <p:sp>
          <p:nvSpPr>
            <p:cNvPr id="25" name="Text 23"/>
            <p:cNvSpPr/>
            <p:nvPr/>
          </p:nvSpPr>
          <p:spPr>
            <a:xfrm>
              <a:off x="4603242" y="5015235"/>
              <a:ext cx="3170581" cy="85217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MR-wise activity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Doctor visit status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High-priority visits</a:t>
              </a:r>
              <a:endParaRPr lang="en-US" dirty="0">
                <a:latin typeface="Times New Roman" panose="02020603050405020304" pitchFamily="18" charset="0"/>
                <a:cs typeface="Times New Roman" panose="02020603050405020304" pitchFamily="18" charset="0"/>
              </a:endParaRPr>
            </a:p>
          </p:txBody>
        </p:sp>
        <p:sp>
          <p:nvSpPr>
            <p:cNvPr id="26" name="Shape 24"/>
            <p:cNvSpPr/>
            <p:nvPr/>
          </p:nvSpPr>
          <p:spPr>
            <a:xfrm>
              <a:off x="7943215" y="5015235"/>
              <a:ext cx="0" cy="826770"/>
            </a:xfrm>
            <a:prstGeom prst="line">
              <a:avLst/>
            </a:prstGeom>
            <a:noFill/>
            <a:ln w="6350">
              <a:solidFill>
                <a:srgbClr val="CDBFA6"/>
              </a:solidFill>
              <a:prstDash val="solid"/>
            </a:ln>
          </p:spPr>
        </p:sp>
        <p:sp>
          <p:nvSpPr>
            <p:cNvPr id="27" name="Text 25"/>
            <p:cNvSpPr/>
            <p:nvPr/>
          </p:nvSpPr>
          <p:spPr>
            <a:xfrm>
              <a:off x="8296402" y="5015235"/>
              <a:ext cx="3170581" cy="85217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Completed / pending visits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Route information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Reports</a:t>
              </a:r>
              <a:endParaRPr lang="en-US" dirty="0">
                <a:latin typeface="Times New Roman" panose="02020603050405020304" pitchFamily="18" charset="0"/>
                <a:cs typeface="Times New Roman" panose="02020603050405020304" pitchFamily="18" charset="0"/>
              </a:endParaRPr>
            </a:p>
          </p:txBody>
        </p:sp>
      </p:grpSp>
      <p:sp>
        <p:nvSpPr>
          <p:cNvPr id="28" name="Text 2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21</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Working modules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Complete working flow</a:t>
            </a:r>
            <a:endParaRPr lang="en-US" sz="3600" dirty="0">
              <a:latin typeface="Times New Roman" panose="02020603050405020304" pitchFamily="18" charset="0"/>
              <a:cs typeface="Times New Roman" panose="02020603050405020304" pitchFamily="18" charset="0"/>
            </a:endParaRPr>
          </a:p>
        </p:txBody>
      </p:sp>
      <p:grpSp>
        <p:nvGrpSpPr>
          <p:cNvPr id="25" name="Group 24">
            <a:extLst>
              <a:ext uri="{FF2B5EF4-FFF2-40B4-BE49-F238E27FC236}">
                <a16:creationId xmlns:a16="http://schemas.microsoft.com/office/drawing/2014/main" id="{121F8B74-F991-8B57-C6C4-C8CE50C446EA}"/>
              </a:ext>
            </a:extLst>
          </p:cNvPr>
          <p:cNvGrpSpPr/>
          <p:nvPr/>
        </p:nvGrpSpPr>
        <p:grpSpPr>
          <a:xfrm>
            <a:off x="812800" y="3064192"/>
            <a:ext cx="10560050" cy="1253499"/>
            <a:chOff x="815975" y="4585333"/>
            <a:chExt cx="10560050" cy="1253499"/>
          </a:xfrm>
        </p:grpSpPr>
        <p:sp>
          <p:nvSpPr>
            <p:cNvPr id="5" name="Text 3"/>
            <p:cNvSpPr/>
            <p:nvPr/>
          </p:nvSpPr>
          <p:spPr>
            <a:xfrm>
              <a:off x="815975" y="4585333"/>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Login</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3279775" y="462915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3536950" y="4585333"/>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Select date / territory</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6000750" y="462915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257925" y="4585333"/>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Fetch doctors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8721725" y="462915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978900" y="4585333"/>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Fetch appointment data</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815975" y="5034917"/>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Data cleaning</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3279775"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3536950" y="5034917"/>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ML priority model</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6000750"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6257925" y="5034917"/>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Constraints engine</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8721725"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8978900" y="5034917"/>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OR-Tools</a:t>
              </a:r>
              <a:endParaRPr lang="en-US" sz="1600" dirty="0">
                <a:latin typeface="Times New Roman" panose="02020603050405020304" pitchFamily="18" charset="0"/>
                <a:cs typeface="Times New Roman" panose="02020603050405020304" pitchFamily="18" charset="0"/>
              </a:endParaRPr>
            </a:p>
          </p:txBody>
        </p:sp>
        <p:sp>
          <p:nvSpPr>
            <p:cNvPr id="19" name="Text 17"/>
            <p:cNvSpPr/>
            <p:nvPr/>
          </p:nvSpPr>
          <p:spPr>
            <a:xfrm>
              <a:off x="815975" y="5484502"/>
              <a:ext cx="3304064"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Optimized route</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4186714" y="5528308"/>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4443889" y="5484502"/>
              <a:ext cx="3304143"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dashboard</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7814707" y="5528308"/>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3" name="Text 21"/>
            <p:cNvSpPr/>
            <p:nvPr/>
          </p:nvSpPr>
          <p:spPr>
            <a:xfrm>
              <a:off x="8071882" y="5484502"/>
              <a:ext cx="3304143"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Manager dashboard</a:t>
              </a:r>
              <a:endParaRPr lang="en-US" sz="1600" dirty="0">
                <a:latin typeface="Times New Roman" panose="02020603050405020304" pitchFamily="18" charset="0"/>
                <a:cs typeface="Times New Roman" panose="02020603050405020304" pitchFamily="18" charset="0"/>
              </a:endParaRPr>
            </a:p>
          </p:txBody>
        </p:sp>
      </p:grpSp>
      <p:sp>
        <p:nvSpPr>
          <p:cNvPr id="24" name="Text 22"/>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22</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Technology stack</a:t>
            </a:r>
            <a:endParaRPr lang="en-US" sz="3600" dirty="0">
              <a:latin typeface="Times New Roman" panose="02020603050405020304" pitchFamily="18" charset="0"/>
              <a:cs typeface="Times New Roman" panose="02020603050405020304" pitchFamily="18" charset="0"/>
            </a:endParaRPr>
          </a:p>
        </p:txBody>
      </p:sp>
      <p:graphicFrame>
        <p:nvGraphicFramePr>
          <p:cNvPr id="5" name="Table 0"/>
          <p:cNvGraphicFramePr>
            <a:graphicFrameLocks noGrp="1"/>
          </p:cNvGraphicFramePr>
          <p:nvPr>
            <p:extLst>
              <p:ext uri="{D42A27DB-BD31-4B8C-83A1-F6EECF244321}">
                <p14:modId xmlns:p14="http://schemas.microsoft.com/office/powerpoint/2010/main" val="3825014694"/>
              </p:ext>
            </p:extLst>
          </p:nvPr>
        </p:nvGraphicFramePr>
        <p:xfrm>
          <a:off x="822960" y="2037087"/>
          <a:ext cx="10556240" cy="3804920"/>
        </p:xfrm>
        <a:graphic>
          <a:graphicData uri="http://schemas.openxmlformats.org/drawingml/2006/table">
            <a:tbl>
              <a:tblPr/>
              <a:tblGrid>
                <a:gridCol w="1985827">
                  <a:extLst>
                    <a:ext uri="{9D8B030D-6E8A-4147-A177-3AD203B41FA5}">
                      <a16:colId xmlns:a16="http://schemas.microsoft.com/office/drawing/2014/main" val="20000"/>
                    </a:ext>
                  </a:extLst>
                </a:gridCol>
                <a:gridCol w="3449069">
                  <a:extLst>
                    <a:ext uri="{9D8B030D-6E8A-4147-A177-3AD203B41FA5}">
                      <a16:colId xmlns:a16="http://schemas.microsoft.com/office/drawing/2014/main" val="20001"/>
                    </a:ext>
                  </a:extLst>
                </a:gridCol>
                <a:gridCol w="5121344">
                  <a:extLst>
                    <a:ext uri="{9D8B030D-6E8A-4147-A177-3AD203B41FA5}">
                      <a16:colId xmlns:a16="http://schemas.microsoft.com/office/drawing/2014/main" val="20002"/>
                    </a:ext>
                  </a:extLst>
                </a:gridCol>
              </a:tblGrid>
              <a:tr h="4216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Layer</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Technology</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Used for</a:t>
                      </a:r>
                      <a:endParaRPr lang="en-US" sz="1600" dirty="0">
                        <a:latin typeface="Arial" charset="0"/>
                        <a:ea typeface="Arial" charset="0"/>
                        <a:cs typeface="Arial" charset="0"/>
                      </a:endParaRPr>
                    </a:p>
                  </a:txBody>
                  <a:tcPr marL="88900" marR="88900" marT="63500" marB="635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7061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Frontend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React.js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Dashboards, forms, tables, route visualization, user interaction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7061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Backend</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FastAPI / Python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APIs, authentication, ML inference, route optimization, database communication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Machine learning</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Python + scikit-learn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Random Forest, preprocessing, evaluation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Optimization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Google OR-Tools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VRP, VRPTW, route constraints</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4216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Database</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MySQL</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gn="ctr">
                        <a:lnSpc>
                          <a:spcPts val="2240"/>
                        </a:lnSpc>
                        <a:buNone/>
                      </a:pPr>
                      <a:r>
                        <a:rPr lang="en-US" sz="1600" dirty="0">
                          <a:solidFill>
                            <a:srgbClr val="221F1A"/>
                          </a:solidFill>
                          <a:latin typeface="Arial" pitchFamily="34" charset="0"/>
                          <a:ea typeface="Arial" charset="0"/>
                          <a:cs typeface="Arial" pitchFamily="34" charset="-120"/>
                        </a:rPr>
                        <a:t>-</a:t>
                      </a:r>
                      <a:endParaRPr lang="en-US" sz="1600" dirty="0">
                        <a:latin typeface="Arial" charset="0"/>
                        <a:ea typeface="Arial" charset="0"/>
                        <a:cs typeface="Arial" charset="0"/>
                      </a:endParaRPr>
                    </a:p>
                  </a:txBody>
                  <a:tcPr marL="88900" marR="88900" marT="63500" marB="63500" anchor="ctr">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7061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Maps / travel information</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Mapping/routing service, or approved/precomputed travel matrix</a:t>
                      </a:r>
                      <a:endParaRPr lang="en-US" sz="1600" dirty="0">
                        <a:latin typeface="Arial" charset="0"/>
                        <a:ea typeface="Arial" charset="0"/>
                        <a:cs typeface="Arial" charset="0"/>
                      </a:endParaRPr>
                    </a:p>
                  </a:txBody>
                  <a:tcPr marL="88900" marR="88900" marT="63500" marB="635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gn="ctr">
                        <a:lnSpc>
                          <a:spcPts val="2240"/>
                        </a:lnSpc>
                        <a:buNone/>
                      </a:pPr>
                      <a:r>
                        <a:rPr lang="en-US" sz="1600" dirty="0">
                          <a:solidFill>
                            <a:srgbClr val="221F1A"/>
                          </a:solidFill>
                          <a:latin typeface="Arial" pitchFamily="34" charset="0"/>
                          <a:ea typeface="Arial" charset="0"/>
                          <a:cs typeface="Arial" pitchFamily="34" charset="-120"/>
                        </a:rPr>
                        <a:t>-</a:t>
                      </a:r>
                      <a:endParaRPr lang="en-US" sz="1600" dirty="0">
                        <a:latin typeface="Arial" charset="0"/>
                        <a:ea typeface="Arial" charset="0"/>
                        <a:cs typeface="Arial" charset="0"/>
                      </a:endParaRPr>
                    </a:p>
                  </a:txBody>
                  <a:tcPr marL="88900" marR="88900" marT="63500" marB="63500" anchor="ctr">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23</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Database design</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5975" y="2456817"/>
            <a:ext cx="1490107"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User</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2372757" y="25006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2629932" y="2456817"/>
            <a:ext cx="1490186"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MR / Manager</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4186793" y="25006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4443968" y="2456817"/>
            <a:ext cx="1490107"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Visit ↔ Doctor</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6000750" y="25006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6257925" y="2456817"/>
            <a:ext cx="1490186"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Appointment</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7814787" y="25006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8071962" y="2456817"/>
            <a:ext cx="1490107" cy="354330"/>
          </a:xfrm>
          <a:prstGeom prst="rect">
            <a:avLst/>
          </a:prstGeom>
          <a:noFill/>
          <a:ln w="6350">
            <a:solidFill>
              <a:srgbClr val="221F1A"/>
            </a:solidFill>
            <a:prstDash val="solid"/>
          </a:ln>
        </p:spPr>
        <p:txBody>
          <a:bodyPr wrap="square" lIns="103505" tIns="65405" rIns="1035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Priority prediction</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9628743" y="25006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5" name="Text 13"/>
          <p:cNvSpPr/>
          <p:nvPr/>
        </p:nvSpPr>
        <p:spPr>
          <a:xfrm>
            <a:off x="9885918" y="2456817"/>
            <a:ext cx="1490107" cy="354330"/>
          </a:xfrm>
          <a:prstGeom prst="rect">
            <a:avLst/>
          </a:prstGeom>
          <a:noFill/>
          <a:ln w="6350">
            <a:solidFill>
              <a:srgbClr val="221F1A"/>
            </a:solidFill>
            <a:prstDash val="solid"/>
          </a:ln>
        </p:spPr>
        <p:txBody>
          <a:bodyPr wrap="square" lIns="103505" tIns="65405" rIns="103505" bIns="65405" rtlCol="0" anchor="ctr">
            <a:no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Optimized route</a:t>
            </a:r>
            <a:endParaRPr lang="en-US" sz="1600" dirty="0">
              <a:latin typeface="Times New Roman" panose="02020603050405020304" pitchFamily="18" charset="0"/>
              <a:cs typeface="Times New Roman" panose="02020603050405020304" pitchFamily="18" charset="0"/>
            </a:endParaRPr>
          </a:p>
        </p:txBody>
      </p:sp>
      <p:graphicFrame>
        <p:nvGraphicFramePr>
          <p:cNvPr id="16" name="Table 0"/>
          <p:cNvGraphicFramePr>
            <a:graphicFrameLocks noGrp="1"/>
          </p:cNvGraphicFramePr>
          <p:nvPr>
            <p:extLst>
              <p:ext uri="{D42A27DB-BD31-4B8C-83A1-F6EECF244321}">
                <p14:modId xmlns:p14="http://schemas.microsoft.com/office/powerpoint/2010/main" val="598985580"/>
              </p:ext>
            </p:extLst>
          </p:nvPr>
        </p:nvGraphicFramePr>
        <p:xfrm>
          <a:off x="822960" y="3429000"/>
          <a:ext cx="10556240" cy="2235200"/>
        </p:xfrm>
        <a:graphic>
          <a:graphicData uri="http://schemas.openxmlformats.org/drawingml/2006/table">
            <a:tbl>
              <a:tblPr/>
              <a:tblGrid>
                <a:gridCol w="3483559">
                  <a:extLst>
                    <a:ext uri="{9D8B030D-6E8A-4147-A177-3AD203B41FA5}">
                      <a16:colId xmlns:a16="http://schemas.microsoft.com/office/drawing/2014/main" val="20000"/>
                    </a:ext>
                  </a:extLst>
                </a:gridCol>
                <a:gridCol w="7072681">
                  <a:extLst>
                    <a:ext uri="{9D8B030D-6E8A-4147-A177-3AD203B41FA5}">
                      <a16:colId xmlns:a16="http://schemas.microsoft.com/office/drawing/2014/main" val="20001"/>
                    </a:ext>
                  </a:extLst>
                </a:gridCol>
              </a:tblGrid>
              <a:tr h="4470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Entity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Relates to</a:t>
                      </a:r>
                      <a:endParaRPr lang="en-US" sz="1600" dirty="0">
                        <a:latin typeface="Arial" charset="0"/>
                        <a:ea typeface="Arial" charset="0"/>
                        <a:cs typeface="Arial" charset="0"/>
                      </a:endParaRPr>
                    </a:p>
                  </a:txBody>
                  <a:tcPr marL="88900" marR="88900" marT="76200" marB="762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MR</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visits, appointments, routes</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Doctor</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visits, appointments, location</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Visit</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priority_prediction</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Route</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route_stops</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7" name="Text 1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24</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Evaluation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Evaluation</a:t>
            </a:r>
            <a:endParaRPr lang="en-US" sz="3600" dirty="0">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50123AD1-2C89-37A4-B271-611B70E06B55}"/>
              </a:ext>
            </a:extLst>
          </p:cNvPr>
          <p:cNvGrpSpPr/>
          <p:nvPr/>
        </p:nvGrpSpPr>
        <p:grpSpPr>
          <a:xfrm>
            <a:off x="812800" y="2812740"/>
            <a:ext cx="10714152" cy="2290440"/>
            <a:chOff x="812800" y="3576960"/>
            <a:chExt cx="10714152" cy="2290440"/>
          </a:xfrm>
        </p:grpSpPr>
        <p:sp>
          <p:nvSpPr>
            <p:cNvPr id="5" name="Text 3"/>
            <p:cNvSpPr/>
            <p:nvPr/>
          </p:nvSpPr>
          <p:spPr>
            <a:xfrm>
              <a:off x="812800" y="3576960"/>
              <a:ext cx="5072812" cy="317500"/>
            </a:xfrm>
            <a:prstGeom prst="rect">
              <a:avLst/>
            </a:prstGeom>
            <a:noFill/>
            <a:ln/>
          </p:spPr>
          <p:txBody>
            <a:bodyPr wrap="square" lIns="0" tIns="0" rIns="0" bIns="0" rtlCol="0" anchor="t">
              <a:normAutofit/>
            </a:bodyPr>
            <a:lstStyle/>
            <a:p>
              <a:pPr marL="0" indent="0" algn="l">
                <a:lnSpc>
                  <a:spcPts val="2300"/>
                </a:lnSpc>
                <a:buNone/>
              </a:pPr>
              <a:r>
                <a:rPr lang="en-US" sz="2800" b="1" dirty="0">
                  <a:solidFill>
                    <a:srgbClr val="221F1A"/>
                  </a:solidFill>
                  <a:latin typeface="Times New Roman" panose="02020603050405020304" pitchFamily="18" charset="0"/>
                  <a:ea typeface="Georgia" pitchFamily="18" charset="-122"/>
                  <a:cs typeface="Times New Roman" panose="02020603050405020304" pitchFamily="18" charset="0"/>
                </a:rPr>
                <a:t>ML evaluation</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812800" y="3957960"/>
              <a:ext cx="5072812" cy="1056640"/>
            </a:xfrm>
            <a:prstGeom prst="rect">
              <a:avLst/>
            </a:prstGeom>
            <a:noFill/>
            <a:ln/>
          </p:spPr>
          <p:txBody>
            <a:bodyPr wrap="square" lIns="0" tIns="0" rIns="0" bIns="0" rtlCol="0" anchor="t">
              <a:normAutofit/>
            </a:bodyPr>
            <a:lstStyle/>
            <a:p>
              <a:pPr marL="0" indent="0" algn="l">
                <a:lnSpc>
                  <a:spcPts val="203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Classification: accuracy, precision, recall, F1-score, confusion matrix, and ROC-AUC where appropriate. F1, precision and recall can be more informative than accuracy alone, depending on class balance.</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6096635" y="3576960"/>
              <a:ext cx="0" cy="2265045"/>
            </a:xfrm>
            <a:prstGeom prst="line">
              <a:avLst/>
            </a:prstGeom>
            <a:noFill/>
            <a:ln w="6350">
              <a:solidFill>
                <a:srgbClr val="CDBFA6"/>
              </a:solidFill>
              <a:prstDash val="solid"/>
            </a:ln>
          </p:spPr>
        </p:sp>
        <p:sp>
          <p:nvSpPr>
            <p:cNvPr id="8" name="Text 6"/>
            <p:cNvSpPr/>
            <p:nvPr/>
          </p:nvSpPr>
          <p:spPr>
            <a:xfrm>
              <a:off x="6454140" y="3576960"/>
              <a:ext cx="5072812" cy="317500"/>
            </a:xfrm>
            <a:prstGeom prst="rect">
              <a:avLst/>
            </a:prstGeom>
            <a:noFill/>
            <a:ln/>
          </p:spPr>
          <p:txBody>
            <a:bodyPr wrap="square" lIns="0" tIns="0" rIns="0" bIns="0" rtlCol="0" anchor="t">
              <a:normAutofit/>
            </a:bodyPr>
            <a:lstStyle/>
            <a:p>
              <a:pPr marL="0" indent="0" algn="l">
                <a:lnSpc>
                  <a:spcPts val="2300"/>
                </a:lnSpc>
                <a:buNone/>
              </a:pPr>
              <a:r>
                <a:rPr lang="en-US" sz="2800" b="1" dirty="0">
                  <a:solidFill>
                    <a:srgbClr val="221F1A"/>
                  </a:solidFill>
                  <a:latin typeface="Times New Roman" panose="02020603050405020304" pitchFamily="18" charset="0"/>
                  <a:ea typeface="Georgia" pitchFamily="18" charset="-122"/>
                  <a:cs typeface="Times New Roman" panose="02020603050405020304" pitchFamily="18" charset="0"/>
                </a:rPr>
                <a:t>Route evaluation</a:t>
              </a:r>
              <a:endParaRPr lang="en-US" sz="2800" dirty="0">
                <a:latin typeface="Times New Roman" panose="02020603050405020304" pitchFamily="18" charset="0"/>
                <a:cs typeface="Times New Roman" panose="02020603050405020304" pitchFamily="18" charset="0"/>
              </a:endParaRPr>
            </a:p>
          </p:txBody>
        </p:sp>
        <p:sp>
          <p:nvSpPr>
            <p:cNvPr id="9" name="Text 7"/>
            <p:cNvSpPr/>
            <p:nvPr/>
          </p:nvSpPr>
          <p:spPr>
            <a:xfrm>
              <a:off x="6454140" y="3957960"/>
              <a:ext cx="5072812" cy="541020"/>
            </a:xfrm>
            <a:prstGeom prst="rect">
              <a:avLst/>
            </a:prstGeom>
            <a:noFill/>
            <a:ln/>
          </p:spPr>
          <p:txBody>
            <a:bodyPr wrap="square" lIns="0" tIns="0" rIns="0" bIns="0" rtlCol="0" anchor="t">
              <a:normAutofit/>
            </a:bodyPr>
            <a:lstStyle/>
            <a:p>
              <a:pPr marL="0" indent="0" algn="l">
                <a:lnSpc>
                  <a:spcPts val="203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Baseline (manual, nearest-neighbour or simple ordering) versus proposed (ML + OR-Tools).</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552184" y="4562475"/>
              <a:ext cx="4967148" cy="1304925"/>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Total distance, total travel time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Visits completed, unserved visits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Time-window violations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Waiting time</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Route computation time</a:t>
              </a:r>
              <a:endParaRPr lang="en-US" sz="1600" dirty="0">
                <a:latin typeface="Times New Roman" panose="02020603050405020304" pitchFamily="18" charset="0"/>
                <a:cs typeface="Times New Roman" panose="02020603050405020304" pitchFamily="18" charset="0"/>
              </a:endParaRPr>
            </a:p>
          </p:txBody>
        </p:sp>
      </p:grpSp>
      <p:sp>
        <p:nvSpPr>
          <p:cNvPr id="11" name="Text 9"/>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25</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Evaluation</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Baseline comparison</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5975" y="2033029"/>
            <a:ext cx="2397125"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Same input</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3279775" y="2192424"/>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3536950" y="2033029"/>
            <a:ext cx="2397125" cy="585470"/>
          </a:xfrm>
          <a:prstGeom prst="rect">
            <a:avLst/>
          </a:prstGeom>
          <a:noFill/>
          <a:ln w="6350">
            <a:solidFill>
              <a:srgbClr val="221F1A"/>
            </a:solidFill>
            <a:prstDash val="solid"/>
          </a:ln>
        </p:spPr>
        <p:txBody>
          <a:bodyPr wrap="square" lIns="70653" tIns="65405" rIns="70653" bIns="654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Baseline plan | Proposed system</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6000750" y="2192424"/>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6257925" y="2033029"/>
            <a:ext cx="2397125"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Metrics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8721725" y="2192424"/>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8978900" y="2033029"/>
            <a:ext cx="2397125" cy="585470"/>
          </a:xfrm>
          <a:prstGeom prst="rect">
            <a:avLst/>
          </a:prstGeom>
          <a:noFill/>
          <a:ln w="6350">
            <a:solidFill>
              <a:srgbClr val="221F1A"/>
            </a:solidFill>
            <a:prstDash val="solid"/>
          </a:ln>
        </p:spPr>
        <p:txBody>
          <a:bodyPr wrap="square" lIns="103505" tIns="78105" rIns="103505" bIns="78105" rtlCol="0" anchor="ctr">
            <a:normAutofit/>
          </a:bodyPr>
          <a:lstStyle/>
          <a:p>
            <a:pPr marL="0" indent="0" algn="ctr">
              <a:lnSpc>
                <a:spcPts val="169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Comparison</a:t>
            </a:r>
            <a:endParaRPr lang="en-US" sz="1600" dirty="0">
              <a:latin typeface="Times New Roman" panose="02020603050405020304" pitchFamily="18" charset="0"/>
              <a:cs typeface="Times New Roman" panose="02020603050405020304" pitchFamily="18" charset="0"/>
            </a:endParaRPr>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2960" y="2990456"/>
          <a:ext cx="10556240" cy="2235200"/>
        </p:xfrm>
        <a:graphic>
          <a:graphicData uri="http://schemas.openxmlformats.org/drawingml/2006/table">
            <a:tbl>
              <a:tblPr/>
              <a:tblGrid>
                <a:gridCol w="3971655">
                  <a:extLst>
                    <a:ext uri="{9D8B030D-6E8A-4147-A177-3AD203B41FA5}">
                      <a16:colId xmlns:a16="http://schemas.microsoft.com/office/drawing/2014/main" val="20000"/>
                    </a:ext>
                  </a:extLst>
                </a:gridCol>
                <a:gridCol w="1985827">
                  <a:extLst>
                    <a:ext uri="{9D8B030D-6E8A-4147-A177-3AD203B41FA5}">
                      <a16:colId xmlns:a16="http://schemas.microsoft.com/office/drawing/2014/main" val="20001"/>
                    </a:ext>
                  </a:extLst>
                </a:gridCol>
                <a:gridCol w="1985827">
                  <a:extLst>
                    <a:ext uri="{9D8B030D-6E8A-4147-A177-3AD203B41FA5}">
                      <a16:colId xmlns:a16="http://schemas.microsoft.com/office/drawing/2014/main" val="20002"/>
                    </a:ext>
                  </a:extLst>
                </a:gridCol>
                <a:gridCol w="2612931">
                  <a:extLst>
                    <a:ext uri="{9D8B030D-6E8A-4147-A177-3AD203B41FA5}">
                      <a16:colId xmlns:a16="http://schemas.microsoft.com/office/drawing/2014/main" val="20003"/>
                    </a:ext>
                  </a:extLst>
                </a:gridCol>
              </a:tblGrid>
              <a:tr h="4470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Metric</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Baseline</a:t>
                      </a:r>
                      <a:endParaRPr lang="en-US" sz="1600" dirty="0">
                        <a:latin typeface="Arial" charset="0"/>
                        <a:ea typeface="Arial" charset="0"/>
                        <a:cs typeface="Arial" charset="0"/>
                      </a:endParaRPr>
                    </a:p>
                  </a:txBody>
                  <a:tcPr marL="88900" marR="88900" marT="76200" marB="762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Proposed</a:t>
                      </a:r>
                      <a:endParaRPr lang="en-US" sz="1600" dirty="0">
                        <a:latin typeface="Arial" charset="0"/>
                        <a:ea typeface="Arial" charset="0"/>
                        <a:cs typeface="Arial" charset="0"/>
                      </a:endParaRPr>
                    </a:p>
                  </a:txBody>
                  <a:tcPr marL="88900" marR="88900" marT="76200" marB="762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Improvement</a:t>
                      </a:r>
                      <a:endParaRPr lang="en-US" sz="1600" dirty="0">
                        <a:latin typeface="Arial" charset="0"/>
                        <a:ea typeface="Arial" charset="0"/>
                        <a:cs typeface="Arial" charset="0"/>
                      </a:endParaRPr>
                    </a:p>
                  </a:txBody>
                  <a:tcPr marL="88900" marR="88900" marT="76200" marB="762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Distance</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X</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calculated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Travel time</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X</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calculated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Visits completed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X</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calculated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4470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Time-window violations</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X</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Y</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calculated</a:t>
                      </a:r>
                      <a:endParaRPr lang="en-US" sz="1600" dirty="0">
                        <a:latin typeface="Arial" charset="0"/>
                        <a:ea typeface="Arial" charset="0"/>
                        <a:cs typeface="Arial" charset="0"/>
                      </a:endParaRPr>
                    </a:p>
                  </a:txBody>
                  <a:tcPr marL="88900" marR="88900" marT="76200" marB="762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Text 10"/>
          <p:cNvSpPr/>
          <p:nvPr/>
        </p:nvSpPr>
        <p:spPr>
          <a:xfrm>
            <a:off x="812800" y="5584192"/>
            <a:ext cx="10883392" cy="283210"/>
          </a:xfrm>
          <a:prstGeom prst="rect">
            <a:avLst/>
          </a:prstGeom>
          <a:noFill/>
          <a:ln/>
        </p:spPr>
        <p:txBody>
          <a:bodyPr wrap="square" lIns="0" tIns="0" rIns="0" bIns="0" rtlCol="0" anchor="t">
            <a:normAutofit/>
          </a:bodyPr>
          <a:lstStyle/>
          <a:p>
            <a:pPr marL="0" indent="0" algn="l">
              <a:lnSpc>
                <a:spcPts val="2030"/>
              </a:lnSpc>
              <a:buNone/>
            </a:pPr>
            <a:r>
              <a:rPr lang="en-US" i="1" dirty="0">
                <a:solidFill>
                  <a:srgbClr val="6E665A"/>
                </a:solidFill>
                <a:latin typeface="Times New Roman" panose="02020603050405020304" pitchFamily="18" charset="0"/>
                <a:ea typeface="Georgia" pitchFamily="18" charset="-122"/>
                <a:cs typeface="Times New Roman" panose="02020603050405020304" pitchFamily="18" charset="0"/>
              </a:rPr>
              <a:t>The actual values will come after experiments.</a:t>
            </a:r>
            <a:endParaRPr lang="en-US" dirty="0">
              <a:latin typeface="Times New Roman" panose="02020603050405020304" pitchFamily="18" charset="0"/>
              <a:cs typeface="Times New Roman" panose="02020603050405020304" pitchFamily="18" charset="0"/>
            </a:endParaRPr>
          </a:p>
        </p:txBody>
      </p:sp>
      <p:sp>
        <p:nvSpPr>
          <p:cNvPr id="14" name="Text 11"/>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26</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597501"/>
            <a:ext cx="10566400" cy="0"/>
          </a:xfrm>
          <a:prstGeom prst="line">
            <a:avLst/>
          </a:prstGeom>
          <a:noFill/>
          <a:ln w="6350">
            <a:solidFill>
              <a:srgbClr val="CDBFA6"/>
            </a:solidFill>
            <a:prstDash val="solid"/>
          </a:ln>
        </p:spPr>
      </p:sp>
      <p:sp>
        <p:nvSpPr>
          <p:cNvPr id="3" name="Text 1"/>
          <p:cNvSpPr/>
          <p:nvPr/>
        </p:nvSpPr>
        <p:spPr>
          <a:xfrm>
            <a:off x="812800" y="812800"/>
            <a:ext cx="10883392" cy="231458"/>
          </a:xfrm>
          <a:prstGeom prst="rect">
            <a:avLst/>
          </a:prstGeom>
          <a:noFill/>
          <a:ln/>
        </p:spPr>
        <p:txBody>
          <a:bodyPr wrap="square" lIns="0" tIns="0" rIns="0" bIns="0" rtlCol="0" anchor="t">
            <a:normAutofit/>
          </a:bodyPr>
          <a:lstStyle/>
          <a:p>
            <a:pPr marL="0" indent="0" algn="l">
              <a:lnSpc>
                <a:spcPts val="1621"/>
              </a:lnSpc>
              <a:buNone/>
            </a:pPr>
            <a:r>
              <a:rPr lang="en-US" sz="1400" i="1" dirty="0">
                <a:solidFill>
                  <a:srgbClr val="9E3B25"/>
                </a:solidFill>
                <a:latin typeface="Times New Roman" panose="02020603050405020304" pitchFamily="18" charset="0"/>
                <a:ea typeface="Georgia" pitchFamily="18" charset="-122"/>
                <a:cs typeface="Times New Roman" panose="02020603050405020304" pitchFamily="18" charset="0"/>
              </a:rPr>
              <a:t>Risks</a:t>
            </a:r>
            <a:endParaRPr lang="en-US" sz="14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69665"/>
            <a:ext cx="10883392" cy="398939"/>
          </a:xfrm>
          <a:prstGeom prst="rect">
            <a:avLst/>
          </a:prstGeom>
          <a:noFill/>
          <a:ln/>
        </p:spPr>
        <p:txBody>
          <a:bodyPr wrap="square" lIns="0" tIns="0" rIns="0" bIns="0" rtlCol="0" anchor="t">
            <a:normAutofit/>
          </a:bodyPr>
          <a:lstStyle/>
          <a:p>
            <a:pPr marL="0" indent="0" algn="l">
              <a:lnSpc>
                <a:spcPts val="2970"/>
              </a:lnSpc>
              <a:buNone/>
            </a:pPr>
            <a:r>
              <a:rPr lang="en-US" sz="3200" b="1" i="0" dirty="0">
                <a:solidFill>
                  <a:srgbClr val="221F1A"/>
                </a:solidFill>
                <a:latin typeface="Times New Roman" panose="02020603050405020304" pitchFamily="18" charset="0"/>
                <a:ea typeface="Georgia" pitchFamily="18" charset="-122"/>
                <a:cs typeface="Times New Roman" panose="02020603050405020304" pitchFamily="18" charset="0"/>
              </a:rPr>
              <a:t>Challenges and solutions</a:t>
            </a:r>
            <a:endParaRPr lang="en-US" sz="3200" dirty="0">
              <a:latin typeface="Times New Roman" panose="02020603050405020304" pitchFamily="18" charset="0"/>
              <a:cs typeface="Times New Roman" panose="02020603050405020304" pitchFamily="18" charset="0"/>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14044"/>
          <a:ext cx="5016500" cy="4480560"/>
        </p:xfrm>
        <a:graphic>
          <a:graphicData uri="http://schemas.openxmlformats.org/drawingml/2006/table">
            <a:tbl>
              <a:tblPr/>
              <a:tblGrid>
                <a:gridCol w="1856105">
                  <a:extLst>
                    <a:ext uri="{9D8B030D-6E8A-4147-A177-3AD203B41FA5}">
                      <a16:colId xmlns:a16="http://schemas.microsoft.com/office/drawing/2014/main" val="20000"/>
                    </a:ext>
                  </a:extLst>
                </a:gridCol>
                <a:gridCol w="3160395">
                  <a:extLst>
                    <a:ext uri="{9D8B030D-6E8A-4147-A177-3AD203B41FA5}">
                      <a16:colId xmlns:a16="http://schemas.microsoft.com/office/drawing/2014/main" val="20001"/>
                    </a:ext>
                  </a:extLst>
                </a:gridCol>
              </a:tblGrid>
              <a:tr h="3962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Challenge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Proposed solution</a:t>
                      </a:r>
                      <a:endParaRPr lang="en-US" sz="1600"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Missing data</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 validation + imputation where justified</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Incorrect coordinates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Coordinate validation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Insufficient ML labels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Alternative ranking / rule-based formulation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Data privacy</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Anonymization + restricted access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Changing appointments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Route regeneration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Traffic variation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Estimated travel-time matrix first; dynamic API later</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Shape 3"/>
          <p:cNvSpPr/>
          <p:nvPr/>
        </p:nvSpPr>
        <p:spPr>
          <a:xfrm>
            <a:off x="6096635" y="1803884"/>
            <a:ext cx="0" cy="3921760"/>
          </a:xfrm>
          <a:prstGeom prst="line">
            <a:avLst/>
          </a:prstGeom>
          <a:noFill/>
          <a:ln w="6350">
            <a:solidFill>
              <a:srgbClr val="CDBFA6"/>
            </a:solidFill>
            <a:prstDash val="solid"/>
          </a:ln>
        </p:spPr>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362700" y="1814044"/>
          <a:ext cx="5016500" cy="3911600"/>
        </p:xfrm>
        <a:graphic>
          <a:graphicData uri="http://schemas.openxmlformats.org/drawingml/2006/table">
            <a:tbl>
              <a:tblPr/>
              <a:tblGrid>
                <a:gridCol w="1856105">
                  <a:extLst>
                    <a:ext uri="{9D8B030D-6E8A-4147-A177-3AD203B41FA5}">
                      <a16:colId xmlns:a16="http://schemas.microsoft.com/office/drawing/2014/main" val="20000"/>
                    </a:ext>
                  </a:extLst>
                </a:gridCol>
                <a:gridCol w="3160395">
                  <a:extLst>
                    <a:ext uri="{9D8B030D-6E8A-4147-A177-3AD203B41FA5}">
                      <a16:colId xmlns:a16="http://schemas.microsoft.com/office/drawing/2014/main" val="20001"/>
                    </a:ext>
                  </a:extLst>
                </a:gridCol>
              </a:tblGrid>
              <a:tr h="396240">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Challenge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tc>
                  <a:txBody>
                    <a:bodyPr/>
                    <a:lstStyle/>
                    <a:p>
                      <a:pPr marL="0" indent="0">
                        <a:lnSpc>
                          <a:spcPts val="2240"/>
                        </a:lnSpc>
                        <a:buNone/>
                      </a:pPr>
                      <a:r>
                        <a:rPr lang="en-US" sz="1600" b="1" dirty="0">
                          <a:solidFill>
                            <a:srgbClr val="221F1A"/>
                          </a:solidFill>
                          <a:latin typeface="Arial" pitchFamily="34" charset="0"/>
                          <a:ea typeface="Arial" pitchFamily="34" charset="-122"/>
                          <a:cs typeface="Arial" pitchFamily="34" charset="-120"/>
                        </a:rPr>
                        <a:t>Proposed solution</a:t>
                      </a:r>
                      <a:endParaRPr lang="en-US" sz="1600" dirty="0">
                        <a:latin typeface="Arial" charset="0"/>
                        <a:ea typeface="Arial" charset="0"/>
                        <a:cs typeface="Arial" charset="0"/>
                      </a:endParaRPr>
                    </a:p>
                  </a:txBody>
                  <a:tcPr marL="88900" marR="88900" marT="50800" marB="50800">
                    <a:lnL w="12700" cap="flat" cmpd="sng" algn="ctr">
                      <a:solidFill>
                        <a:srgbClr val="B5B1A8"/>
                      </a:solidFill>
                      <a:prstDash val="solid"/>
                      <a:round/>
                      <a:headEnd type="none" w="med" len="med"/>
                      <a:tailEnd type="none" w="med" len="med"/>
                    </a:lnL>
                    <a:lnR w="12700" cap="flat" cmpd="sng" algn="ctr">
                      <a:solidFill>
                        <a:srgbClr val="B5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5B1A8"/>
                      </a:solidFill>
                      <a:prstDash val="solid"/>
                      <a:round/>
                      <a:headEnd type="none" w="med" len="med"/>
                      <a:tailEnd type="none" w="med" len="med"/>
                    </a:lnB>
                    <a:solidFill>
                      <a:srgbClr val="E3DDD2"/>
                    </a:solidFill>
                  </a:tcPr>
                </a:tc>
                <a:extLst>
                  <a:ext uri="{0D108BD9-81ED-4DB2-BD59-A6C34878D82A}">
                    <a16:rowId xmlns:a16="http://schemas.microsoft.com/office/drawing/2014/main" val="10000"/>
                  </a:ext>
                </a:extLst>
              </a:tr>
              <a:tr h="3962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Model overfitting</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Train/test split + cross-validation</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5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1"/>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Imbalanced priority classes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Class weighting / suitable sampling</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2"/>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No agency data</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Approved public/synthetic data for prototype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3"/>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Route infeasibility</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Constraint validation + fallback handling</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4"/>
                  </a:ext>
                </a:extLst>
              </a:tr>
              <a:tr h="68072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API failure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Cached/precomputed travel matrix</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5"/>
                  </a:ext>
                </a:extLst>
              </a:tr>
              <a:tr h="396240">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Multiple MRs</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marL="0" indent="0">
                        <a:lnSpc>
                          <a:spcPts val="2240"/>
                        </a:lnSpc>
                        <a:buNone/>
                      </a:pPr>
                      <a:r>
                        <a:rPr lang="en-US" sz="1600" dirty="0">
                          <a:solidFill>
                            <a:srgbClr val="221F1A"/>
                          </a:solidFill>
                          <a:latin typeface="Arial" pitchFamily="34" charset="0"/>
                          <a:ea typeface="Arial" pitchFamily="34" charset="-122"/>
                          <a:cs typeface="Arial" pitchFamily="34" charset="-120"/>
                        </a:rPr>
                        <a:t>Multi-vehicle routing architecture</a:t>
                      </a:r>
                      <a:endParaRPr lang="en-US" sz="1600" dirty="0">
                        <a:latin typeface="Arial" charset="0"/>
                        <a:ea typeface="Arial" charset="0"/>
                        <a:cs typeface="Arial" charset="0"/>
                      </a:endParaRPr>
                    </a:p>
                  </a:txBody>
                  <a:tcPr marL="88900" marR="88900" marT="50800" marB="50800">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27</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Risks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Security and privacy</a:t>
            </a:r>
            <a:endParaRPr lang="en-US" sz="3600" dirty="0">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7EED8A67-1C98-F41A-5CAD-D87F4CA4B995}"/>
              </a:ext>
            </a:extLst>
          </p:cNvPr>
          <p:cNvGrpSpPr/>
          <p:nvPr/>
        </p:nvGrpSpPr>
        <p:grpSpPr>
          <a:xfrm>
            <a:off x="812800" y="2990848"/>
            <a:ext cx="10714152" cy="2059940"/>
            <a:chOff x="812800" y="3807458"/>
            <a:chExt cx="10714152" cy="2059940"/>
          </a:xfrm>
        </p:grpSpPr>
        <p:sp>
          <p:nvSpPr>
            <p:cNvPr id="5" name="Text 3"/>
            <p:cNvSpPr/>
            <p:nvPr/>
          </p:nvSpPr>
          <p:spPr>
            <a:xfrm>
              <a:off x="812800" y="3807458"/>
              <a:ext cx="5072812" cy="317500"/>
            </a:xfrm>
            <a:prstGeom prst="rect">
              <a:avLst/>
            </a:prstGeom>
            <a:noFill/>
            <a:ln/>
          </p:spPr>
          <p:txBody>
            <a:bodyPr wrap="square" lIns="0" tIns="0" rIns="0" bIns="0" rtlCol="0" anchor="t">
              <a:normAutofit/>
            </a:bodyPr>
            <a:lstStyle/>
            <a:p>
              <a:pPr marL="0" indent="0" algn="l">
                <a:lnSpc>
                  <a:spcPts val="2300"/>
                </a:lnSpc>
                <a:buNone/>
              </a:pPr>
              <a:r>
                <a:rPr lang="en-US" sz="2800" b="1" dirty="0">
                  <a:solidFill>
                    <a:srgbClr val="221F1A"/>
                  </a:solidFill>
                  <a:latin typeface="Times New Roman" panose="02020603050405020304" pitchFamily="18" charset="0"/>
                  <a:ea typeface="Georgia" pitchFamily="18" charset="-122"/>
                  <a:cs typeface="Times New Roman" panose="02020603050405020304" pitchFamily="18" charset="0"/>
                </a:rPr>
                <a:t>Security</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910082" y="4188458"/>
              <a:ext cx="4967910" cy="167894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Role-based access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Password hashing</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API authentication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Input validation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Restricted database access</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Secure configuration/secrets</a:t>
              </a:r>
              <a:endParaRPr lang="en-US" dirty="0">
                <a:latin typeface="Times New Roman" panose="02020603050405020304" pitchFamily="18" charset="0"/>
                <a:cs typeface="Times New Roman" panose="02020603050405020304" pitchFamily="18" charset="0"/>
              </a:endParaRPr>
            </a:p>
          </p:txBody>
        </p:sp>
        <p:sp>
          <p:nvSpPr>
            <p:cNvPr id="7" name="Shape 5"/>
            <p:cNvSpPr/>
            <p:nvPr/>
          </p:nvSpPr>
          <p:spPr>
            <a:xfrm>
              <a:off x="6096635" y="3807458"/>
              <a:ext cx="0" cy="1243330"/>
            </a:xfrm>
            <a:prstGeom prst="line">
              <a:avLst/>
            </a:prstGeom>
            <a:noFill/>
            <a:ln w="6350">
              <a:solidFill>
                <a:srgbClr val="CDBFA6"/>
              </a:solidFill>
              <a:prstDash val="solid"/>
            </a:ln>
          </p:spPr>
        </p:sp>
        <p:sp>
          <p:nvSpPr>
            <p:cNvPr id="8" name="Text 6"/>
            <p:cNvSpPr/>
            <p:nvPr/>
          </p:nvSpPr>
          <p:spPr>
            <a:xfrm>
              <a:off x="6454140" y="3807458"/>
              <a:ext cx="5072812" cy="317500"/>
            </a:xfrm>
            <a:prstGeom prst="rect">
              <a:avLst/>
            </a:prstGeom>
            <a:noFill/>
            <a:ln/>
          </p:spPr>
          <p:txBody>
            <a:bodyPr wrap="square" lIns="0" tIns="0" rIns="0" bIns="0" rtlCol="0" anchor="t">
              <a:normAutofit/>
            </a:bodyPr>
            <a:lstStyle/>
            <a:p>
              <a:pPr marL="0" indent="0" algn="l">
                <a:lnSpc>
                  <a:spcPts val="2300"/>
                </a:lnSpc>
                <a:buNone/>
              </a:pPr>
              <a:r>
                <a:rPr lang="en-US" sz="2800" b="1" dirty="0">
                  <a:solidFill>
                    <a:srgbClr val="221F1A"/>
                  </a:solidFill>
                  <a:latin typeface="Times New Roman" panose="02020603050405020304" pitchFamily="18" charset="0"/>
                  <a:ea typeface="Georgia" pitchFamily="18" charset="-122"/>
                  <a:cs typeface="Times New Roman" panose="02020603050405020304" pitchFamily="18" charset="0"/>
                </a:rPr>
                <a:t>Privacy</a:t>
              </a:r>
              <a:endParaRPr lang="en-US" sz="2800" dirty="0">
                <a:latin typeface="Times New Roman" panose="02020603050405020304" pitchFamily="18" charset="0"/>
                <a:cs typeface="Times New Roman" panose="02020603050405020304" pitchFamily="18" charset="0"/>
              </a:endParaRPr>
            </a:p>
          </p:txBody>
        </p:sp>
        <p:sp>
          <p:nvSpPr>
            <p:cNvPr id="9" name="Text 7"/>
            <p:cNvSpPr/>
            <p:nvPr/>
          </p:nvSpPr>
          <p:spPr>
            <a:xfrm>
              <a:off x="6454140" y="4188458"/>
              <a:ext cx="5072812" cy="283210"/>
            </a:xfrm>
            <a:prstGeom prst="rect">
              <a:avLst/>
            </a:prstGeom>
            <a:noFill/>
            <a:ln/>
          </p:spPr>
          <p:txBody>
            <a:bodyPr wrap="square" lIns="0" tIns="0" rIns="0" bIns="0" rtlCol="0" anchor="t">
              <a:noAutofit/>
            </a:bodyPr>
            <a:lstStyle/>
            <a:p>
              <a:pPr marL="0" indent="0" algn="l">
                <a:lnSpc>
                  <a:spcPts val="203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We do not require patient medical records for the core system.</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6454140" y="4535177"/>
              <a:ext cx="5072812" cy="541020"/>
            </a:xfrm>
            <a:prstGeom prst="rect">
              <a:avLst/>
            </a:prstGeom>
            <a:noFill/>
            <a:ln/>
          </p:spPr>
          <p:txBody>
            <a:bodyPr wrap="square" lIns="0" tIns="0" rIns="0" bIns="0" rtlCol="0" anchor="t">
              <a:normAutofit/>
            </a:bodyPr>
            <a:lstStyle/>
            <a:p>
              <a:pPr marL="0" indent="0" algn="l">
                <a:lnSpc>
                  <a:spcPts val="2030"/>
                </a:lnSpc>
                <a:buNone/>
              </a:pPr>
              <a:r>
                <a:rPr lang="en-US" dirty="0">
                  <a:solidFill>
                    <a:srgbClr val="6E665A"/>
                  </a:solidFill>
                  <a:latin typeface="Times New Roman" panose="02020603050405020304" pitchFamily="18" charset="0"/>
                  <a:ea typeface="Arial" pitchFamily="34" charset="-122"/>
                  <a:cs typeface="Times New Roman" panose="02020603050405020304" pitchFamily="18" charset="0"/>
                </a:rPr>
                <a:t>Use Doctor ID → D001, MR ID → MR007 rather than unnecessary personally identifiable information.</a:t>
              </a:r>
              <a:endParaRPr lang="en-US" dirty="0">
                <a:latin typeface="Times New Roman" panose="02020603050405020304" pitchFamily="18" charset="0"/>
                <a:cs typeface="Times New Roman" panose="02020603050405020304" pitchFamily="18" charset="0"/>
              </a:endParaRPr>
            </a:p>
          </p:txBody>
        </p:sp>
      </p:grpSp>
      <p:sp>
        <p:nvSpPr>
          <p:cNvPr id="11" name="Text 9"/>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28</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Risks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Limitations</a:t>
            </a:r>
            <a:endParaRPr lang="en-US" sz="3600" dirty="0">
              <a:latin typeface="Times New Roman" panose="02020603050405020304" pitchFamily="18" charset="0"/>
              <a:cs typeface="Times New Roman" panose="02020603050405020304" pitchFamily="18" charset="0"/>
            </a:endParaRPr>
          </a:p>
        </p:txBody>
      </p:sp>
      <p:grpSp>
        <p:nvGrpSpPr>
          <p:cNvPr id="19" name="Group 18">
            <a:extLst>
              <a:ext uri="{FF2B5EF4-FFF2-40B4-BE49-F238E27FC236}">
                <a16:creationId xmlns:a16="http://schemas.microsoft.com/office/drawing/2014/main" id="{EDD41FFC-7F1B-3F3B-B4A0-1DA50F04B073}"/>
              </a:ext>
            </a:extLst>
          </p:cNvPr>
          <p:cNvGrpSpPr/>
          <p:nvPr/>
        </p:nvGrpSpPr>
        <p:grpSpPr>
          <a:xfrm>
            <a:off x="901037" y="2949892"/>
            <a:ext cx="10706917" cy="1793244"/>
            <a:chOff x="812800" y="4074158"/>
            <a:chExt cx="10706917" cy="1793244"/>
          </a:xfrm>
        </p:grpSpPr>
        <p:sp>
          <p:nvSpPr>
            <p:cNvPr id="5" name="Text 3"/>
            <p:cNvSpPr/>
            <p:nvPr/>
          </p:nvSpPr>
          <p:spPr>
            <a:xfrm>
              <a:off x="812800" y="4074158"/>
              <a:ext cx="166132"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1</a:t>
              </a:r>
              <a:endParaRPr lang="en-US" sz="2800" dirty="0">
                <a:latin typeface="Times New Roman" panose="02020603050405020304" pitchFamily="18" charset="0"/>
                <a:cs typeface="Times New Roman" panose="02020603050405020304" pitchFamily="18" charset="0"/>
              </a:endParaRPr>
            </a:p>
          </p:txBody>
        </p:sp>
        <p:sp>
          <p:nvSpPr>
            <p:cNvPr id="6" name="Text 4"/>
            <p:cNvSpPr/>
            <p:nvPr/>
          </p:nvSpPr>
          <p:spPr>
            <a:xfrm>
              <a:off x="1055132" y="4175758"/>
              <a:ext cx="4823210" cy="52324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Quality of ML predictions depends on available historical data.</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812800" y="4762500"/>
              <a:ext cx="180261"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2</a:t>
              </a:r>
              <a:endParaRPr lang="en-US" sz="2800" dirty="0">
                <a:latin typeface="Times New Roman" panose="02020603050405020304" pitchFamily="18" charset="0"/>
                <a:cs typeface="Times New Roman" panose="02020603050405020304" pitchFamily="18" charset="0"/>
              </a:endParaRPr>
            </a:p>
          </p:txBody>
        </p:sp>
        <p:sp>
          <p:nvSpPr>
            <p:cNvPr id="8" name="Text 6"/>
            <p:cNvSpPr/>
            <p:nvPr/>
          </p:nvSpPr>
          <p:spPr>
            <a:xfrm>
              <a:off x="1069261" y="4864100"/>
              <a:ext cx="4808658" cy="52324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The initial system may use estimated travel times rather than live traffic.</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812800" y="5450842"/>
              <a:ext cx="205026"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3</a:t>
              </a:r>
              <a:endParaRPr lang="en-US" sz="2800" dirty="0">
                <a:latin typeface="Times New Roman" panose="02020603050405020304" pitchFamily="18" charset="0"/>
                <a:cs typeface="Times New Roman" panose="02020603050405020304" pitchFamily="18" charset="0"/>
              </a:endParaRPr>
            </a:p>
          </p:txBody>
        </p:sp>
        <p:sp>
          <p:nvSpPr>
            <p:cNvPr id="10" name="Text 8"/>
            <p:cNvSpPr/>
            <p:nvPr/>
          </p:nvSpPr>
          <p:spPr>
            <a:xfrm>
              <a:off x="1094026" y="5552442"/>
              <a:ext cx="4743831" cy="27432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Dynamic changes may require route regeneration.</a:t>
              </a:r>
              <a:endParaRPr lang="en-US" dirty="0">
                <a:latin typeface="Times New Roman" panose="02020603050405020304" pitchFamily="18" charset="0"/>
                <a:cs typeface="Times New Roman" panose="02020603050405020304" pitchFamily="18" charset="0"/>
              </a:endParaRPr>
            </a:p>
          </p:txBody>
        </p:sp>
        <p:sp>
          <p:nvSpPr>
            <p:cNvPr id="11" name="Shape 9"/>
            <p:cNvSpPr/>
            <p:nvPr/>
          </p:nvSpPr>
          <p:spPr>
            <a:xfrm>
              <a:off x="6096635" y="4074158"/>
              <a:ext cx="0" cy="1767840"/>
            </a:xfrm>
            <a:prstGeom prst="line">
              <a:avLst/>
            </a:prstGeom>
            <a:noFill/>
            <a:ln w="6350">
              <a:solidFill>
                <a:srgbClr val="CDBFA6"/>
              </a:solidFill>
              <a:prstDash val="solid"/>
            </a:ln>
          </p:spPr>
        </p:sp>
        <p:sp>
          <p:nvSpPr>
            <p:cNvPr id="12" name="Text 10"/>
            <p:cNvSpPr/>
            <p:nvPr/>
          </p:nvSpPr>
          <p:spPr>
            <a:xfrm>
              <a:off x="6454140" y="4074158"/>
              <a:ext cx="208677"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4</a:t>
              </a:r>
              <a:endParaRPr lang="en-US" sz="2800" dirty="0">
                <a:latin typeface="Times New Roman" panose="02020603050405020304" pitchFamily="18" charset="0"/>
                <a:cs typeface="Times New Roman" panose="02020603050405020304" pitchFamily="18" charset="0"/>
              </a:endParaRPr>
            </a:p>
          </p:txBody>
        </p:sp>
        <p:sp>
          <p:nvSpPr>
            <p:cNvPr id="13" name="Text 11"/>
            <p:cNvSpPr/>
            <p:nvPr/>
          </p:nvSpPr>
          <p:spPr>
            <a:xfrm>
              <a:off x="6739017" y="4175758"/>
              <a:ext cx="4640183" cy="274320"/>
            </a:xfrm>
            <a:prstGeom prst="rect">
              <a:avLst/>
            </a:prstGeom>
            <a:noFill/>
            <a:ln/>
          </p:spPr>
          <p:txBody>
            <a:bodyPr wrap="square" lIns="0" tIns="0" rIns="0" bIns="0" rtlCol="0" anchor="t">
              <a:no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The initial prototype may focus on a limited territory.</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6454140" y="4554227"/>
              <a:ext cx="164941"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5</a:t>
              </a:r>
              <a:endParaRPr lang="en-US" sz="2800" dirty="0">
                <a:latin typeface="Times New Roman" panose="02020603050405020304" pitchFamily="18" charset="0"/>
                <a:cs typeface="Times New Roman" panose="02020603050405020304" pitchFamily="18" charset="0"/>
              </a:endParaRPr>
            </a:p>
          </p:txBody>
        </p:sp>
        <p:sp>
          <p:nvSpPr>
            <p:cNvPr id="15" name="Text 13"/>
            <p:cNvSpPr/>
            <p:nvPr/>
          </p:nvSpPr>
          <p:spPr>
            <a:xfrm>
              <a:off x="6695281" y="4655827"/>
              <a:ext cx="4824436" cy="52324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Commercial CRM integration may not be included in the academic prototype.</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6454140" y="5242558"/>
              <a:ext cx="185261" cy="41656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9E3B25"/>
                  </a:solidFill>
                  <a:latin typeface="Times New Roman" panose="02020603050405020304" pitchFamily="18" charset="0"/>
                  <a:ea typeface="Georgia" pitchFamily="18" charset="-122"/>
                  <a:cs typeface="Times New Roman" panose="02020603050405020304" pitchFamily="18" charset="0"/>
                </a:rPr>
                <a:t>6</a:t>
              </a:r>
              <a:endParaRPr lang="en-US" sz="2800" dirty="0">
                <a:latin typeface="Times New Roman" panose="02020603050405020304" pitchFamily="18" charset="0"/>
                <a:cs typeface="Times New Roman" panose="02020603050405020304" pitchFamily="18" charset="0"/>
              </a:endParaRPr>
            </a:p>
          </p:txBody>
        </p:sp>
        <p:sp>
          <p:nvSpPr>
            <p:cNvPr id="17" name="Text 15"/>
            <p:cNvSpPr/>
            <p:nvPr/>
          </p:nvSpPr>
          <p:spPr>
            <a:xfrm>
              <a:off x="6715602" y="5344158"/>
              <a:ext cx="4803507" cy="523240"/>
            </a:xfrm>
            <a:prstGeom prst="rect">
              <a:avLst/>
            </a:prstGeom>
            <a:noFill/>
            <a:ln/>
          </p:spPr>
          <p:txBody>
            <a:bodyPr wrap="square" lIns="0" tIns="0" rIns="0" bIns="0" rtlCol="0" anchor="t">
              <a:normAutofit/>
            </a:bodyPr>
            <a:lstStyle/>
            <a:p>
              <a:pPr marL="0" indent="0" algn="l">
                <a:lnSpc>
                  <a:spcPts val="1960"/>
                </a:lnSpc>
                <a:buNone/>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Model performance must be validated using actual experimental data.</a:t>
              </a:r>
              <a:endParaRPr lang="en-US" dirty="0">
                <a:latin typeface="Times New Roman" panose="02020603050405020304" pitchFamily="18" charset="0"/>
                <a:cs typeface="Times New Roman" panose="02020603050405020304" pitchFamily="18" charset="0"/>
              </a:endParaRPr>
            </a:p>
          </p:txBody>
        </p:sp>
      </p:grpSp>
      <p:sp>
        <p:nvSpPr>
          <p:cNvPr id="18" name="Text 1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29</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Outlook</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Future scope</a:t>
            </a:r>
            <a:endParaRPr lang="en-US" sz="3600" dirty="0">
              <a:latin typeface="Times New Roman" panose="02020603050405020304" pitchFamily="18" charset="0"/>
              <a:cs typeface="Times New Roman" panose="02020603050405020304" pitchFamily="18" charset="0"/>
            </a:endParaRPr>
          </a:p>
        </p:txBody>
      </p:sp>
      <p:grpSp>
        <p:nvGrpSpPr>
          <p:cNvPr id="9" name="Group 8">
            <a:extLst>
              <a:ext uri="{FF2B5EF4-FFF2-40B4-BE49-F238E27FC236}">
                <a16:creationId xmlns:a16="http://schemas.microsoft.com/office/drawing/2014/main" id="{25181F7B-E596-33C3-F28C-B93C6004A66D}"/>
              </a:ext>
            </a:extLst>
          </p:cNvPr>
          <p:cNvGrpSpPr/>
          <p:nvPr/>
        </p:nvGrpSpPr>
        <p:grpSpPr>
          <a:xfrm>
            <a:off x="943143" y="2810718"/>
            <a:ext cx="10622712" cy="1797050"/>
            <a:chOff x="896620" y="4070350"/>
            <a:chExt cx="10622712" cy="1797050"/>
          </a:xfrm>
        </p:grpSpPr>
        <p:sp>
          <p:nvSpPr>
            <p:cNvPr id="5" name="Text 3"/>
            <p:cNvSpPr/>
            <p:nvPr/>
          </p:nvSpPr>
          <p:spPr>
            <a:xfrm>
              <a:off x="896620" y="4070350"/>
              <a:ext cx="4981372" cy="1797050"/>
            </a:xfrm>
            <a:prstGeom prst="rect">
              <a:avLst/>
            </a:prstGeom>
            <a:noFill/>
            <a:ln/>
          </p:spPr>
          <p:txBody>
            <a:bodyPr wrap="square" lIns="0" tIns="0" rIns="0" bIns="0" rtlCol="0" anchor="t">
              <a:normAutofit/>
            </a:bodyPr>
            <a:lstStyle/>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Real-time GPS tracking</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Live traffic integration</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Dynamic route re-optimization</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Mobile application</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Multiple-city deployment</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Multiple-MR optimization</a:t>
              </a:r>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6096635" y="4070350"/>
              <a:ext cx="0" cy="1771650"/>
            </a:xfrm>
            <a:prstGeom prst="line">
              <a:avLst/>
            </a:prstGeom>
            <a:noFill/>
            <a:ln w="6350">
              <a:solidFill>
                <a:srgbClr val="CDBFA6"/>
              </a:solidFill>
              <a:prstDash val="solid"/>
            </a:ln>
          </p:spPr>
        </p:sp>
        <p:sp>
          <p:nvSpPr>
            <p:cNvPr id="7" name="Text 5"/>
            <p:cNvSpPr/>
            <p:nvPr/>
          </p:nvSpPr>
          <p:spPr>
            <a:xfrm>
              <a:off x="6537960" y="4070350"/>
              <a:ext cx="4981372" cy="1797050"/>
            </a:xfrm>
            <a:prstGeom prst="rect">
              <a:avLst/>
            </a:prstGeom>
            <a:noFill/>
            <a:ln/>
          </p:spPr>
          <p:txBody>
            <a:bodyPr wrap="square" lIns="0" tIns="0" rIns="0" bIns="0" rtlCol="0" anchor="t">
              <a:normAutofit/>
            </a:bodyPr>
            <a:lstStyle/>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CRM integration</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Automatic appointment rescheduling</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Advanced ranking models</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Reinforcement-learning / advanced optimization research</a:t>
              </a:r>
              <a:endParaRPr lang="en-US" dirty="0">
                <a:latin typeface="Times New Roman" panose="02020603050405020304" pitchFamily="18" charset="0"/>
                <a:cs typeface="Times New Roman" panose="02020603050405020304" pitchFamily="18" charset="0"/>
              </a:endParaRPr>
            </a:p>
            <a:p>
              <a:pPr marL="170180" indent="-170180" algn="l">
                <a:lnSpc>
                  <a:spcPts val="2325"/>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Predictive analytics for field performance</a:t>
              </a:r>
              <a:endParaRPr lang="en-US" dirty="0">
                <a:latin typeface="Times New Roman" panose="02020603050405020304" pitchFamily="18" charset="0"/>
                <a:cs typeface="Times New Roman" panose="02020603050405020304" pitchFamily="18" charset="0"/>
              </a:endParaRPr>
            </a:p>
          </p:txBody>
        </p:sp>
      </p:grpSp>
      <p:sp>
        <p:nvSpPr>
          <p:cNvPr id="8" name="Text 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30</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Progress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42"/>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Current working status</a:t>
            </a:r>
            <a:endParaRPr lang="en-US" sz="3600" dirty="0">
              <a:latin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3E5A45F0-AEE1-DB75-FD8C-F229DD4F9B98}"/>
              </a:ext>
            </a:extLst>
          </p:cNvPr>
          <p:cNvGrpSpPr/>
          <p:nvPr/>
        </p:nvGrpSpPr>
        <p:grpSpPr>
          <a:xfrm>
            <a:off x="763016" y="2839403"/>
            <a:ext cx="10665967" cy="2227595"/>
            <a:chOff x="812800" y="3639815"/>
            <a:chExt cx="10665967" cy="2227595"/>
          </a:xfrm>
        </p:grpSpPr>
        <p:sp>
          <p:nvSpPr>
            <p:cNvPr id="5" name="Shape 3"/>
            <p:cNvSpPr/>
            <p:nvPr/>
          </p:nvSpPr>
          <p:spPr>
            <a:xfrm>
              <a:off x="812800" y="3639815"/>
              <a:ext cx="3318907" cy="0"/>
            </a:xfrm>
            <a:prstGeom prst="line">
              <a:avLst/>
            </a:prstGeom>
            <a:noFill/>
            <a:ln w="50800">
              <a:solidFill>
                <a:srgbClr val="1F2B26"/>
              </a:solidFill>
              <a:prstDash val="solid"/>
            </a:ln>
          </p:spPr>
        </p:sp>
        <p:sp>
          <p:nvSpPr>
            <p:cNvPr id="6" name="Text 4"/>
            <p:cNvSpPr/>
            <p:nvPr/>
          </p:nvSpPr>
          <p:spPr>
            <a:xfrm>
              <a:off x="812800" y="3792215"/>
              <a:ext cx="3418474" cy="345440"/>
            </a:xfrm>
            <a:prstGeom prst="rect">
              <a:avLst/>
            </a:prstGeom>
            <a:noFill/>
            <a:ln/>
          </p:spPr>
          <p:txBody>
            <a:bodyPr wrap="square" lIns="0" tIns="0" rIns="0" bIns="0" rtlCol="0" anchor="t">
              <a:normAutofit/>
            </a:bodyPr>
            <a:lstStyle/>
            <a:p>
              <a:pPr marL="0" indent="0" algn="l">
                <a:lnSpc>
                  <a:spcPts val="2520"/>
                </a:lnSpc>
                <a:buNone/>
              </a:pPr>
              <a:r>
                <a:rPr lang="en-US" sz="2800" i="1" dirty="0">
                  <a:solidFill>
                    <a:srgbClr val="221F1A"/>
                  </a:solidFill>
                  <a:latin typeface="Times New Roman" panose="02020603050405020304" pitchFamily="18" charset="0"/>
                  <a:ea typeface="Georgia" pitchFamily="18" charset="-122"/>
                  <a:cs typeface="Times New Roman" panose="02020603050405020304" pitchFamily="18" charset="0"/>
                </a:rPr>
                <a:t>Completed</a:t>
              </a:r>
              <a:endParaRPr lang="en-US" sz="2800" dirty="0">
                <a:latin typeface="Times New Roman" panose="02020603050405020304" pitchFamily="18" charset="0"/>
                <a:cs typeface="Times New Roman" panose="02020603050405020304" pitchFamily="18" charset="0"/>
              </a:endParaRPr>
            </a:p>
          </p:txBody>
        </p:sp>
        <p:sp>
          <p:nvSpPr>
            <p:cNvPr id="7" name="Text 5"/>
            <p:cNvSpPr/>
            <p:nvPr/>
          </p:nvSpPr>
          <p:spPr>
            <a:xfrm>
              <a:off x="910082" y="4188470"/>
              <a:ext cx="3313572" cy="112776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Problem definition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Literature survey</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System architecture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UI design</a:t>
              </a:r>
              <a:endParaRPr lang="en-US" dirty="0">
                <a:latin typeface="Times New Roman" panose="02020603050405020304" pitchFamily="18" charset="0"/>
                <a:cs typeface="Times New Roman" panose="02020603050405020304" pitchFamily="18" charset="0"/>
              </a:endParaRPr>
            </a:p>
          </p:txBody>
        </p:sp>
        <p:sp>
          <p:nvSpPr>
            <p:cNvPr id="8" name="Shape 6"/>
            <p:cNvSpPr/>
            <p:nvPr/>
          </p:nvSpPr>
          <p:spPr>
            <a:xfrm>
              <a:off x="4436507" y="3639815"/>
              <a:ext cx="3318986" cy="0"/>
            </a:xfrm>
            <a:prstGeom prst="line">
              <a:avLst/>
            </a:prstGeom>
            <a:noFill/>
            <a:ln w="50800">
              <a:solidFill>
                <a:srgbClr val="B9855A"/>
              </a:solidFill>
              <a:prstDash val="solid"/>
            </a:ln>
          </p:spPr>
        </p:sp>
        <p:sp>
          <p:nvSpPr>
            <p:cNvPr id="9" name="Text 7"/>
            <p:cNvSpPr/>
            <p:nvPr/>
          </p:nvSpPr>
          <p:spPr>
            <a:xfrm>
              <a:off x="4436507" y="3792215"/>
              <a:ext cx="3418556" cy="345440"/>
            </a:xfrm>
            <a:prstGeom prst="rect">
              <a:avLst/>
            </a:prstGeom>
            <a:noFill/>
            <a:ln/>
          </p:spPr>
          <p:txBody>
            <a:bodyPr wrap="square" lIns="0" tIns="0" rIns="0" bIns="0" rtlCol="0" anchor="t">
              <a:normAutofit/>
            </a:bodyPr>
            <a:lstStyle/>
            <a:p>
              <a:pPr marL="0" indent="0" algn="l">
                <a:lnSpc>
                  <a:spcPts val="2520"/>
                </a:lnSpc>
                <a:buNone/>
              </a:pPr>
              <a:r>
                <a:rPr lang="en-US" sz="2800" i="1" dirty="0">
                  <a:solidFill>
                    <a:srgbClr val="221F1A"/>
                  </a:solidFill>
                  <a:latin typeface="Times New Roman" panose="02020603050405020304" pitchFamily="18" charset="0"/>
                  <a:ea typeface="Georgia" pitchFamily="18" charset="-122"/>
                  <a:cs typeface="Times New Roman" panose="02020603050405020304" pitchFamily="18" charset="0"/>
                </a:rPr>
                <a:t>In progress</a:t>
              </a:r>
              <a:endParaRPr lang="en-US" sz="2800" dirty="0">
                <a:latin typeface="Times New Roman" panose="02020603050405020304" pitchFamily="18" charset="0"/>
                <a:cs typeface="Times New Roman" panose="02020603050405020304" pitchFamily="18" charset="0"/>
              </a:endParaRPr>
            </a:p>
          </p:txBody>
        </p:sp>
        <p:sp>
          <p:nvSpPr>
            <p:cNvPr id="10" name="Text 8"/>
            <p:cNvSpPr/>
            <p:nvPr/>
          </p:nvSpPr>
          <p:spPr>
            <a:xfrm>
              <a:off x="4533789" y="4188470"/>
              <a:ext cx="3313654" cy="167894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Database design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Backend structure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ML pipeline</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OR-Tools optimization</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Dashboard</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Integration</a:t>
              </a:r>
              <a:endParaRPr lang="en-US" dirty="0">
                <a:latin typeface="Times New Roman" panose="02020603050405020304" pitchFamily="18" charset="0"/>
                <a:cs typeface="Times New Roman" panose="02020603050405020304" pitchFamily="18" charset="0"/>
              </a:endParaRPr>
            </a:p>
          </p:txBody>
        </p:sp>
        <p:sp>
          <p:nvSpPr>
            <p:cNvPr id="11" name="Shape 9"/>
            <p:cNvSpPr/>
            <p:nvPr/>
          </p:nvSpPr>
          <p:spPr>
            <a:xfrm>
              <a:off x="8060293" y="3639815"/>
              <a:ext cx="3318907" cy="0"/>
            </a:xfrm>
            <a:prstGeom prst="line">
              <a:avLst/>
            </a:prstGeom>
            <a:noFill/>
            <a:ln w="50800">
              <a:solidFill>
                <a:srgbClr val="CDBFA6"/>
              </a:solidFill>
              <a:prstDash val="solid"/>
            </a:ln>
          </p:spPr>
        </p:sp>
        <p:sp>
          <p:nvSpPr>
            <p:cNvPr id="12" name="Text 10"/>
            <p:cNvSpPr/>
            <p:nvPr/>
          </p:nvSpPr>
          <p:spPr>
            <a:xfrm>
              <a:off x="8060293" y="3792215"/>
              <a:ext cx="3418474" cy="345440"/>
            </a:xfrm>
            <a:prstGeom prst="rect">
              <a:avLst/>
            </a:prstGeom>
            <a:noFill/>
            <a:ln/>
          </p:spPr>
          <p:txBody>
            <a:bodyPr wrap="square" lIns="0" tIns="0" rIns="0" bIns="0" rtlCol="0" anchor="t">
              <a:normAutofit/>
            </a:bodyPr>
            <a:lstStyle/>
            <a:p>
              <a:pPr marL="0" indent="0" algn="l">
                <a:lnSpc>
                  <a:spcPts val="2520"/>
                </a:lnSpc>
                <a:buNone/>
              </a:pPr>
              <a:r>
                <a:rPr lang="en-US" sz="2800" i="1" dirty="0">
                  <a:solidFill>
                    <a:srgbClr val="221F1A"/>
                  </a:solidFill>
                  <a:latin typeface="Times New Roman" panose="02020603050405020304" pitchFamily="18" charset="0"/>
                  <a:ea typeface="Georgia" pitchFamily="18" charset="-122"/>
                  <a:cs typeface="Times New Roman" panose="02020603050405020304" pitchFamily="18" charset="0"/>
                </a:rPr>
                <a:t>Upcoming</a:t>
              </a:r>
              <a:endParaRPr lang="en-US" sz="2800" dirty="0">
                <a:latin typeface="Times New Roman" panose="02020603050405020304" pitchFamily="18" charset="0"/>
                <a:cs typeface="Times New Roman" panose="02020603050405020304" pitchFamily="18" charset="0"/>
              </a:endParaRPr>
            </a:p>
          </p:txBody>
        </p:sp>
        <p:sp>
          <p:nvSpPr>
            <p:cNvPr id="13" name="Text 11"/>
            <p:cNvSpPr/>
            <p:nvPr/>
          </p:nvSpPr>
          <p:spPr>
            <a:xfrm>
              <a:off x="8157575" y="4188470"/>
              <a:ext cx="3313572" cy="576580"/>
            </a:xfrm>
            <a:prstGeom prst="rect">
              <a:avLst/>
            </a:prstGeom>
            <a:noFill/>
            <a:ln/>
          </p:spPr>
          <p:txBody>
            <a:bodyPr wrap="square" lIns="0" tIns="0" rIns="0" bIns="0" rtlCol="0" anchor="t">
              <a:normAutofit/>
            </a:bodyPr>
            <a:lstStyle/>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Testing</a:t>
              </a:r>
              <a:endParaRPr lang="en-US" dirty="0">
                <a:latin typeface="Times New Roman" panose="02020603050405020304" pitchFamily="18" charset="0"/>
                <a:cs typeface="Times New Roman" panose="02020603050405020304" pitchFamily="18" charset="0"/>
              </a:endParaRPr>
            </a:p>
            <a:p>
              <a:pPr marL="156718" indent="-156718" algn="l">
                <a:lnSpc>
                  <a:spcPts val="2170"/>
                </a:lnSpc>
                <a:buSzPct val="100000"/>
                <a:buChar char="•"/>
              </a:pPr>
              <a:r>
                <a:rPr lang="en-US" dirty="0">
                  <a:solidFill>
                    <a:srgbClr val="221F1A"/>
                  </a:solidFill>
                  <a:latin typeface="Times New Roman" panose="02020603050405020304" pitchFamily="18" charset="0"/>
                  <a:ea typeface="Arial" pitchFamily="34" charset="-122"/>
                  <a:cs typeface="Times New Roman" panose="02020603050405020304" pitchFamily="18" charset="0"/>
                </a:rPr>
                <a:t>Final deployment</a:t>
              </a:r>
              <a:endParaRPr lang="en-US" dirty="0">
                <a:latin typeface="Times New Roman" panose="02020603050405020304" pitchFamily="18" charset="0"/>
                <a:cs typeface="Times New Roman" panose="02020603050405020304" pitchFamily="18" charset="0"/>
              </a:endParaRPr>
            </a:p>
          </p:txBody>
        </p:sp>
      </p:grpSp>
      <p:sp>
        <p:nvSpPr>
          <p:cNvPr id="14" name="Text 12"/>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31</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EFE3"/>
        </a:solidFill>
        <a:effectLst/>
      </p:bgPr>
    </p:bg>
    <p:spTree>
      <p:nvGrpSpPr>
        <p:cNvPr id="1" name=""/>
        <p:cNvGrpSpPr/>
        <p:nvPr/>
      </p:nvGrpSpPr>
      <p:grpSpPr>
        <a:xfrm>
          <a:off x="0" y="0"/>
          <a:ext cx="0" cy="0"/>
          <a:chOff x="0" y="0"/>
          <a:chExt cx="0" cy="0"/>
        </a:xfrm>
      </p:grpSpPr>
      <p:sp>
        <p:nvSpPr>
          <p:cNvPr id="2" name="Shape 0"/>
          <p:cNvSpPr/>
          <p:nvPr/>
        </p:nvSpPr>
        <p:spPr>
          <a:xfrm>
            <a:off x="812800" y="1668145"/>
            <a:ext cx="10566400" cy="0"/>
          </a:xfrm>
          <a:prstGeom prst="line">
            <a:avLst/>
          </a:prstGeom>
          <a:noFill/>
          <a:ln w="6350">
            <a:solidFill>
              <a:srgbClr val="CDBFA6"/>
            </a:solidFill>
            <a:prstDash val="solid"/>
          </a:ln>
        </p:spPr>
      </p:sp>
      <p:sp>
        <p:nvSpPr>
          <p:cNvPr id="3" name="Text 1"/>
          <p:cNvSpPr/>
          <p:nvPr/>
        </p:nvSpPr>
        <p:spPr>
          <a:xfrm>
            <a:off x="812800" y="812800"/>
            <a:ext cx="10883392" cy="256540"/>
          </a:xfrm>
          <a:prstGeom prst="rect">
            <a:avLst/>
          </a:prstGeom>
          <a:noFill/>
          <a:ln/>
        </p:spPr>
        <p:txBody>
          <a:bodyPr wrap="square" lIns="0" tIns="0" rIns="0" bIns="0" rtlCol="0" anchor="t">
            <a:normAutofit/>
          </a:bodyPr>
          <a:lstStyle/>
          <a:p>
            <a:pPr marL="0" indent="0" algn="l">
              <a:lnSpc>
                <a:spcPts val="1820"/>
              </a:lnSpc>
              <a:buNone/>
            </a:pPr>
            <a:r>
              <a:rPr lang="en-US" sz="1600" i="1" dirty="0">
                <a:solidFill>
                  <a:srgbClr val="9E3B25"/>
                </a:solidFill>
                <a:latin typeface="Times New Roman" panose="02020603050405020304" pitchFamily="18" charset="0"/>
                <a:ea typeface="Georgia" pitchFamily="18" charset="-122"/>
                <a:cs typeface="Times New Roman" panose="02020603050405020304" pitchFamily="18" charset="0"/>
              </a:rPr>
              <a:t>Progress</a:t>
            </a:r>
            <a:endParaRPr lang="en-US" sz="1600" dirty="0">
              <a:latin typeface="Times New Roman" panose="02020603050405020304" pitchFamily="18" charset="0"/>
              <a:cs typeface="Times New Roman" panose="02020603050405020304" pitchFamily="18" charset="0"/>
            </a:endParaRPr>
          </a:p>
        </p:txBody>
      </p:sp>
      <p:sp>
        <p:nvSpPr>
          <p:cNvPr id="4" name="Text 2"/>
          <p:cNvSpPr>
            <a:spLocks noGrp="1"/>
          </p:cNvSpPr>
          <p:nvPr>
            <p:ph type="title"/>
          </p:nvPr>
        </p:nvSpPr>
        <p:spPr>
          <a:xfrm>
            <a:off x="812800" y="1094755"/>
            <a:ext cx="10883392" cy="444500"/>
          </a:xfrm>
          <a:prstGeom prst="rect">
            <a:avLst/>
          </a:prstGeom>
          <a:noFill/>
          <a:ln/>
        </p:spPr>
        <p:txBody>
          <a:bodyPr wrap="square" lIns="0" tIns="0" rIns="0" bIns="0" rtlCol="0" anchor="t">
            <a:normAutofit/>
          </a:bodyPr>
          <a:lstStyle/>
          <a:p>
            <a:pPr marL="0" indent="0" algn="l">
              <a:lnSpc>
                <a:spcPts val="3300"/>
              </a:lnSpc>
              <a:buNone/>
            </a:pPr>
            <a:r>
              <a:rPr lang="en-US" sz="3600" b="1" i="0" dirty="0">
                <a:solidFill>
                  <a:srgbClr val="221F1A"/>
                </a:solidFill>
                <a:latin typeface="Times New Roman" panose="02020603050405020304" pitchFamily="18" charset="0"/>
                <a:ea typeface="Georgia" pitchFamily="18" charset="-122"/>
                <a:cs typeface="Times New Roman" panose="02020603050405020304" pitchFamily="18" charset="0"/>
              </a:rPr>
              <a:t>Semester-I partial report</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812800" y="2160042"/>
            <a:ext cx="10883392"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Semester-I deliverables</a:t>
            </a:r>
            <a:endParaRPr lang="en-US" sz="2400" dirty="0">
              <a:latin typeface="Times New Roman" panose="02020603050405020304" pitchFamily="18" charset="0"/>
              <a:cs typeface="Times New Roman" panose="02020603050405020304" pitchFamily="18" charset="0"/>
            </a:endParaRPr>
          </a:p>
        </p:txBody>
      </p:sp>
      <p:sp>
        <p:nvSpPr>
          <p:cNvPr id="6" name="Text 4"/>
          <p:cNvSpPr/>
          <p:nvPr/>
        </p:nvSpPr>
        <p:spPr>
          <a:xfrm>
            <a:off x="853186" y="2655183"/>
            <a:ext cx="10777728" cy="1304925"/>
          </a:xfrm>
          <a:prstGeom prst="rect">
            <a:avLst/>
          </a:prstGeom>
          <a:noFill/>
          <a:ln/>
        </p:spPr>
        <p:txBody>
          <a:bodyPr wrap="square" lIns="0" tIns="0" rIns="0" bIns="0" rtlCol="0" anchor="t">
            <a:normAutofit/>
          </a:bodyPr>
          <a:lstStyle/>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Problem identification, topic finalization</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Literature survey, requirement analysis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Dataset / data requirement analysis</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System architecture, technology and algorithm selection</a:t>
            </a:r>
            <a:endParaRPr lang="en-US" sz="1600" dirty="0">
              <a:latin typeface="Times New Roman" panose="02020603050405020304" pitchFamily="18" charset="0"/>
              <a:cs typeface="Times New Roman" panose="02020603050405020304" pitchFamily="18" charset="0"/>
            </a:endParaRPr>
          </a:p>
          <a:p>
            <a:pPr marL="155956" indent="-155956" algn="l">
              <a:lnSpc>
                <a:spcPts val="2015"/>
              </a:lnSpc>
              <a:buSzPct val="100000"/>
              <a:buChar char="•"/>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Database design, UI design, initial prototype</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812800" y="4280148"/>
            <a:ext cx="10883392" cy="288290"/>
          </a:xfrm>
          <a:prstGeom prst="rect">
            <a:avLst/>
          </a:prstGeom>
          <a:noFill/>
          <a:ln/>
        </p:spPr>
        <p:txBody>
          <a:bodyPr wrap="square" lIns="0" tIns="0" rIns="0" bIns="0" rtlCol="0" anchor="t">
            <a:normAutofit/>
          </a:bodyPr>
          <a:lstStyle/>
          <a:p>
            <a:pPr marL="0" indent="0" algn="l">
              <a:lnSpc>
                <a:spcPts val="2070"/>
              </a:lnSpc>
              <a:buNone/>
            </a:pPr>
            <a:r>
              <a:rPr lang="en-US" sz="2400" b="1" dirty="0">
                <a:solidFill>
                  <a:srgbClr val="221F1A"/>
                </a:solidFill>
                <a:latin typeface="Times New Roman" panose="02020603050405020304" pitchFamily="18" charset="0"/>
                <a:ea typeface="Georgia" pitchFamily="18" charset="-122"/>
                <a:cs typeface="Times New Roman" panose="02020603050405020304" pitchFamily="18" charset="0"/>
              </a:rPr>
              <a:t>Semester-II focus</a:t>
            </a:r>
            <a:endParaRPr lang="en-US" sz="2400" dirty="0">
              <a:latin typeface="Times New Roman" panose="02020603050405020304" pitchFamily="18" charset="0"/>
              <a:cs typeface="Times New Roman" panose="02020603050405020304" pitchFamily="18" charset="0"/>
            </a:endParaRPr>
          </a:p>
        </p:txBody>
      </p:sp>
      <p:grpSp>
        <p:nvGrpSpPr>
          <p:cNvPr id="23" name="Group 22">
            <a:extLst>
              <a:ext uri="{FF2B5EF4-FFF2-40B4-BE49-F238E27FC236}">
                <a16:creationId xmlns:a16="http://schemas.microsoft.com/office/drawing/2014/main" id="{D995ED8F-2F23-8E81-7F68-90E1D4A081B1}"/>
              </a:ext>
            </a:extLst>
          </p:cNvPr>
          <p:cNvGrpSpPr/>
          <p:nvPr/>
        </p:nvGrpSpPr>
        <p:grpSpPr>
          <a:xfrm>
            <a:off x="815975" y="4844673"/>
            <a:ext cx="10560050" cy="803890"/>
            <a:chOff x="815975" y="5034930"/>
            <a:chExt cx="10560050" cy="803890"/>
          </a:xfrm>
        </p:grpSpPr>
        <p:sp>
          <p:nvSpPr>
            <p:cNvPr id="8" name="Text 6"/>
            <p:cNvSpPr/>
            <p:nvPr/>
          </p:nvSpPr>
          <p:spPr>
            <a:xfrm>
              <a:off x="815975" y="503493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Implementation</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3279775"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0" name="Text 8"/>
            <p:cNvSpPr/>
            <p:nvPr/>
          </p:nvSpPr>
          <p:spPr>
            <a:xfrm>
              <a:off x="3536950" y="503493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ML training</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6000750"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Text 10"/>
            <p:cNvSpPr/>
            <p:nvPr/>
          </p:nvSpPr>
          <p:spPr>
            <a:xfrm>
              <a:off x="6257925" y="503493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Optimization</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8721725" y="5078735"/>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8978900" y="503493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Integration</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815975" y="548449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Testing</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3279775" y="552832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3536950" y="548449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Evaluation</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6000750" y="552832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6257925" y="548449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Deployment</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8721725" y="5528320"/>
              <a:ext cx="241300" cy="292100"/>
            </a:xfrm>
            <a:prstGeom prst="rect">
              <a:avLst/>
            </a:prstGeom>
            <a:noFill/>
            <a:ln/>
          </p:spPr>
          <p:txBody>
            <a:bodyPr wrap="square" lIns="0" tIns="0" rIns="0" bIns="0" rtlCol="0" anchor="t">
              <a:normAutofit/>
            </a:bodyPr>
            <a:lstStyle/>
            <a:p>
              <a:pPr marL="0" indent="0" algn="l">
                <a:lnSpc>
                  <a:spcPts val="2100"/>
                </a:lnSpc>
                <a:buNone/>
              </a:pPr>
              <a:r>
                <a:rPr lang="en-US" dirty="0">
                  <a:solidFill>
                    <a:srgbClr val="9E3B25"/>
                  </a:solidFill>
                  <a:latin typeface="Times New Roman" panose="02020603050405020304" pitchFamily="18" charset="0"/>
                  <a:ea typeface="Arial" pitchFamily="34" charset="-122"/>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8978900" y="5484490"/>
              <a:ext cx="2397125" cy="354330"/>
            </a:xfrm>
            <a:prstGeom prst="rect">
              <a:avLst/>
            </a:prstGeom>
            <a:noFill/>
            <a:ln w="6350">
              <a:solidFill>
                <a:srgbClr val="221F1A"/>
              </a:solidFill>
              <a:prstDash val="solid"/>
            </a:ln>
          </p:spPr>
          <p:txBody>
            <a:bodyPr wrap="square" lIns="103505" tIns="65405" rIns="103505" bIns="65405" rtlCol="0" anchor="ctr">
              <a:normAutofit/>
            </a:bodyPr>
            <a:lstStyle/>
            <a:p>
              <a:pPr marL="0" indent="0" algn="ctr">
                <a:lnSpc>
                  <a:spcPts val="1560"/>
                </a:lnSpc>
                <a:buNone/>
              </a:pPr>
              <a:r>
                <a:rPr lang="en-US" sz="1600" dirty="0">
                  <a:solidFill>
                    <a:srgbClr val="221F1A"/>
                  </a:solidFill>
                  <a:latin typeface="Times New Roman" panose="02020603050405020304" pitchFamily="18" charset="0"/>
                  <a:ea typeface="Arial" pitchFamily="34" charset="-122"/>
                  <a:cs typeface="Times New Roman" panose="02020603050405020304" pitchFamily="18" charset="0"/>
                </a:rPr>
                <a:t>Final demonstration</a:t>
              </a:r>
              <a:endParaRPr lang="en-US" sz="1600" dirty="0">
                <a:latin typeface="Times New Roman" panose="02020603050405020304" pitchFamily="18" charset="0"/>
                <a:cs typeface="Times New Roman" panose="02020603050405020304" pitchFamily="18" charset="0"/>
              </a:endParaRPr>
            </a:p>
          </p:txBody>
        </p:sp>
      </p:grpSp>
      <p:sp>
        <p:nvSpPr>
          <p:cNvPr id="22" name="Text 20"/>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600" dirty="0">
                <a:solidFill>
                  <a:srgbClr val="6E665A"/>
                </a:solidFill>
                <a:latin typeface="Times New Roman" panose="02020603050405020304" pitchFamily="18" charset="0"/>
                <a:ea typeface="Arial" pitchFamily="34" charset="-122"/>
                <a:cs typeface="Times New Roman" panose="02020603050405020304" pitchFamily="18" charset="0"/>
              </a:rPr>
              <a:t>Group 19 · Project Review III · 32</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AI-Based MR Visit Prioritization &amp; Route Optimization — Review III">
  <a:themeElements>
    <a:clrScheme name="AI-Based MR Visit Prioritization &amp; Route Optimization — Review III">
      <a:dk1>
        <a:srgbClr val="221F1A"/>
      </a:dk1>
      <a:lt1>
        <a:srgbClr val="F5EFE3"/>
      </a:lt1>
      <a:dk2>
        <a:srgbClr val="57534C"/>
      </a:dk2>
      <a:lt2>
        <a:srgbClr val="E0DACF"/>
      </a:lt2>
      <a:accent1>
        <a:srgbClr val="9E3B25"/>
      </a:accent1>
      <a:accent2>
        <a:srgbClr val="D8A24A"/>
      </a:accent2>
      <a:accent3>
        <a:srgbClr val="6E665A"/>
      </a:accent3>
      <a:accent4>
        <a:srgbClr val="C9C3B3"/>
      </a:accent4>
      <a:accent5>
        <a:srgbClr val="8D9A91"/>
      </a:accent5>
      <a:accent6>
        <a:srgbClr val="9AA0A6"/>
      </a:accent6>
      <a:hlink>
        <a:srgbClr val="0563C1"/>
      </a:hlink>
      <a:folHlink>
        <a:srgbClr val="954F72"/>
      </a:folHlink>
    </a:clrScheme>
    <a:fontScheme name="AI-Based MR Visit Prioritization &amp; Route Optimization — Review III">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2555</Words>
  <Application>Microsoft Office PowerPoint</Application>
  <PresentationFormat>Widescreen</PresentationFormat>
  <Paragraphs>685</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Georgia</vt:lpstr>
      <vt:lpstr>Times New Roman</vt:lpstr>
      <vt:lpstr>AI-Based MR Visit Prioritization &amp; Route Optimization — Review III</vt:lpstr>
      <vt:lpstr>AI-Based Medical Representative</vt:lpstr>
      <vt:lpstr>Problem statement</vt:lpstr>
      <vt:lpstr>Abstract</vt:lpstr>
      <vt:lpstr>Why this project?</vt:lpstr>
      <vt:lpstr>Existing system</vt:lpstr>
      <vt:lpstr>Literature survey</vt:lpstr>
      <vt:lpstr>Research gap</vt:lpstr>
      <vt:lpstr>Three intelligence layers</vt:lpstr>
      <vt:lpstr>Proposed methodology</vt:lpstr>
      <vt:lpstr>System architecture</vt:lpstr>
      <vt:lpstr>Data flow</vt:lpstr>
      <vt:lpstr>Data design</vt:lpstr>
      <vt:lpstr>ML priority prediction</vt:lpstr>
      <vt:lpstr>Feature engineering by example</vt:lpstr>
      <vt:lpstr>Route optimization</vt:lpstr>
      <vt:lpstr>Optimization objective</vt:lpstr>
      <vt:lpstr>Algorithms and techniques used</vt:lpstr>
      <vt:lpstr>Module split-up</vt:lpstr>
      <vt:lpstr>Proposed system UI</vt:lpstr>
      <vt:lpstr>Working module: MR</vt:lpstr>
      <vt:lpstr>Working module: manager</vt:lpstr>
      <vt:lpstr>Complete working flow</vt:lpstr>
      <vt:lpstr>Technology stack</vt:lpstr>
      <vt:lpstr>Database design</vt:lpstr>
      <vt:lpstr>Evaluation</vt:lpstr>
      <vt:lpstr>Baseline comparison</vt:lpstr>
      <vt:lpstr>Challenges and solutions</vt:lpstr>
      <vt:lpstr>Security and privacy</vt:lpstr>
      <vt:lpstr>Limitations</vt:lpstr>
      <vt:lpstr>Future scope</vt:lpstr>
      <vt:lpstr>Current working status</vt:lpstr>
      <vt:lpstr>Semester-I partial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MR Visit Prioritization &amp; Route Optimization — Review III</dc:title>
  <dc:subject/>
  <dc:creator/>
  <cp:lastModifiedBy>Parth Lokhande</cp:lastModifiedBy>
  <cp:revision>4</cp:revision>
  <dcterms:created xsi:type="dcterms:W3CDTF">2026-10-10T05:41:03Z</dcterms:created>
  <dcterms:modified xsi:type="dcterms:W3CDTF">2026-10-10T06:08:04Z</dcterms:modified>
</cp:coreProperties>
</file>