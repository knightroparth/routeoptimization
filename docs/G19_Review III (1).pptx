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47" r:id="rId1"/>
  </p:sldMasterIdLst>
  <p:notesMasterIdLst>
    <p:notesMasterId r:id="rId34"/>
  </p:notesMasterIdLst>
  <p:sldIdLst>
    <p:sldId id="288"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244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6381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smtClean="0"/>
              <a:t>10-Oct-26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888495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smtClean="0"/>
              <a:t>10-Oct-26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129293051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0EBB0C4-6273-4C6E-B9BD-2EDC30F1CD52}" type="datetimeFigureOut">
              <a:rPr lang="en-US" smtClean="0"/>
              <a:t>10-Oct-26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478402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smtClean="0"/>
              <a:t>10-Oct-26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06756915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smtClean="0"/>
              <a:t>10-Oct-26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79043631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smtClean="0"/>
              <a:t>10-Oct-26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1782513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smtClean="0"/>
              <a:t>10-Oct-26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4020444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smtClean="0"/>
              <a:t>10-Oct-26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5656492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9CAD897-D46E-4AD2-BD9B-49DD3E640873}" type="datetimeFigureOut">
              <a:rPr lang="en-US" smtClean="0"/>
              <a:t>10-Oct-26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81360543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smtClean="0"/>
              <a:t>10-Oct-26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3938111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smtClean="0"/>
              <a:t>10-Oct-26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1380539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1638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41400" y="635000"/>
            <a:ext cx="10337800" cy="438150"/>
          </a:xfrm>
          <a:prstGeom prst="rect">
            <a:avLst/>
          </a:prstGeom>
          <a:noFill/>
          <a:ln/>
        </p:spPr>
        <p:txBody>
          <a:bodyPr wrap="square" lIns="0" tIns="0" rIns="0" bIns="0" rtlCol="0" anchor="t"/>
          <a:lstStyle>
            <a:lvl1pPr marL="0" indent="0" algn="l">
              <a:lnSpc>
                <a:spcPct val="115000"/>
              </a:lnSpc>
              <a:buNone/>
              <a:defRPr lang="en-US" sz="3000" dirty="0">
                <a:solidFill>
                  <a:srgbClr val="1F2A44"/>
                </a:solidFill>
                <a:latin typeface="Arial" pitchFamily="34" charset="0"/>
                <a:ea typeface="Arial" pitchFamily="34" charset="-122"/>
                <a:cs typeface="Arial"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1041400" y="1377950"/>
            <a:ext cx="10337800" cy="4667250"/>
          </a:xfrm>
          <a:prstGeom prst="rect">
            <a:avLst/>
          </a:prstGeom>
          <a:noFill/>
          <a:ln/>
        </p:spPr>
        <p:txBody>
          <a:bodyPr wrap="square" lIns="0" tIns="0" rIns="0" bIns="0" rtlCol="0" anchor="t"/>
          <a:lstStyle>
            <a:lvl1pPr marL="0" indent="0" algn="l">
              <a:lnSpc>
                <a:spcPct val="140000"/>
              </a:lnSpc>
              <a:buNone/>
              <a:defRPr lang="en-US" sz="1600" dirty="0">
                <a:solidFill>
                  <a:srgbClr val="1F2A44"/>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956705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smtClean="0"/>
              <a:t>10-Oct-26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8161944"/>
      </p:ext>
    </p:extLst>
  </p:cSld>
  <p:clrMap bg1="lt1" tx1="dk1" bg2="lt2" tx2="dk2" accent1="accent1" accent2="accent2" accent3="accent3" accent4="accent4" accent5="accent5" accent6="accent6" hlink="hlink" folHlink="folHlink"/>
  <p:sldLayoutIdLst>
    <p:sldLayoutId id="2147483948" r:id="rId1"/>
    <p:sldLayoutId id="2147483949" r:id="rId2"/>
    <p:sldLayoutId id="2147483950" r:id="rId3"/>
    <p:sldLayoutId id="2147483951" r:id="rId4"/>
    <p:sldLayoutId id="2147483952" r:id="rId5"/>
    <p:sldLayoutId id="2147483953" r:id="rId6"/>
    <p:sldLayoutId id="2147483954" r:id="rId7"/>
    <p:sldLayoutId id="2147483955" r:id="rId8"/>
    <p:sldLayoutId id="2147483956" r:id="rId9"/>
    <p:sldLayoutId id="2147483957" r:id="rId10"/>
    <p:sldLayoutId id="2147483958" r:id="rId11"/>
    <p:sldLayoutId id="2147483959" r:id="rId12"/>
    <p:sldLayoutId id="2147483960" r:id="rId13"/>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3315C"/>
          </a:solidFill>
          <a:ln/>
        </p:spPr>
      </p:sp>
      <p:sp>
        <p:nvSpPr>
          <p:cNvPr id="3" name="Shape 1"/>
          <p:cNvSpPr/>
          <p:nvPr/>
        </p:nvSpPr>
        <p:spPr>
          <a:xfrm>
            <a:off x="10607040" y="-182880"/>
            <a:ext cx="2194560" cy="2194560"/>
          </a:xfrm>
          <a:prstGeom prst="ellipse">
            <a:avLst/>
          </a:prstGeom>
          <a:solidFill>
            <a:srgbClr val="028090"/>
          </a:solidFill>
          <a:ln/>
        </p:spPr>
      </p:sp>
      <p:sp>
        <p:nvSpPr>
          <p:cNvPr id="4" name="Shape 2"/>
          <p:cNvSpPr/>
          <p:nvPr/>
        </p:nvSpPr>
        <p:spPr>
          <a:xfrm>
            <a:off x="-1280160" y="4937760"/>
            <a:ext cx="3291840" cy="3291840"/>
          </a:xfrm>
          <a:prstGeom prst="ellipse">
            <a:avLst/>
          </a:prstGeom>
          <a:solidFill>
            <a:srgbClr val="13315C"/>
          </a:solidFill>
          <a:ln/>
        </p:spPr>
      </p:sp>
      <p:sp>
        <p:nvSpPr>
          <p:cNvPr id="5" name="Text 3"/>
          <p:cNvSpPr/>
          <p:nvPr/>
        </p:nvSpPr>
        <p:spPr>
          <a:xfrm>
            <a:off x="841248" y="1263277"/>
            <a:ext cx="10058400" cy="365760"/>
          </a:xfrm>
          <a:prstGeom prst="rect">
            <a:avLst/>
          </a:prstGeom>
          <a:noFill/>
          <a:ln/>
        </p:spPr>
        <p:txBody>
          <a:bodyPr wrap="square" rtlCol="0" anchor="ctr"/>
          <a:lstStyle/>
          <a:p>
            <a:pPr defTabSz="914377"/>
            <a:r>
              <a:rPr lang="en-US" sz="1300" b="1" kern="0" spc="200" dirty="0">
                <a:solidFill>
                  <a:srgbClr val="02C39A"/>
                </a:solidFill>
                <a:latin typeface="Times New Roman" panose="02020603050405020304" pitchFamily="18" charset="0"/>
                <a:ea typeface="Calibri" pitchFamily="34" charset="-122"/>
                <a:cs typeface="Times New Roman" panose="02020603050405020304" pitchFamily="18" charset="0"/>
              </a:rPr>
              <a:t>PROJECT REVIEW III: COMPLETION OF DESIGN</a:t>
            </a:r>
            <a:endParaRPr lang="en-US" sz="1300" dirty="0">
              <a:solidFill>
                <a:prstClr val="black"/>
              </a:solidFill>
              <a:latin typeface="Times New Roman" panose="02020603050405020304" pitchFamily="18" charset="0"/>
              <a:cs typeface="Times New Roman" panose="02020603050405020304" pitchFamily="18" charset="0"/>
            </a:endParaRPr>
          </a:p>
        </p:txBody>
      </p:sp>
      <p:sp>
        <p:nvSpPr>
          <p:cNvPr id="6" name="Text 4"/>
          <p:cNvSpPr/>
          <p:nvPr/>
        </p:nvSpPr>
        <p:spPr>
          <a:xfrm>
            <a:off x="822960" y="1623479"/>
            <a:ext cx="10241280" cy="731520"/>
          </a:xfrm>
          <a:prstGeom prst="rect">
            <a:avLst/>
          </a:prstGeom>
          <a:noFill/>
          <a:ln/>
        </p:spPr>
        <p:txBody>
          <a:bodyPr wrap="square" rtlCol="0" anchor="ctr"/>
          <a:lstStyle/>
          <a:p>
            <a:pPr defTabSz="914377"/>
            <a:r>
              <a:rPr lang="en-US" sz="4000" b="1" dirty="0">
                <a:solidFill>
                  <a:srgbClr val="FFFFFF"/>
                </a:solidFill>
                <a:latin typeface="Times New Roman" panose="02020603050405020304" pitchFamily="18" charset="0"/>
                <a:ea typeface="Cambria" pitchFamily="34" charset="-122"/>
                <a:cs typeface="Times New Roman" panose="02020603050405020304" pitchFamily="18" charset="0"/>
              </a:rPr>
              <a:t>AI-Based Medical Representative</a:t>
            </a:r>
            <a:endParaRPr lang="en-US" sz="4000" dirty="0">
              <a:solidFill>
                <a:prstClr val="black"/>
              </a:solidFill>
              <a:latin typeface="Times New Roman" panose="02020603050405020304" pitchFamily="18" charset="0"/>
              <a:cs typeface="Times New Roman" panose="02020603050405020304" pitchFamily="18" charset="0"/>
            </a:endParaRPr>
          </a:p>
        </p:txBody>
      </p:sp>
      <p:sp>
        <p:nvSpPr>
          <p:cNvPr id="7" name="Text 5"/>
          <p:cNvSpPr/>
          <p:nvPr/>
        </p:nvSpPr>
        <p:spPr>
          <a:xfrm>
            <a:off x="822960" y="2148840"/>
            <a:ext cx="10241280" cy="640080"/>
          </a:xfrm>
          <a:prstGeom prst="rect">
            <a:avLst/>
          </a:prstGeom>
          <a:noFill/>
          <a:ln/>
        </p:spPr>
        <p:txBody>
          <a:bodyPr wrap="square" rtlCol="0" anchor="ctr"/>
          <a:lstStyle/>
          <a:p>
            <a:pPr defTabSz="914377"/>
            <a:r>
              <a:rPr lang="en-US" sz="2600" b="1" dirty="0">
                <a:solidFill>
                  <a:srgbClr val="CFE8E3"/>
                </a:solidFill>
                <a:latin typeface="Times New Roman" panose="02020603050405020304" pitchFamily="18" charset="0"/>
                <a:ea typeface="Cambria" pitchFamily="34" charset="-122"/>
                <a:cs typeface="Times New Roman" panose="02020603050405020304" pitchFamily="18" charset="0"/>
              </a:rPr>
              <a:t>Visit Prioritization &amp; Route Optimization System</a:t>
            </a:r>
            <a:endParaRPr lang="en-US" sz="2600" dirty="0">
              <a:solidFill>
                <a:prstClr val="black"/>
              </a:solidFill>
              <a:latin typeface="Times New Roman" panose="02020603050405020304" pitchFamily="18" charset="0"/>
              <a:cs typeface="Times New Roman" panose="02020603050405020304" pitchFamily="18" charset="0"/>
            </a:endParaRPr>
          </a:p>
        </p:txBody>
      </p:sp>
      <p:sp>
        <p:nvSpPr>
          <p:cNvPr id="8" name="Shape 6"/>
          <p:cNvSpPr/>
          <p:nvPr/>
        </p:nvSpPr>
        <p:spPr>
          <a:xfrm>
            <a:off x="841248" y="2926080"/>
            <a:ext cx="2194560" cy="0"/>
          </a:xfrm>
          <a:prstGeom prst="line">
            <a:avLst/>
          </a:prstGeom>
          <a:noFill/>
          <a:ln w="31750">
            <a:solidFill>
              <a:srgbClr val="02C39A"/>
            </a:solidFill>
            <a:prstDash val="solid"/>
          </a:ln>
        </p:spPr>
      </p:sp>
      <p:sp>
        <p:nvSpPr>
          <p:cNvPr id="9" name="Text 7"/>
          <p:cNvSpPr/>
          <p:nvPr/>
        </p:nvSpPr>
        <p:spPr>
          <a:xfrm>
            <a:off x="822960" y="3108960"/>
            <a:ext cx="7863840" cy="640080"/>
          </a:xfrm>
          <a:prstGeom prst="rect">
            <a:avLst/>
          </a:prstGeom>
          <a:noFill/>
          <a:ln/>
        </p:spPr>
        <p:txBody>
          <a:bodyPr wrap="square" rtlCol="0" anchor="ctr"/>
          <a:lstStyle/>
          <a:p>
            <a:pPr defTabSz="914377"/>
            <a:r>
              <a:rPr lang="en-US" sz="1400" dirty="0">
                <a:solidFill>
                  <a:srgbClr val="C7D8E6"/>
                </a:solidFill>
                <a:latin typeface="Times New Roman" panose="02020603050405020304" pitchFamily="18" charset="0"/>
                <a:ea typeface="Calibri" pitchFamily="34" charset="-122"/>
                <a:cs typeface="Times New Roman" panose="02020603050405020304" pitchFamily="18" charset="0"/>
              </a:rPr>
              <a:t>A predictive AI, constraint-based route optimization platform that turns daily doctor visit planning from guesswork into a data driven decision.</a:t>
            </a:r>
            <a:endParaRPr lang="en-US" sz="1400" dirty="0">
              <a:solidFill>
                <a:prstClr val="black"/>
              </a:solidFill>
              <a:latin typeface="Times New Roman" panose="02020603050405020304" pitchFamily="18" charset="0"/>
              <a:cs typeface="Times New Roman" panose="02020603050405020304" pitchFamily="18" charset="0"/>
            </a:endParaRPr>
          </a:p>
        </p:txBody>
      </p:sp>
      <p:sp>
        <p:nvSpPr>
          <p:cNvPr id="10" name="Shape 8"/>
          <p:cNvSpPr/>
          <p:nvPr/>
        </p:nvSpPr>
        <p:spPr>
          <a:xfrm>
            <a:off x="822960" y="4114800"/>
            <a:ext cx="6035040" cy="1965960"/>
          </a:xfrm>
          <a:prstGeom prst="roundRect">
            <a:avLst>
              <a:gd name="adj" fmla="val 3721"/>
            </a:avLst>
          </a:prstGeom>
          <a:solidFill>
            <a:srgbClr val="13315C"/>
          </a:solidFill>
          <a:ln w="12700">
            <a:solidFill>
              <a:srgbClr val="1E3A5F"/>
            </a:solidFill>
            <a:prstDash val="solid"/>
          </a:ln>
          <a:effectLst>
            <a:outerShdw blurRad="76200" dist="25400" dir="5400000" algn="bl" rotWithShape="0">
              <a:srgbClr val="1B2A3A">
                <a:alpha val="12000"/>
              </a:srgbClr>
            </a:outerShdw>
          </a:effectLst>
        </p:spPr>
      </p:sp>
      <p:sp>
        <p:nvSpPr>
          <p:cNvPr id="11" name="Text 9"/>
          <p:cNvSpPr/>
          <p:nvPr/>
        </p:nvSpPr>
        <p:spPr>
          <a:xfrm>
            <a:off x="1143000" y="4279392"/>
            <a:ext cx="5486400" cy="274320"/>
          </a:xfrm>
          <a:prstGeom prst="rect">
            <a:avLst/>
          </a:prstGeom>
          <a:noFill/>
          <a:ln/>
        </p:spPr>
        <p:txBody>
          <a:bodyPr wrap="square" rtlCol="0" anchor="ctr"/>
          <a:lstStyle/>
          <a:p>
            <a:pPr defTabSz="914377"/>
            <a:r>
              <a:rPr lang="en-US" sz="1100" b="1" kern="0" spc="151" dirty="0">
                <a:solidFill>
                  <a:srgbClr val="02C39A"/>
                </a:solidFill>
                <a:latin typeface="Times New Roman" panose="02020603050405020304" pitchFamily="18" charset="0"/>
                <a:ea typeface="Calibri" pitchFamily="34" charset="-122"/>
                <a:cs typeface="Times New Roman" panose="02020603050405020304" pitchFamily="18" charset="0"/>
              </a:rPr>
              <a:t>PROJECT TEAM  •  GROUP 19</a:t>
            </a:r>
            <a:endParaRPr lang="en-US" sz="1100" dirty="0">
              <a:solidFill>
                <a:prstClr val="black"/>
              </a:solidFill>
              <a:latin typeface="Times New Roman" panose="02020603050405020304" pitchFamily="18" charset="0"/>
              <a:cs typeface="Times New Roman" panose="02020603050405020304" pitchFamily="18" charset="0"/>
            </a:endParaRPr>
          </a:p>
        </p:txBody>
      </p:sp>
      <p:sp>
        <p:nvSpPr>
          <p:cNvPr id="12" name="Text 10"/>
          <p:cNvSpPr/>
          <p:nvPr/>
        </p:nvSpPr>
        <p:spPr>
          <a:xfrm>
            <a:off x="1143000" y="4617720"/>
            <a:ext cx="5394960" cy="329184"/>
          </a:xfrm>
          <a:prstGeom prst="rect">
            <a:avLst/>
          </a:prstGeom>
          <a:noFill/>
          <a:ln/>
        </p:spPr>
        <p:txBody>
          <a:bodyPr wrap="square" rtlCol="0" anchor="ctr"/>
          <a:lstStyle/>
          <a:p>
            <a:pPr defTabSz="914377"/>
            <a:r>
              <a:rPr lang="en-US" sz="1451" dirty="0">
                <a:solidFill>
                  <a:srgbClr val="FFFFFF"/>
                </a:solidFill>
                <a:latin typeface="Times New Roman" panose="02020603050405020304" pitchFamily="18" charset="0"/>
                <a:ea typeface="Calibri" pitchFamily="34" charset="-122"/>
                <a:cs typeface="Times New Roman" panose="02020603050405020304" pitchFamily="18" charset="0"/>
              </a:rPr>
              <a:t>Bhakti Jayantilal Gundecha   —   3071</a:t>
            </a:r>
            <a:endParaRPr lang="en-US" sz="1451" dirty="0">
              <a:solidFill>
                <a:prstClr val="black"/>
              </a:solidFill>
              <a:latin typeface="Times New Roman" panose="02020603050405020304" pitchFamily="18" charset="0"/>
              <a:cs typeface="Times New Roman" panose="02020603050405020304" pitchFamily="18" charset="0"/>
            </a:endParaRPr>
          </a:p>
        </p:txBody>
      </p:sp>
      <p:sp>
        <p:nvSpPr>
          <p:cNvPr id="13" name="Text 11"/>
          <p:cNvSpPr/>
          <p:nvPr/>
        </p:nvSpPr>
        <p:spPr>
          <a:xfrm>
            <a:off x="1143000" y="5001768"/>
            <a:ext cx="5394960" cy="329184"/>
          </a:xfrm>
          <a:prstGeom prst="rect">
            <a:avLst/>
          </a:prstGeom>
          <a:noFill/>
          <a:ln/>
        </p:spPr>
        <p:txBody>
          <a:bodyPr wrap="square" rtlCol="0" anchor="ctr"/>
          <a:lstStyle/>
          <a:p>
            <a:pPr defTabSz="914377"/>
            <a:r>
              <a:rPr lang="en-US" sz="1451" dirty="0">
                <a:solidFill>
                  <a:srgbClr val="FFFFFF"/>
                </a:solidFill>
                <a:latin typeface="Times New Roman" panose="02020603050405020304" pitchFamily="18" charset="0"/>
                <a:ea typeface="Calibri" pitchFamily="34" charset="-122"/>
                <a:cs typeface="Times New Roman" panose="02020603050405020304" pitchFamily="18" charset="0"/>
              </a:rPr>
              <a:t>Parth Lokhande   —   1020</a:t>
            </a:r>
            <a:endParaRPr lang="en-US" sz="1451" dirty="0">
              <a:solidFill>
                <a:prstClr val="black"/>
              </a:solidFill>
              <a:latin typeface="Times New Roman" panose="02020603050405020304" pitchFamily="18" charset="0"/>
              <a:cs typeface="Times New Roman" panose="02020603050405020304" pitchFamily="18" charset="0"/>
            </a:endParaRPr>
          </a:p>
        </p:txBody>
      </p:sp>
      <p:sp>
        <p:nvSpPr>
          <p:cNvPr id="14" name="Text 12"/>
          <p:cNvSpPr/>
          <p:nvPr/>
        </p:nvSpPr>
        <p:spPr>
          <a:xfrm>
            <a:off x="1143000" y="5385816"/>
            <a:ext cx="5394960" cy="329184"/>
          </a:xfrm>
          <a:prstGeom prst="rect">
            <a:avLst/>
          </a:prstGeom>
          <a:noFill/>
          <a:ln/>
        </p:spPr>
        <p:txBody>
          <a:bodyPr wrap="square" rtlCol="0" anchor="ctr"/>
          <a:lstStyle/>
          <a:p>
            <a:pPr defTabSz="914377"/>
            <a:r>
              <a:rPr lang="en-US" sz="1451" dirty="0">
                <a:solidFill>
                  <a:srgbClr val="FFFFFF"/>
                </a:solidFill>
                <a:latin typeface="Times New Roman" panose="02020603050405020304" pitchFamily="18" charset="0"/>
                <a:ea typeface="Calibri" pitchFamily="34" charset="-122"/>
                <a:cs typeface="Times New Roman" panose="02020603050405020304" pitchFamily="18" charset="0"/>
              </a:rPr>
              <a:t>Udaykiran Bitla   —   3056</a:t>
            </a:r>
            <a:endParaRPr lang="en-US" sz="1451" dirty="0">
              <a:solidFill>
                <a:prstClr val="black"/>
              </a:solidFill>
              <a:latin typeface="Times New Roman" panose="02020603050405020304" pitchFamily="18" charset="0"/>
              <a:cs typeface="Times New Roman" panose="02020603050405020304" pitchFamily="18" charset="0"/>
            </a:endParaRPr>
          </a:p>
        </p:txBody>
      </p:sp>
      <p:sp>
        <p:nvSpPr>
          <p:cNvPr id="15" name="Text 13"/>
          <p:cNvSpPr/>
          <p:nvPr/>
        </p:nvSpPr>
        <p:spPr>
          <a:xfrm>
            <a:off x="1143000" y="5806440"/>
            <a:ext cx="5394960" cy="274320"/>
          </a:xfrm>
          <a:prstGeom prst="rect">
            <a:avLst/>
          </a:prstGeom>
          <a:noFill/>
          <a:ln/>
        </p:spPr>
        <p:txBody>
          <a:bodyPr wrap="square" rtlCol="0" anchor="ctr"/>
          <a:lstStyle/>
          <a:p>
            <a:pPr defTabSz="914377"/>
            <a:r>
              <a:rPr lang="en-US" sz="1251" b="1" u="sng" dirty="0">
                <a:solidFill>
                  <a:srgbClr val="AFC4D6"/>
                </a:solidFill>
                <a:latin typeface="Times New Roman" panose="02020603050405020304" pitchFamily="18" charset="0"/>
                <a:ea typeface="Calibri" pitchFamily="34" charset="-122"/>
                <a:cs typeface="Times New Roman" panose="02020603050405020304" pitchFamily="18" charset="0"/>
              </a:rPr>
              <a:t>Internal Guide: Prof. M. U. Buchade</a:t>
            </a:r>
            <a:endParaRPr lang="en-US" sz="1251" b="1" u="sng" dirty="0">
              <a:solidFill>
                <a:prstClr val="black"/>
              </a:solidFill>
              <a:latin typeface="Times New Roman" panose="02020603050405020304" pitchFamily="18" charset="0"/>
              <a:cs typeface="Times New Roman" panose="02020603050405020304" pitchFamily="18" charset="0"/>
            </a:endParaRPr>
          </a:p>
        </p:txBody>
      </p:sp>
      <p:sp>
        <p:nvSpPr>
          <p:cNvPr id="16" name="Shape 14"/>
          <p:cNvSpPr/>
          <p:nvPr/>
        </p:nvSpPr>
        <p:spPr>
          <a:xfrm>
            <a:off x="7086600" y="4114800"/>
            <a:ext cx="4279392" cy="1965960"/>
          </a:xfrm>
          <a:prstGeom prst="roundRect">
            <a:avLst>
              <a:gd name="adj" fmla="val 3721"/>
            </a:avLst>
          </a:prstGeom>
          <a:solidFill>
            <a:srgbClr val="13315C"/>
          </a:solidFill>
          <a:ln w="12700">
            <a:solidFill>
              <a:srgbClr val="1E3A5F"/>
            </a:solidFill>
            <a:prstDash val="solid"/>
          </a:ln>
          <a:effectLst>
            <a:outerShdw blurRad="76200" dist="25400" dir="5400000" algn="bl" rotWithShape="0">
              <a:srgbClr val="1B2A3A">
                <a:alpha val="12000"/>
              </a:srgbClr>
            </a:outerShdw>
          </a:effectLst>
        </p:spPr>
      </p:sp>
      <p:sp>
        <p:nvSpPr>
          <p:cNvPr id="17" name="Text 15"/>
          <p:cNvSpPr/>
          <p:nvPr/>
        </p:nvSpPr>
        <p:spPr>
          <a:xfrm>
            <a:off x="7360920" y="4279392"/>
            <a:ext cx="3749040" cy="274320"/>
          </a:xfrm>
          <a:prstGeom prst="rect">
            <a:avLst/>
          </a:prstGeom>
          <a:noFill/>
          <a:ln/>
        </p:spPr>
        <p:txBody>
          <a:bodyPr wrap="square" rtlCol="0" anchor="ctr"/>
          <a:lstStyle/>
          <a:p>
            <a:pPr defTabSz="914377"/>
            <a:r>
              <a:rPr lang="en-US" sz="1100" b="1" kern="0" spc="151" dirty="0">
                <a:solidFill>
                  <a:srgbClr val="02C39A"/>
                </a:solidFill>
                <a:latin typeface="Times New Roman" panose="02020603050405020304" pitchFamily="18" charset="0"/>
                <a:ea typeface="Calibri" pitchFamily="34" charset="-122"/>
                <a:cs typeface="Times New Roman" panose="02020603050405020304" pitchFamily="18" charset="0"/>
              </a:rPr>
              <a:t>INSTITUTE</a:t>
            </a:r>
            <a:endParaRPr lang="en-US" sz="1100" dirty="0">
              <a:solidFill>
                <a:prstClr val="black"/>
              </a:solidFill>
              <a:latin typeface="Times New Roman" panose="02020603050405020304" pitchFamily="18" charset="0"/>
              <a:cs typeface="Times New Roman" panose="02020603050405020304" pitchFamily="18" charset="0"/>
            </a:endParaRPr>
          </a:p>
        </p:txBody>
      </p:sp>
      <p:sp>
        <p:nvSpPr>
          <p:cNvPr id="18" name="Text 16"/>
          <p:cNvSpPr/>
          <p:nvPr/>
        </p:nvSpPr>
        <p:spPr>
          <a:xfrm>
            <a:off x="7360920" y="4590288"/>
            <a:ext cx="3749040" cy="914400"/>
          </a:xfrm>
          <a:prstGeom prst="rect">
            <a:avLst/>
          </a:prstGeom>
          <a:noFill/>
          <a:ln/>
        </p:spPr>
        <p:txBody>
          <a:bodyPr wrap="square" rtlCol="0" anchor="ctr"/>
          <a:lstStyle/>
          <a:p>
            <a:pPr defTabSz="914377">
              <a:lnSpc>
                <a:spcPct val="115000"/>
              </a:lnSpc>
            </a:pPr>
            <a:r>
              <a:rPr lang="en-US" sz="1351" dirty="0">
                <a:solidFill>
                  <a:srgbClr val="FFFFFF"/>
                </a:solidFill>
                <a:latin typeface="Times New Roman" panose="02020603050405020304" pitchFamily="18" charset="0"/>
                <a:ea typeface="Calibri" pitchFamily="34" charset="-122"/>
                <a:cs typeface="Times New Roman" panose="02020603050405020304" pitchFamily="18" charset="0"/>
              </a:rPr>
              <a:t>Pune Vidyarthi Griha's</a:t>
            </a:r>
            <a:endParaRPr lang="en-US" sz="1351" dirty="0">
              <a:solidFill>
                <a:prstClr val="black"/>
              </a:solidFill>
              <a:latin typeface="Times New Roman" panose="02020603050405020304" pitchFamily="18" charset="0"/>
              <a:cs typeface="Times New Roman" panose="02020603050405020304" pitchFamily="18" charset="0"/>
            </a:endParaRPr>
          </a:p>
          <a:p>
            <a:pPr defTabSz="914377">
              <a:lnSpc>
                <a:spcPct val="115000"/>
              </a:lnSpc>
            </a:pPr>
            <a:r>
              <a:rPr lang="en-US" sz="1351" dirty="0">
                <a:solidFill>
                  <a:srgbClr val="FFFFFF"/>
                </a:solidFill>
                <a:latin typeface="Times New Roman" panose="02020603050405020304" pitchFamily="18" charset="0"/>
                <a:ea typeface="Calibri" pitchFamily="34" charset="-122"/>
                <a:cs typeface="Times New Roman" panose="02020603050405020304" pitchFamily="18" charset="0"/>
              </a:rPr>
              <a:t>College of Engineering, Technology</a:t>
            </a:r>
            <a:endParaRPr lang="en-US" sz="1351" dirty="0">
              <a:solidFill>
                <a:prstClr val="black"/>
              </a:solidFill>
              <a:latin typeface="Times New Roman" panose="02020603050405020304" pitchFamily="18" charset="0"/>
              <a:cs typeface="Times New Roman" panose="02020603050405020304" pitchFamily="18" charset="0"/>
            </a:endParaRPr>
          </a:p>
          <a:p>
            <a:pPr defTabSz="914377">
              <a:lnSpc>
                <a:spcPct val="115000"/>
              </a:lnSpc>
            </a:pPr>
            <a:r>
              <a:rPr lang="en-US" sz="1351" dirty="0">
                <a:solidFill>
                  <a:srgbClr val="FFFFFF"/>
                </a:solidFill>
                <a:latin typeface="Times New Roman" panose="02020603050405020304" pitchFamily="18" charset="0"/>
                <a:ea typeface="Calibri" pitchFamily="34" charset="-122"/>
                <a:cs typeface="Times New Roman" panose="02020603050405020304" pitchFamily="18" charset="0"/>
              </a:rPr>
              <a:t>&amp; Management, Pune</a:t>
            </a:r>
            <a:endParaRPr lang="en-US" sz="1351" dirty="0">
              <a:solidFill>
                <a:prstClr val="black"/>
              </a:solidFill>
              <a:latin typeface="Times New Roman" panose="02020603050405020304" pitchFamily="18" charset="0"/>
              <a:cs typeface="Times New Roman" panose="02020603050405020304" pitchFamily="18" charset="0"/>
            </a:endParaRPr>
          </a:p>
        </p:txBody>
      </p:sp>
      <p:sp>
        <p:nvSpPr>
          <p:cNvPr id="19" name="Text 17"/>
          <p:cNvSpPr/>
          <p:nvPr/>
        </p:nvSpPr>
        <p:spPr>
          <a:xfrm>
            <a:off x="7360920" y="5468112"/>
            <a:ext cx="3749040" cy="548640"/>
          </a:xfrm>
          <a:prstGeom prst="rect">
            <a:avLst/>
          </a:prstGeom>
          <a:noFill/>
          <a:ln/>
        </p:spPr>
        <p:txBody>
          <a:bodyPr wrap="square" rtlCol="0" anchor="ctr"/>
          <a:lstStyle/>
          <a:p>
            <a:pPr defTabSz="914377">
              <a:lnSpc>
                <a:spcPct val="110000"/>
              </a:lnSpc>
            </a:pPr>
            <a:r>
              <a:rPr lang="en-US" sz="1200" dirty="0">
                <a:solidFill>
                  <a:srgbClr val="AFC4D6"/>
                </a:solidFill>
                <a:latin typeface="Times New Roman" panose="02020603050405020304" pitchFamily="18" charset="0"/>
                <a:ea typeface="Calibri" pitchFamily="34" charset="-122"/>
                <a:cs typeface="Times New Roman" panose="02020603050405020304" pitchFamily="18" charset="0"/>
              </a:rPr>
              <a:t>Department of Artificial Intelligence</a:t>
            </a:r>
            <a:endParaRPr lang="en-US" sz="1200" dirty="0">
              <a:solidFill>
                <a:prstClr val="black"/>
              </a:solidFill>
              <a:latin typeface="Times New Roman" panose="02020603050405020304" pitchFamily="18" charset="0"/>
              <a:cs typeface="Times New Roman" panose="02020603050405020304" pitchFamily="18" charset="0"/>
            </a:endParaRPr>
          </a:p>
          <a:p>
            <a:pPr defTabSz="914377">
              <a:lnSpc>
                <a:spcPct val="110000"/>
              </a:lnSpc>
            </a:pPr>
            <a:r>
              <a:rPr lang="en-US" sz="1200" dirty="0">
                <a:solidFill>
                  <a:srgbClr val="AFC4D6"/>
                </a:solidFill>
                <a:latin typeface="Times New Roman" panose="02020603050405020304" pitchFamily="18" charset="0"/>
                <a:ea typeface="Calibri" pitchFamily="34" charset="-122"/>
                <a:cs typeface="Times New Roman" panose="02020603050405020304" pitchFamily="18" charset="0"/>
              </a:rPr>
              <a:t>&amp; Data Science</a:t>
            </a:r>
            <a:endParaRPr lang="en-US" sz="1200"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3705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850900" y="1121041"/>
            <a:ext cx="0" cy="438151"/>
          </a:xfrm>
          <a:prstGeom prst="line">
            <a:avLst/>
          </a:prstGeom>
          <a:noFill/>
          <a:ln w="76200">
            <a:solidFill>
              <a:schemeClr val="accent2"/>
            </a:solidFill>
            <a:prstDash val="solid"/>
          </a:ln>
        </p:spPr>
      </p:sp>
      <p:sp>
        <p:nvSpPr>
          <p:cNvPr id="3" name="Text 1"/>
          <p:cNvSpPr>
            <a:spLocks noGrp="1"/>
          </p:cNvSpPr>
          <p:nvPr>
            <p:ph type="title"/>
          </p:nvPr>
        </p:nvSpPr>
        <p:spPr>
          <a:xfrm>
            <a:off x="910844" y="1121041"/>
            <a:ext cx="10531731" cy="463551"/>
          </a:xfrm>
          <a:prstGeom prst="rect">
            <a:avLst/>
          </a:prstGeom>
          <a:noFill/>
          <a:ln/>
        </p:spPr>
        <p:txBody>
          <a:bodyPr vert="horz" wrap="square" lIns="0" tIns="0" rIns="0" bIns="0" rtlCol="0" anchor="ctr">
            <a:normAutofit fontScale="90000"/>
          </a:bodyPr>
          <a:lstStyle/>
          <a:p>
            <a:pPr algn="just">
              <a:lnSpc>
                <a:spcPct val="100000"/>
              </a:lnSpc>
            </a:pPr>
            <a:r>
              <a:rPr lang="en-US" sz="3600" b="1" dirty="0">
                <a:latin typeface="Times New Roman" panose="02020603050405020304" pitchFamily="18" charset="0"/>
                <a:cs typeface="Times New Roman" panose="02020603050405020304" pitchFamily="18" charset="0"/>
              </a:rPr>
              <a:t>Problem Statement</a:t>
            </a:r>
            <a:endParaRPr lang="en-US" sz="3600" dirty="0">
              <a:latin typeface="Times New Roman" panose="02020603050405020304" pitchFamily="18" charset="0"/>
              <a:cs typeface="Times New Roman" panose="02020603050405020304" pitchFamily="18" charset="0"/>
            </a:endParaRPr>
          </a:p>
        </p:txBody>
      </p:sp>
      <p:sp>
        <p:nvSpPr>
          <p:cNvPr id="4" name="Text 2"/>
          <p:cNvSpPr/>
          <p:nvPr/>
        </p:nvSpPr>
        <p:spPr>
          <a:xfrm>
            <a:off x="1194304" y="1887077"/>
            <a:ext cx="10554470" cy="505460"/>
          </a:xfrm>
          <a:prstGeom prst="rect">
            <a:avLst/>
          </a:prstGeom>
          <a:noFill/>
          <a:ln/>
        </p:spPr>
        <p:txBody>
          <a:bodyPr wrap="square" lIns="0" tIns="0" rIns="0" bIns="0" rtlCol="0" anchor="ctr">
            <a:normAutofit lnSpcReduction="10000"/>
          </a:bodyPr>
          <a:lstStyle/>
          <a:p>
            <a:pPr algn="just"/>
            <a:r>
              <a:rPr lang="en-US" dirty="0">
                <a:solidFill>
                  <a:srgbClr val="1F2A44"/>
                </a:solidFill>
                <a:latin typeface="Times New Roman" panose="02020603050405020304" pitchFamily="18" charset="0"/>
                <a:ea typeface="Arial" pitchFamily="34" charset="-122"/>
                <a:cs typeface="Times New Roman" panose="02020603050405020304" pitchFamily="18" charset="0"/>
              </a:rPr>
              <a:t>Medical Representatives need to visit multiple doctors during a working day. Manual planning becomes difficult when the number of doctors increases and each doctor has different:</a:t>
            </a:r>
            <a:endParaRPr lang="en-US" dirty="0">
              <a:latin typeface="Times New Roman" panose="02020603050405020304" pitchFamily="18" charset="0"/>
              <a:cs typeface="Times New Roman" panose="02020603050405020304" pitchFamily="18" charset="0"/>
            </a:endParaRPr>
          </a:p>
        </p:txBody>
      </p:sp>
      <p:sp>
        <p:nvSpPr>
          <p:cNvPr id="5" name="Text 3"/>
          <p:cNvSpPr/>
          <p:nvPr/>
        </p:nvSpPr>
        <p:spPr>
          <a:xfrm>
            <a:off x="1215647" y="2552744"/>
            <a:ext cx="2324576" cy="520700"/>
          </a:xfrm>
          <a:prstGeom prst="rect">
            <a:avLst/>
          </a:prstGeom>
          <a:noFill/>
          <a:ln/>
        </p:spPr>
        <p:txBody>
          <a:bodyPr wrap="square" lIns="0" tIns="0" rIns="0" bIns="0" rtlCol="0" anchor="ctr">
            <a:normAutofit/>
          </a:bodyPr>
          <a:lstStyle/>
          <a:p>
            <a:pPr marL="155952" indent="-155952" algn="just">
              <a:buSzPct val="100000"/>
              <a:buChar char="•"/>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Priority</a:t>
            </a:r>
            <a:endParaRPr lang="en-US" sz="1600" dirty="0">
              <a:latin typeface="Times New Roman" panose="02020603050405020304" pitchFamily="18" charset="0"/>
              <a:cs typeface="Times New Roman" panose="02020603050405020304" pitchFamily="18" charset="0"/>
            </a:endParaRPr>
          </a:p>
          <a:p>
            <a:pPr marL="155952" indent="-155952" algn="just">
              <a:buSzPct val="100000"/>
              <a:buChar char="•"/>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Availability</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3933447" y="2552744"/>
            <a:ext cx="2324576" cy="520700"/>
          </a:xfrm>
          <a:prstGeom prst="rect">
            <a:avLst/>
          </a:prstGeom>
          <a:noFill/>
          <a:ln/>
        </p:spPr>
        <p:txBody>
          <a:bodyPr wrap="square" lIns="0" tIns="0" rIns="0" bIns="0" rtlCol="0" anchor="ctr">
            <a:normAutofit/>
          </a:bodyPr>
          <a:lstStyle/>
          <a:p>
            <a:pPr marL="155952" indent="-155952" algn="just">
              <a:buSzPct val="100000"/>
              <a:buChar char="•"/>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Preferred visit time</a:t>
            </a:r>
            <a:endParaRPr lang="en-US" sz="1600" dirty="0">
              <a:latin typeface="Times New Roman" panose="02020603050405020304" pitchFamily="18" charset="0"/>
              <a:cs typeface="Times New Roman" panose="02020603050405020304" pitchFamily="18" charset="0"/>
            </a:endParaRPr>
          </a:p>
          <a:p>
            <a:pPr marL="155952" indent="-155952" algn="just">
              <a:buSzPct val="100000"/>
              <a:buChar char="•"/>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Visit duration</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6651247" y="2552744"/>
            <a:ext cx="2324576" cy="520700"/>
          </a:xfrm>
          <a:prstGeom prst="rect">
            <a:avLst/>
          </a:prstGeom>
          <a:noFill/>
          <a:ln/>
        </p:spPr>
        <p:txBody>
          <a:bodyPr wrap="square" lIns="0" tIns="0" rIns="0" bIns="0" rtlCol="0" anchor="ctr">
            <a:normAutofit/>
          </a:bodyPr>
          <a:lstStyle/>
          <a:p>
            <a:pPr marL="155952" indent="-155952" algn="just">
              <a:buSzPct val="100000"/>
              <a:buChar char="•"/>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Location</a:t>
            </a:r>
            <a:endParaRPr lang="en-US" sz="1600" dirty="0">
              <a:latin typeface="Times New Roman" panose="02020603050405020304" pitchFamily="18" charset="0"/>
              <a:cs typeface="Times New Roman" panose="02020603050405020304" pitchFamily="18" charset="0"/>
            </a:endParaRPr>
          </a:p>
          <a:p>
            <a:pPr marL="155952" indent="-155952" algn="just">
              <a:buSzPct val="100000"/>
              <a:buChar char="•"/>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Follow-up requirement</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9369047" y="2552744"/>
            <a:ext cx="2324576" cy="520700"/>
          </a:xfrm>
          <a:prstGeom prst="rect">
            <a:avLst/>
          </a:prstGeom>
          <a:noFill/>
          <a:ln/>
        </p:spPr>
        <p:txBody>
          <a:bodyPr wrap="square" lIns="0" tIns="0" rIns="0" bIns="0" rtlCol="0" anchor="ctr">
            <a:normAutofit/>
          </a:bodyPr>
          <a:lstStyle/>
          <a:p>
            <a:pPr marL="155952" indent="-155952" algn="just">
              <a:buSzPct val="100000"/>
              <a:buChar char="•"/>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Travel time</a:t>
            </a:r>
            <a:endParaRPr lang="en-US" sz="1600" dirty="0">
              <a:latin typeface="Times New Roman" panose="02020603050405020304" pitchFamily="18" charset="0"/>
              <a:cs typeface="Times New Roman" panose="02020603050405020304" pitchFamily="18" charset="0"/>
            </a:endParaRPr>
          </a:p>
          <a:p>
            <a:pPr marL="155952" indent="-155952" algn="just">
              <a:buSzPct val="100000"/>
              <a:buChar char="•"/>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Working-hour constraints</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1224700" y="3251244"/>
            <a:ext cx="1338108" cy="398780"/>
          </a:xfrm>
          <a:prstGeom prst="roundRect">
            <a:avLst>
              <a:gd name="adj" fmla="val 15924"/>
            </a:avLst>
          </a:prstGeom>
          <a:solidFill>
            <a:srgbClr val="1F2A44"/>
          </a:solidFill>
          <a:ln/>
        </p:spPr>
        <p:txBody>
          <a:bodyPr wrap="none" lIns="0" tIns="0" rIns="0" bIns="0" rtlCol="0" anchor="ctr">
            <a:normAutofit/>
          </a:bodyPr>
          <a:lstStyle/>
          <a:p>
            <a:pPr algn="just"/>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Multiple Doctors</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2594550" y="3308391"/>
            <a:ext cx="248115" cy="309880"/>
          </a:xfrm>
          <a:prstGeom prst="rect">
            <a:avLst/>
          </a:prstGeom>
          <a:noFill/>
          <a:ln/>
        </p:spPr>
        <p:txBody>
          <a:bodyPr wrap="square" lIns="0" tIns="0" rIns="0" bIns="0" rtlCol="0" anchor="ctr">
            <a:normAutofit/>
          </a:bodyPr>
          <a:lstStyle/>
          <a:p>
            <a:pPr algn="just"/>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2886654" y="3251244"/>
            <a:ext cx="1404555" cy="398780"/>
          </a:xfrm>
          <a:prstGeom prst="roundRect">
            <a:avLst>
              <a:gd name="adj" fmla="val 15924"/>
            </a:avLst>
          </a:prstGeom>
          <a:solidFill>
            <a:srgbClr val="1F2A44"/>
          </a:solidFill>
          <a:ln/>
        </p:spPr>
        <p:txBody>
          <a:bodyPr wrap="none" lIns="0" tIns="0" rIns="0" bIns="0" rtlCol="0" anchor="ctr">
            <a:normAutofit/>
          </a:bodyPr>
          <a:lstStyle/>
          <a:p>
            <a:pPr algn="just"/>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Different Priorities</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4381678" y="3295691"/>
            <a:ext cx="248115" cy="309880"/>
          </a:xfrm>
          <a:prstGeom prst="rect">
            <a:avLst/>
          </a:prstGeom>
          <a:noFill/>
          <a:ln/>
        </p:spPr>
        <p:txBody>
          <a:bodyPr wrap="square" lIns="0" tIns="0" rIns="0" bIns="0" rtlCol="0" anchor="ctr">
            <a:normAutofit/>
          </a:bodyPr>
          <a:lstStyle/>
          <a:p>
            <a:pPr algn="just"/>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4616630" y="3251244"/>
            <a:ext cx="1895720" cy="398780"/>
          </a:xfrm>
          <a:prstGeom prst="roundRect">
            <a:avLst>
              <a:gd name="adj" fmla="val 15924"/>
            </a:avLst>
          </a:prstGeom>
          <a:solidFill>
            <a:srgbClr val="1F2A44"/>
          </a:solidFill>
          <a:ln/>
        </p:spPr>
        <p:txBody>
          <a:bodyPr wrap="none" lIns="0" tIns="0" rIns="0" bIns="0" rtlCol="0" anchor="ctr">
            <a:normAutofit/>
          </a:bodyPr>
          <a:lstStyle/>
          <a:p>
            <a:pPr algn="just"/>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Different Time Windows</a:t>
            </a:r>
            <a:endParaRPr lang="en-US" sz="1400" dirty="0">
              <a:latin typeface="Times New Roman" panose="02020603050405020304" pitchFamily="18" charset="0"/>
              <a:cs typeface="Times New Roman" panose="02020603050405020304" pitchFamily="18" charset="0"/>
            </a:endParaRPr>
          </a:p>
        </p:txBody>
      </p:sp>
      <p:sp>
        <p:nvSpPr>
          <p:cNvPr id="14" name="Text 12"/>
          <p:cNvSpPr/>
          <p:nvPr/>
        </p:nvSpPr>
        <p:spPr>
          <a:xfrm>
            <a:off x="6594884" y="3302007"/>
            <a:ext cx="248115" cy="309880"/>
          </a:xfrm>
          <a:prstGeom prst="rect">
            <a:avLst/>
          </a:prstGeom>
          <a:noFill/>
          <a:ln/>
        </p:spPr>
        <p:txBody>
          <a:bodyPr wrap="square" lIns="0" tIns="0" rIns="0" bIns="0" rtlCol="0" anchor="ctr">
            <a:normAutofit/>
          </a:bodyPr>
          <a:lstStyle/>
          <a:p>
            <a:pPr algn="just"/>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6886448" y="3251244"/>
            <a:ext cx="1513925" cy="398780"/>
          </a:xfrm>
          <a:prstGeom prst="roundRect">
            <a:avLst>
              <a:gd name="adj" fmla="val 15924"/>
            </a:avLst>
          </a:prstGeom>
          <a:solidFill>
            <a:srgbClr val="1F2A44"/>
          </a:solidFill>
          <a:ln/>
        </p:spPr>
        <p:txBody>
          <a:bodyPr wrap="none" lIns="0" tIns="0" rIns="0" bIns="0" rtlCol="0" anchor="ctr">
            <a:normAutofit/>
          </a:bodyPr>
          <a:lstStyle/>
          <a:p>
            <a:pPr algn="just"/>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Different Locations</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8482509" y="3308391"/>
            <a:ext cx="248115" cy="309880"/>
          </a:xfrm>
          <a:prstGeom prst="rect">
            <a:avLst/>
          </a:prstGeom>
          <a:noFill/>
          <a:ln/>
        </p:spPr>
        <p:txBody>
          <a:bodyPr wrap="square" lIns="0" tIns="0" rIns="0" bIns="0" rtlCol="0" anchor="ctr">
            <a:normAutofit/>
          </a:bodyPr>
          <a:lstStyle/>
          <a:p>
            <a:pPr algn="just"/>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7" name="Text 15"/>
          <p:cNvSpPr/>
          <p:nvPr/>
        </p:nvSpPr>
        <p:spPr>
          <a:xfrm>
            <a:off x="8808093" y="3251244"/>
            <a:ext cx="2111757" cy="398780"/>
          </a:xfrm>
          <a:prstGeom prst="roundRect">
            <a:avLst>
              <a:gd name="adj" fmla="val 15924"/>
            </a:avLst>
          </a:prstGeom>
          <a:solidFill>
            <a:srgbClr val="1F2A44"/>
          </a:solidFill>
          <a:ln/>
        </p:spPr>
        <p:txBody>
          <a:bodyPr wrap="none" lIns="0" tIns="0" rIns="0" bIns="0" rtlCol="0" anchor="ctr">
            <a:normAutofit/>
          </a:bodyPr>
          <a:lstStyle/>
          <a:p>
            <a:pPr algn="just"/>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Limited MR Working Hours</a:t>
            </a:r>
            <a:endParaRPr lang="en-US" sz="1400" dirty="0">
              <a:latin typeface="Times New Roman" panose="02020603050405020304" pitchFamily="18" charset="0"/>
              <a:cs typeface="Times New Roman" panose="02020603050405020304" pitchFamily="18" charset="0"/>
            </a:endParaRPr>
          </a:p>
        </p:txBody>
      </p:sp>
      <p:sp>
        <p:nvSpPr>
          <p:cNvPr id="18" name="Text 16"/>
          <p:cNvSpPr/>
          <p:nvPr/>
        </p:nvSpPr>
        <p:spPr>
          <a:xfrm>
            <a:off x="1301398" y="3762399"/>
            <a:ext cx="248115" cy="309880"/>
          </a:xfrm>
          <a:prstGeom prst="rect">
            <a:avLst/>
          </a:prstGeom>
          <a:noFill/>
          <a:ln/>
        </p:spPr>
        <p:txBody>
          <a:bodyPr wrap="square" lIns="0" tIns="0" rIns="0" bIns="0" rtlCol="0" anchor="ctr">
            <a:normAutofit/>
          </a:bodyPr>
          <a:lstStyle/>
          <a:p>
            <a:pPr algn="just"/>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9" name="Text 17"/>
          <p:cNvSpPr/>
          <p:nvPr/>
        </p:nvSpPr>
        <p:spPr>
          <a:xfrm>
            <a:off x="1566486" y="3738924"/>
            <a:ext cx="1289571" cy="398780"/>
          </a:xfrm>
          <a:prstGeom prst="roundRect">
            <a:avLst>
              <a:gd name="adj" fmla="val 15924"/>
            </a:avLst>
          </a:prstGeom>
          <a:solidFill>
            <a:srgbClr val="1F2A44"/>
          </a:solidFill>
          <a:ln/>
        </p:spPr>
        <p:txBody>
          <a:bodyPr wrap="none" lIns="0" tIns="0" rIns="0" bIns="0" rtlCol="0" anchor="ctr">
            <a:normAutofit/>
          </a:bodyPr>
          <a:lstStyle/>
          <a:p>
            <a:pPr algn="just"/>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Manual Planning</a:t>
            </a:r>
            <a:endParaRPr lang="en-US" sz="1400" dirty="0">
              <a:latin typeface="Times New Roman" panose="02020603050405020304" pitchFamily="18" charset="0"/>
              <a:cs typeface="Times New Roman" panose="02020603050405020304" pitchFamily="18" charset="0"/>
            </a:endParaRPr>
          </a:p>
        </p:txBody>
      </p:sp>
      <p:sp>
        <p:nvSpPr>
          <p:cNvPr id="20" name="Text 18"/>
          <p:cNvSpPr/>
          <p:nvPr/>
        </p:nvSpPr>
        <p:spPr>
          <a:xfrm>
            <a:off x="1224700" y="4376015"/>
            <a:ext cx="10631171" cy="265431"/>
          </a:xfrm>
          <a:prstGeom prst="rect">
            <a:avLst/>
          </a:prstGeom>
          <a:noFill/>
          <a:ln/>
        </p:spPr>
        <p:txBody>
          <a:bodyPr wrap="square" lIns="0" tIns="0" rIns="0" bIns="0" rtlCol="0" anchor="ctr">
            <a:normAutofit lnSpcReduction="10000"/>
          </a:bodyPr>
          <a:lstStyle/>
          <a:p>
            <a:pPr algn="just"/>
            <a:r>
              <a:rPr lang="en-US" b="1" dirty="0">
                <a:solidFill>
                  <a:srgbClr val="C8553D"/>
                </a:solidFill>
                <a:latin typeface="Times New Roman" panose="02020603050405020304" pitchFamily="18" charset="0"/>
                <a:ea typeface="Arial" pitchFamily="34" charset="-122"/>
                <a:cs typeface="Times New Roman" panose="02020603050405020304" pitchFamily="18" charset="0"/>
              </a:rPr>
              <a:t>Inefficient Visit Sequence → Unnecessary Travel / Missed Visits</a:t>
            </a:r>
            <a:endParaRPr lang="en-US" dirty="0">
              <a:latin typeface="Times New Roman" panose="02020603050405020304" pitchFamily="18" charset="0"/>
              <a:cs typeface="Times New Roman" panose="02020603050405020304" pitchFamily="18" charset="0"/>
            </a:endParaRPr>
          </a:p>
        </p:txBody>
      </p:sp>
      <p:sp>
        <p:nvSpPr>
          <p:cNvPr id="21" name="Text 19"/>
          <p:cNvSpPr/>
          <p:nvPr/>
        </p:nvSpPr>
        <p:spPr>
          <a:xfrm>
            <a:off x="11294433" y="6724279"/>
            <a:ext cx="132431" cy="238760"/>
          </a:xfrm>
          <a:prstGeom prst="rect">
            <a:avLst/>
          </a:prstGeom>
          <a:noFill/>
          <a:ln/>
        </p:spPr>
        <p:txBody>
          <a:bodyPr wrap="square" lIns="0" tIns="0" rIns="0" bIns="0" rtlCol="0" anchor="ctr">
            <a:normAutofit/>
          </a:bodyPr>
          <a:lstStyle/>
          <a:p>
            <a:pPr algn="just"/>
            <a:r>
              <a:rPr lang="en-US" sz="1200" dirty="0">
                <a:solidFill>
                  <a:srgbClr val="5B6475"/>
                </a:solidFill>
                <a:latin typeface="Times New Roman" panose="02020603050405020304" pitchFamily="18" charset="0"/>
                <a:ea typeface="Arial" pitchFamily="34" charset="-122"/>
                <a:cs typeface="Times New Roman" panose="02020603050405020304" pitchFamily="18" charset="0"/>
              </a:rPr>
              <a:t>2</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850900" y="1186938"/>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186938"/>
            <a:ext cx="10647935" cy="463551"/>
          </a:xfrm>
          <a:prstGeom prst="rect">
            <a:avLst/>
          </a:prstGeom>
          <a:noFill/>
          <a:ln/>
        </p:spPr>
        <p:txBody>
          <a:bodyPr vert="horz" wrap="square" lIns="0" tIns="0" rIns="0" bIns="0" rtlCol="0" anchor="t">
            <a:noAutofit/>
          </a:bodyPr>
          <a:lstStyle/>
          <a:p>
            <a:pPr algn="just">
              <a:lnSpc>
                <a:spcPct val="100000"/>
              </a:lnSpc>
            </a:pPr>
            <a:r>
              <a:rPr lang="en-US" sz="3200" b="1" dirty="0">
                <a:latin typeface="Times New Roman" panose="02020603050405020304" pitchFamily="18" charset="0"/>
                <a:cs typeface="Times New Roman" panose="02020603050405020304" pitchFamily="18" charset="0"/>
              </a:rPr>
              <a:t>Abstract</a:t>
            </a:r>
            <a:endParaRPr lang="en-US" sz="3200" dirty="0">
              <a:latin typeface="Times New Roman" panose="02020603050405020304" pitchFamily="18" charset="0"/>
              <a:cs typeface="Times New Roman" panose="02020603050405020304" pitchFamily="18" charset="0"/>
            </a:endParaRPr>
          </a:p>
        </p:txBody>
      </p:sp>
      <p:sp>
        <p:nvSpPr>
          <p:cNvPr id="4" name="Text 2"/>
          <p:cNvSpPr/>
          <p:nvPr/>
        </p:nvSpPr>
        <p:spPr>
          <a:xfrm>
            <a:off x="1191739" y="1852998"/>
            <a:ext cx="10646034" cy="668339"/>
          </a:xfrm>
          <a:prstGeom prst="rect">
            <a:avLst/>
          </a:prstGeom>
          <a:noFill/>
          <a:ln/>
        </p:spPr>
        <p:txBody>
          <a:bodyPr wrap="square" lIns="0" tIns="0" rIns="0" bIns="0" rtlCol="0" anchor="ctr">
            <a:noAutofit/>
          </a:bodyPr>
          <a:lstStyle/>
          <a:p>
            <a:pPr algn="just"/>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Medical Representatives (MRs) are required to plan multiple doctor visits within limited working hours, where doctor priority, availability, visit duration, geographical distance and travel time make manual planning difficult. This project proposes an AI-based web application for visit prioritization and route optimization.</a:t>
            </a:r>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1191739" y="2699137"/>
            <a:ext cx="10646034" cy="668339"/>
          </a:xfrm>
          <a:prstGeom prst="rect">
            <a:avLst/>
          </a:prstGeom>
          <a:noFill/>
          <a:ln/>
        </p:spPr>
        <p:txBody>
          <a:bodyPr wrap="square" lIns="0" tIns="0" rIns="0" bIns="0" rtlCol="0" anchor="ctr">
            <a:normAutofit fontScale="92500" lnSpcReduction="10000"/>
          </a:bodyPr>
          <a:lstStyle/>
          <a:p>
            <a:pPr algn="just"/>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The system uses historical and operational data to estimate the priority of planned doctor visits using a Machine Learning model. The resulting priority information is combined with appointment time windows, visit duration, MR working hours and travel information. Google OR-Tools is then used to generate a feasible route using Vehicle Routing Problem with Time Windows (VRPTW) concepts.</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1191739" y="3545281"/>
            <a:ext cx="10646034" cy="425357"/>
          </a:xfrm>
          <a:prstGeom prst="rect">
            <a:avLst/>
          </a:prstGeom>
          <a:noFill/>
          <a:ln/>
        </p:spPr>
        <p:txBody>
          <a:bodyPr wrap="square" lIns="0" tIns="0" rIns="0" bIns="0" rtlCol="0" anchor="ctr">
            <a:noAutofit/>
          </a:bodyPr>
          <a:lstStyle/>
          <a:p>
            <a:pPr algn="just"/>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The system provides role-based dashboards for Medical Representatives and managers, enabling data-driven visit planning, monitoring and analysis.</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1191739" y="4315151"/>
            <a:ext cx="10652891" cy="309752"/>
          </a:xfrm>
          <a:prstGeom prst="rect">
            <a:avLst/>
          </a:prstGeom>
          <a:noFill/>
          <a:ln/>
        </p:spPr>
        <p:txBody>
          <a:bodyPr wrap="square" lIns="0" tIns="0" rIns="0" bIns="0" rtlCol="0" anchor="ctr">
            <a:noAutofit/>
          </a:bodyPr>
          <a:lstStyle/>
          <a:p>
            <a:pPr algn="just"/>
            <a:r>
              <a:rPr lang="en-US" sz="1600" b="1" dirty="0">
                <a:solidFill>
                  <a:srgbClr val="2F6F6D"/>
                </a:solidFill>
                <a:latin typeface="Times New Roman" panose="02020603050405020304" pitchFamily="18" charset="0"/>
                <a:ea typeface="Arial" pitchFamily="34" charset="-122"/>
                <a:cs typeface="Times New Roman" panose="02020603050405020304" pitchFamily="18" charset="0"/>
              </a:rPr>
              <a:t>Keywords: Medical Representative, Machine Learning, Visit Prioritization, Route Optimization, VRPTW, Random Forest, Google OR-Tools</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11294428" y="6790176"/>
            <a:ext cx="135573" cy="238760"/>
          </a:xfrm>
          <a:prstGeom prst="rect">
            <a:avLst/>
          </a:prstGeom>
          <a:noFill/>
          <a:ln/>
        </p:spPr>
        <p:txBody>
          <a:bodyPr wrap="square" lIns="0" tIns="0" rIns="0" bIns="0" rtlCol="0" anchor="t">
            <a:normAutofit/>
          </a:bodyPr>
          <a:lstStyle/>
          <a:p>
            <a:pPr algn="just"/>
            <a:r>
              <a:rPr lang="en-US" sz="1400" dirty="0">
                <a:solidFill>
                  <a:srgbClr val="5B6475"/>
                </a:solidFill>
                <a:latin typeface="Times New Roman" panose="02020603050405020304" pitchFamily="18" charset="0"/>
                <a:ea typeface="Arial" pitchFamily="34" charset="-122"/>
                <a:cs typeface="Times New Roman" panose="02020603050405020304" pitchFamily="18" charset="0"/>
              </a:rPr>
              <a:t>3</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50900" y="1195181"/>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195181"/>
            <a:ext cx="10647935" cy="463551"/>
          </a:xfrm>
          <a:prstGeom prst="rect">
            <a:avLst/>
          </a:prstGeom>
          <a:noFill/>
          <a:ln/>
        </p:spPr>
        <p:txBody>
          <a:bodyPr vert="horz" wrap="square" lIns="0" tIns="0" rIns="0" bIns="0" rtlCol="0" anchor="ctr">
            <a:normAutofit/>
          </a:bodyPr>
          <a:lstStyle/>
          <a:p>
            <a:pPr algn="just">
              <a:lnSpc>
                <a:spcPts val="3451"/>
              </a:lnSpc>
            </a:pPr>
            <a:r>
              <a:rPr lang="en-US" sz="3200" b="1"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4" name="Text 2"/>
          <p:cNvSpPr/>
          <p:nvPr/>
        </p:nvSpPr>
        <p:spPr>
          <a:xfrm>
            <a:off x="1236207" y="1836531"/>
            <a:ext cx="10883392" cy="265431"/>
          </a:xfrm>
          <a:prstGeom prst="rect">
            <a:avLst/>
          </a:prstGeom>
          <a:noFill/>
          <a:ln/>
        </p:spPr>
        <p:txBody>
          <a:bodyPr wrap="square" lIns="0" tIns="0" rIns="0" bIns="0" rtlCol="0" anchor="ctr">
            <a:normAutofit/>
          </a:bodyPr>
          <a:lstStyle/>
          <a:p>
            <a:pPr algn="just">
              <a:lnSpc>
                <a:spcPts val="1891"/>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Why this project? Medical Representatives spend significant time in field activities.</a:t>
            </a:r>
            <a:endParaRPr lang="en-US" sz="1400" dirty="0">
              <a:latin typeface="Times New Roman" panose="02020603050405020304" pitchFamily="18" charset="0"/>
              <a:cs typeface="Times New Roman" panose="02020603050405020304" pitchFamily="18" charset="0"/>
            </a:endParaRPr>
          </a:p>
        </p:txBody>
      </p:sp>
      <p:sp>
        <p:nvSpPr>
          <p:cNvPr id="5" name="Text 3"/>
          <p:cNvSpPr/>
          <p:nvPr/>
        </p:nvSpPr>
        <p:spPr>
          <a:xfrm>
            <a:off x="1232939" y="2279758"/>
            <a:ext cx="1372156" cy="416560"/>
          </a:xfrm>
          <a:prstGeom prst="roundRect">
            <a:avLst>
              <a:gd name="adj" fmla="val 1524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just">
              <a:lnSpc>
                <a:spcPts val="168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Doctor selection</a:t>
            </a:r>
            <a:endParaRPr lang="en-US" sz="1200" dirty="0">
              <a:latin typeface="Times New Roman" panose="02020603050405020304" pitchFamily="18" charset="0"/>
              <a:cs typeface="Times New Roman" panose="02020603050405020304" pitchFamily="18" charset="0"/>
            </a:endParaRPr>
          </a:p>
        </p:txBody>
      </p:sp>
      <p:sp>
        <p:nvSpPr>
          <p:cNvPr id="6" name="Text 4"/>
          <p:cNvSpPr/>
          <p:nvPr/>
        </p:nvSpPr>
        <p:spPr>
          <a:xfrm>
            <a:off x="2693992" y="2345798"/>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16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2986098" y="2279758"/>
            <a:ext cx="1906111" cy="416560"/>
          </a:xfrm>
          <a:prstGeom prst="roundRect">
            <a:avLst>
              <a:gd name="adj" fmla="val 1524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just">
              <a:lnSpc>
                <a:spcPts val="168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Appointment scheduling</a:t>
            </a:r>
            <a:endParaRPr lang="en-US" sz="1200" dirty="0">
              <a:latin typeface="Times New Roman" panose="02020603050405020304" pitchFamily="18" charset="0"/>
              <a:cs typeface="Times New Roman" panose="02020603050405020304" pitchFamily="18" charset="0"/>
            </a:endParaRPr>
          </a:p>
        </p:txBody>
      </p:sp>
      <p:sp>
        <p:nvSpPr>
          <p:cNvPr id="8" name="Text 6"/>
          <p:cNvSpPr/>
          <p:nvPr/>
        </p:nvSpPr>
        <p:spPr>
          <a:xfrm>
            <a:off x="4981103" y="2345798"/>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16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5273209" y="2279758"/>
            <a:ext cx="1315799" cy="416560"/>
          </a:xfrm>
          <a:prstGeom prst="roundRect">
            <a:avLst>
              <a:gd name="adj" fmla="val 1524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just">
              <a:lnSpc>
                <a:spcPts val="168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Travel planning</a:t>
            </a:r>
            <a:endParaRPr lang="en-US" sz="1200" dirty="0">
              <a:latin typeface="Times New Roman" panose="02020603050405020304" pitchFamily="18" charset="0"/>
              <a:cs typeface="Times New Roman" panose="02020603050405020304" pitchFamily="18" charset="0"/>
            </a:endParaRPr>
          </a:p>
        </p:txBody>
      </p:sp>
      <p:sp>
        <p:nvSpPr>
          <p:cNvPr id="10" name="Text 8"/>
          <p:cNvSpPr/>
          <p:nvPr/>
        </p:nvSpPr>
        <p:spPr>
          <a:xfrm>
            <a:off x="6677903" y="2345798"/>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16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6970006" y="2279758"/>
            <a:ext cx="1259284" cy="416560"/>
          </a:xfrm>
          <a:prstGeom prst="roundRect">
            <a:avLst>
              <a:gd name="adj" fmla="val 1524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just">
              <a:lnSpc>
                <a:spcPts val="168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Visit execution</a:t>
            </a:r>
            <a:endParaRPr lang="en-US" sz="1200" dirty="0">
              <a:latin typeface="Times New Roman" panose="02020603050405020304" pitchFamily="18" charset="0"/>
              <a:cs typeface="Times New Roman" panose="02020603050405020304" pitchFamily="18" charset="0"/>
            </a:endParaRPr>
          </a:p>
        </p:txBody>
      </p:sp>
      <p:sp>
        <p:nvSpPr>
          <p:cNvPr id="12" name="Text 10"/>
          <p:cNvSpPr/>
          <p:nvPr/>
        </p:nvSpPr>
        <p:spPr>
          <a:xfrm>
            <a:off x="8318187" y="2345798"/>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16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8610289" y="2279758"/>
            <a:ext cx="940119" cy="416560"/>
          </a:xfrm>
          <a:prstGeom prst="roundRect">
            <a:avLst>
              <a:gd name="adj" fmla="val 1524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just">
              <a:lnSpc>
                <a:spcPts val="168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Follow-up</a:t>
            </a:r>
            <a:endParaRPr lang="en-US" sz="1200" dirty="0">
              <a:latin typeface="Times New Roman" panose="02020603050405020304" pitchFamily="18" charset="0"/>
              <a:cs typeface="Times New Roman" panose="02020603050405020304" pitchFamily="18" charset="0"/>
            </a:endParaRPr>
          </a:p>
        </p:txBody>
      </p:sp>
      <p:sp>
        <p:nvSpPr>
          <p:cNvPr id="14" name="Text 12"/>
          <p:cNvSpPr/>
          <p:nvPr/>
        </p:nvSpPr>
        <p:spPr>
          <a:xfrm>
            <a:off x="1226840" y="2890031"/>
            <a:ext cx="10883392" cy="265431"/>
          </a:xfrm>
          <a:prstGeom prst="rect">
            <a:avLst/>
          </a:prstGeom>
          <a:noFill/>
          <a:ln/>
        </p:spPr>
        <p:txBody>
          <a:bodyPr wrap="square" lIns="0" tIns="0" rIns="0" bIns="0" rtlCol="0" anchor="ctr">
            <a:normAutofit/>
          </a:bodyPr>
          <a:lstStyle/>
          <a:p>
            <a:pPr algn="just">
              <a:lnSpc>
                <a:spcPts val="1891"/>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The existing manual process creates three major challenges:</a:t>
            </a:r>
            <a:endParaRPr lang="en-US" sz="1400" dirty="0">
              <a:latin typeface="Times New Roman" panose="02020603050405020304" pitchFamily="18" charset="0"/>
              <a:cs typeface="Times New Roman" panose="02020603050405020304" pitchFamily="18" charset="0"/>
            </a:endParaRPr>
          </a:p>
        </p:txBody>
      </p:sp>
      <p:sp>
        <p:nvSpPr>
          <p:cNvPr id="15" name="Shape 13"/>
          <p:cNvSpPr/>
          <p:nvPr/>
        </p:nvSpPr>
        <p:spPr>
          <a:xfrm>
            <a:off x="1236112" y="3345927"/>
            <a:ext cx="3414157" cy="1062991"/>
          </a:xfrm>
          <a:prstGeom prst="roundRect">
            <a:avLst>
              <a:gd name="adj" fmla="val 5675"/>
            </a:avLst>
          </a:prstGeom>
          <a:solidFill>
            <a:srgbClr val="FFFFFF"/>
          </a:solidFill>
          <a:ln w="6350">
            <a:solidFill>
              <a:srgbClr val="D9D6CC"/>
            </a:solidFill>
            <a:prstDash val="solid"/>
          </a:ln>
        </p:spPr>
      </p:sp>
      <p:sp>
        <p:nvSpPr>
          <p:cNvPr id="16" name="Text 14"/>
          <p:cNvSpPr/>
          <p:nvPr/>
        </p:nvSpPr>
        <p:spPr>
          <a:xfrm>
            <a:off x="1390420" y="3500229"/>
            <a:ext cx="3198713" cy="254000"/>
          </a:xfrm>
          <a:prstGeom prst="rect">
            <a:avLst/>
          </a:prstGeom>
          <a:noFill/>
          <a:ln/>
        </p:spPr>
        <p:txBody>
          <a:bodyPr wrap="square" lIns="0" tIns="0" rIns="0" bIns="0" rtlCol="0" anchor="ctr">
            <a:normAutofit/>
          </a:bodyPr>
          <a:lstStyle/>
          <a:p>
            <a:pPr algn="just">
              <a:lnSpc>
                <a:spcPts val="1800"/>
              </a:lnSpc>
            </a:pPr>
            <a:r>
              <a:rPr lang="en-US" sz="1500" b="1" dirty="0">
                <a:solidFill>
                  <a:srgbClr val="1F2A44"/>
                </a:solidFill>
                <a:latin typeface="Times New Roman" panose="02020603050405020304" pitchFamily="18" charset="0"/>
                <a:ea typeface="Arial" pitchFamily="34" charset="-122"/>
                <a:cs typeface="Times New Roman" panose="02020603050405020304" pitchFamily="18" charset="0"/>
              </a:rPr>
              <a:t>1. Prioritization problem</a:t>
            </a:r>
            <a:endParaRPr lang="en-US" sz="1500" dirty="0">
              <a:latin typeface="Times New Roman" panose="02020603050405020304" pitchFamily="18" charset="0"/>
              <a:cs typeface="Times New Roman" panose="02020603050405020304" pitchFamily="18" charset="0"/>
            </a:endParaRPr>
          </a:p>
        </p:txBody>
      </p:sp>
      <p:sp>
        <p:nvSpPr>
          <p:cNvPr id="17" name="Text 15"/>
          <p:cNvSpPr/>
          <p:nvPr/>
        </p:nvSpPr>
        <p:spPr>
          <a:xfrm>
            <a:off x="1390420" y="3792332"/>
            <a:ext cx="3198713" cy="256540"/>
          </a:xfrm>
          <a:prstGeom prst="rect">
            <a:avLst/>
          </a:prstGeom>
          <a:noFill/>
          <a:ln/>
        </p:spPr>
        <p:txBody>
          <a:bodyPr wrap="square" lIns="0" tIns="0" rIns="0" bIns="0" rtlCol="0" anchor="ctr">
            <a:normAutofit/>
          </a:bodyPr>
          <a:lstStyle/>
          <a:p>
            <a:pPr algn="just">
              <a:lnSpc>
                <a:spcPts val="1820"/>
              </a:lnSpc>
            </a:pPr>
            <a:r>
              <a:rPr lang="en-US" sz="1300" dirty="0">
                <a:solidFill>
                  <a:srgbClr val="1F2A44"/>
                </a:solidFill>
                <a:latin typeface="Times New Roman" panose="02020603050405020304" pitchFamily="18" charset="0"/>
                <a:ea typeface="Arial" pitchFamily="34" charset="-122"/>
                <a:cs typeface="Times New Roman" panose="02020603050405020304" pitchFamily="18" charset="0"/>
              </a:rPr>
              <a:t>Which doctor should be visited first?</a:t>
            </a:r>
            <a:endParaRPr lang="en-US" sz="1300" dirty="0">
              <a:latin typeface="Times New Roman" panose="02020603050405020304" pitchFamily="18" charset="0"/>
              <a:cs typeface="Times New Roman" panose="02020603050405020304" pitchFamily="18" charset="0"/>
            </a:endParaRPr>
          </a:p>
        </p:txBody>
      </p:sp>
      <p:sp>
        <p:nvSpPr>
          <p:cNvPr id="18" name="Shape 16"/>
          <p:cNvSpPr/>
          <p:nvPr/>
        </p:nvSpPr>
        <p:spPr>
          <a:xfrm>
            <a:off x="4809020" y="3345927"/>
            <a:ext cx="3414157" cy="1062991"/>
          </a:xfrm>
          <a:prstGeom prst="roundRect">
            <a:avLst>
              <a:gd name="adj" fmla="val 5675"/>
            </a:avLst>
          </a:prstGeom>
          <a:solidFill>
            <a:srgbClr val="FFFFFF"/>
          </a:solidFill>
          <a:ln w="6350">
            <a:solidFill>
              <a:srgbClr val="D9D6CC"/>
            </a:solidFill>
            <a:prstDash val="solid"/>
          </a:ln>
        </p:spPr>
      </p:sp>
      <p:sp>
        <p:nvSpPr>
          <p:cNvPr id="19" name="Text 17"/>
          <p:cNvSpPr/>
          <p:nvPr/>
        </p:nvSpPr>
        <p:spPr>
          <a:xfrm>
            <a:off x="4963329" y="3500229"/>
            <a:ext cx="3198713" cy="254000"/>
          </a:xfrm>
          <a:prstGeom prst="rect">
            <a:avLst/>
          </a:prstGeom>
          <a:noFill/>
          <a:ln/>
        </p:spPr>
        <p:txBody>
          <a:bodyPr wrap="square" lIns="0" tIns="0" rIns="0" bIns="0" rtlCol="0" anchor="ctr">
            <a:normAutofit/>
          </a:bodyPr>
          <a:lstStyle/>
          <a:p>
            <a:pPr algn="just">
              <a:lnSpc>
                <a:spcPts val="1800"/>
              </a:lnSpc>
            </a:pPr>
            <a:r>
              <a:rPr lang="en-US" sz="1500" b="1" dirty="0">
                <a:solidFill>
                  <a:srgbClr val="1F2A44"/>
                </a:solidFill>
                <a:latin typeface="Times New Roman" panose="02020603050405020304" pitchFamily="18" charset="0"/>
                <a:ea typeface="Arial" pitchFamily="34" charset="-122"/>
                <a:cs typeface="Times New Roman" panose="02020603050405020304" pitchFamily="18" charset="0"/>
              </a:rPr>
              <a:t>2. Scheduling problem</a:t>
            </a:r>
            <a:endParaRPr lang="en-US" sz="1500" dirty="0">
              <a:latin typeface="Times New Roman" panose="02020603050405020304" pitchFamily="18" charset="0"/>
              <a:cs typeface="Times New Roman" panose="02020603050405020304" pitchFamily="18" charset="0"/>
            </a:endParaRPr>
          </a:p>
        </p:txBody>
      </p:sp>
      <p:sp>
        <p:nvSpPr>
          <p:cNvPr id="20" name="Text 18"/>
          <p:cNvSpPr/>
          <p:nvPr/>
        </p:nvSpPr>
        <p:spPr>
          <a:xfrm>
            <a:off x="4963329" y="3792332"/>
            <a:ext cx="3198713" cy="256540"/>
          </a:xfrm>
          <a:prstGeom prst="rect">
            <a:avLst/>
          </a:prstGeom>
          <a:noFill/>
          <a:ln/>
        </p:spPr>
        <p:txBody>
          <a:bodyPr wrap="square" lIns="0" tIns="0" rIns="0" bIns="0" rtlCol="0" anchor="ctr">
            <a:normAutofit/>
          </a:bodyPr>
          <a:lstStyle/>
          <a:p>
            <a:pPr algn="just">
              <a:lnSpc>
                <a:spcPts val="1820"/>
              </a:lnSpc>
            </a:pPr>
            <a:r>
              <a:rPr lang="en-US" sz="1300" dirty="0">
                <a:solidFill>
                  <a:srgbClr val="1F2A44"/>
                </a:solidFill>
                <a:latin typeface="Times New Roman" panose="02020603050405020304" pitchFamily="18" charset="0"/>
                <a:ea typeface="Arial" pitchFamily="34" charset="-122"/>
                <a:cs typeface="Times New Roman" panose="02020603050405020304" pitchFamily="18" charset="0"/>
              </a:rPr>
              <a:t>When can the doctor be visited?</a:t>
            </a:r>
            <a:endParaRPr lang="en-US" sz="1300" dirty="0">
              <a:latin typeface="Times New Roman" panose="02020603050405020304" pitchFamily="18" charset="0"/>
              <a:cs typeface="Times New Roman" panose="02020603050405020304" pitchFamily="18" charset="0"/>
            </a:endParaRPr>
          </a:p>
        </p:txBody>
      </p:sp>
      <p:sp>
        <p:nvSpPr>
          <p:cNvPr id="21" name="Shape 19"/>
          <p:cNvSpPr/>
          <p:nvPr/>
        </p:nvSpPr>
        <p:spPr>
          <a:xfrm>
            <a:off x="8381928" y="3345927"/>
            <a:ext cx="3414157" cy="1062991"/>
          </a:xfrm>
          <a:prstGeom prst="roundRect">
            <a:avLst>
              <a:gd name="adj" fmla="val 5675"/>
            </a:avLst>
          </a:prstGeom>
          <a:solidFill>
            <a:srgbClr val="FFFFFF"/>
          </a:solidFill>
          <a:ln w="6350">
            <a:solidFill>
              <a:srgbClr val="D9D6CC"/>
            </a:solidFill>
            <a:prstDash val="solid"/>
          </a:ln>
        </p:spPr>
      </p:sp>
      <p:sp>
        <p:nvSpPr>
          <p:cNvPr id="22" name="Text 20"/>
          <p:cNvSpPr/>
          <p:nvPr/>
        </p:nvSpPr>
        <p:spPr>
          <a:xfrm>
            <a:off x="8536236" y="3500229"/>
            <a:ext cx="3198713" cy="254000"/>
          </a:xfrm>
          <a:prstGeom prst="rect">
            <a:avLst/>
          </a:prstGeom>
          <a:noFill/>
          <a:ln/>
        </p:spPr>
        <p:txBody>
          <a:bodyPr wrap="square" lIns="0" tIns="0" rIns="0" bIns="0" rtlCol="0" anchor="ctr">
            <a:normAutofit/>
          </a:bodyPr>
          <a:lstStyle/>
          <a:p>
            <a:pPr algn="just">
              <a:lnSpc>
                <a:spcPts val="1800"/>
              </a:lnSpc>
            </a:pPr>
            <a:r>
              <a:rPr lang="en-US" sz="1500" b="1" dirty="0">
                <a:solidFill>
                  <a:srgbClr val="1F2A44"/>
                </a:solidFill>
                <a:latin typeface="Times New Roman" panose="02020603050405020304" pitchFamily="18" charset="0"/>
                <a:ea typeface="Arial" pitchFamily="34" charset="-122"/>
                <a:cs typeface="Times New Roman" panose="02020603050405020304" pitchFamily="18" charset="0"/>
              </a:rPr>
              <a:t>3. Routing problem</a:t>
            </a:r>
            <a:endParaRPr lang="en-US" sz="1500" dirty="0">
              <a:latin typeface="Times New Roman" panose="02020603050405020304" pitchFamily="18" charset="0"/>
              <a:cs typeface="Times New Roman" panose="02020603050405020304" pitchFamily="18" charset="0"/>
            </a:endParaRPr>
          </a:p>
        </p:txBody>
      </p:sp>
      <p:sp>
        <p:nvSpPr>
          <p:cNvPr id="23" name="Text 21"/>
          <p:cNvSpPr/>
          <p:nvPr/>
        </p:nvSpPr>
        <p:spPr>
          <a:xfrm>
            <a:off x="8536236" y="3792329"/>
            <a:ext cx="3198713" cy="487680"/>
          </a:xfrm>
          <a:prstGeom prst="rect">
            <a:avLst/>
          </a:prstGeom>
          <a:noFill/>
          <a:ln/>
        </p:spPr>
        <p:txBody>
          <a:bodyPr wrap="square" lIns="0" tIns="0" rIns="0" bIns="0" rtlCol="0" anchor="ctr">
            <a:normAutofit/>
          </a:bodyPr>
          <a:lstStyle/>
          <a:p>
            <a:pPr algn="just">
              <a:lnSpc>
                <a:spcPts val="1820"/>
              </a:lnSpc>
            </a:pPr>
            <a:r>
              <a:rPr lang="en-US" sz="1300" dirty="0">
                <a:solidFill>
                  <a:srgbClr val="1F2A44"/>
                </a:solidFill>
                <a:latin typeface="Times New Roman" panose="02020603050405020304" pitchFamily="18" charset="0"/>
                <a:ea typeface="Arial" pitchFamily="34" charset="-122"/>
                <a:cs typeface="Times New Roman" panose="02020603050405020304" pitchFamily="18" charset="0"/>
              </a:rPr>
              <a:t>In what sequence should doctors be visited?</a:t>
            </a:r>
            <a:endParaRPr lang="en-US" sz="1300" dirty="0">
              <a:latin typeface="Times New Roman" panose="02020603050405020304" pitchFamily="18" charset="0"/>
              <a:cs typeface="Times New Roman" panose="02020603050405020304" pitchFamily="18" charset="0"/>
            </a:endParaRPr>
          </a:p>
        </p:txBody>
      </p:sp>
      <p:sp>
        <p:nvSpPr>
          <p:cNvPr id="24" name="Text 22"/>
          <p:cNvSpPr/>
          <p:nvPr/>
        </p:nvSpPr>
        <p:spPr>
          <a:xfrm>
            <a:off x="1232936" y="4615289"/>
            <a:ext cx="5130800" cy="391160"/>
          </a:xfrm>
          <a:prstGeom prst="roundRect">
            <a:avLst>
              <a:gd name="adj" fmla="val 16234"/>
            </a:avLst>
          </a:prstGeom>
          <a:solidFill>
            <a:schemeClr val="accent4"/>
          </a:solidFill>
          <a:ln/>
          <a:effectLst>
            <a:reflection blurRad="6350" stA="52000" endA="300" endPos="35000" dir="5400000" sy="-100000" algn="bl" rotWithShape="0"/>
          </a:effectLst>
        </p:spPr>
        <p:txBody>
          <a:bodyPr wrap="square" lIns="48331" tIns="70301" rIns="48331" bIns="44901" rtlCol="0" anchor="ctr">
            <a:normAutofit/>
          </a:bodyPr>
          <a:lstStyle/>
          <a:p>
            <a:pPr algn="just">
              <a:lnSpc>
                <a:spcPts val="168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VISIT PRIORITY → Machine Learning → "WHO TO PRIORITIZE?"</a:t>
            </a:r>
            <a:endParaRPr lang="en-US" sz="1200" dirty="0">
              <a:latin typeface="Times New Roman" panose="02020603050405020304" pitchFamily="18" charset="0"/>
              <a:cs typeface="Times New Roman" panose="02020603050405020304" pitchFamily="18" charset="0"/>
            </a:endParaRPr>
          </a:p>
        </p:txBody>
      </p:sp>
      <p:sp>
        <p:nvSpPr>
          <p:cNvPr id="25" name="Text 23"/>
          <p:cNvSpPr/>
          <p:nvPr/>
        </p:nvSpPr>
        <p:spPr>
          <a:xfrm>
            <a:off x="6668536" y="4615289"/>
            <a:ext cx="5130800" cy="391160"/>
          </a:xfrm>
          <a:prstGeom prst="roundRect">
            <a:avLst>
              <a:gd name="adj" fmla="val 16234"/>
            </a:avLst>
          </a:prstGeom>
          <a:solidFill>
            <a:schemeClr val="accent4"/>
          </a:solidFill>
          <a:ln/>
          <a:effectLst>
            <a:reflection blurRad="6350" stA="52000" endA="300" endPos="35000" dir="5400000" sy="-100000" algn="bl" rotWithShape="0"/>
          </a:effectLst>
        </p:spPr>
        <p:txBody>
          <a:bodyPr wrap="square" lIns="48331" tIns="70301" rIns="48331" bIns="44901" rtlCol="0" anchor="ctr">
            <a:normAutofit/>
          </a:bodyPr>
          <a:lstStyle/>
          <a:p>
            <a:pPr algn="just">
              <a:lnSpc>
                <a:spcPts val="168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ROUTE SEQUENCE → Optimization → "WHERE/WHEN TO GO?"</a:t>
            </a:r>
            <a:endParaRPr lang="en-US" sz="1200" dirty="0">
              <a:latin typeface="Times New Roman" panose="02020603050405020304" pitchFamily="18" charset="0"/>
              <a:cs typeface="Times New Roman" panose="02020603050405020304" pitchFamily="18" charset="0"/>
            </a:endParaRPr>
          </a:p>
        </p:txBody>
      </p:sp>
      <p:sp>
        <p:nvSpPr>
          <p:cNvPr id="27" name="Text 25"/>
          <p:cNvSpPr/>
          <p:nvPr/>
        </p:nvSpPr>
        <p:spPr>
          <a:xfrm>
            <a:off x="11294428" y="6798417"/>
            <a:ext cx="135573" cy="238760"/>
          </a:xfrm>
          <a:prstGeom prst="rect">
            <a:avLst/>
          </a:prstGeom>
          <a:noFill/>
          <a:ln/>
        </p:spPr>
        <p:txBody>
          <a:bodyPr wrap="square" lIns="0" tIns="0" rIns="0" bIns="0" rtlCol="0" anchor="ctr">
            <a:normAutofit/>
          </a:bodyPr>
          <a:lstStyle/>
          <a:p>
            <a:pPr algn="just">
              <a:lnSpc>
                <a:spcPts val="1680"/>
              </a:lnSpc>
            </a:pPr>
            <a:r>
              <a:rPr lang="en-US" sz="1200" dirty="0">
                <a:solidFill>
                  <a:srgbClr val="5B6475"/>
                </a:solidFill>
                <a:latin typeface="Times New Roman" panose="02020603050405020304" pitchFamily="18" charset="0"/>
                <a:ea typeface="Arial" pitchFamily="34" charset="-122"/>
                <a:cs typeface="Times New Roman" panose="02020603050405020304" pitchFamily="18" charset="0"/>
              </a:rPr>
              <a:t>4</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50900" y="1195179"/>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195179"/>
            <a:ext cx="10647935" cy="463551"/>
          </a:xfrm>
          <a:prstGeom prst="rect">
            <a:avLst/>
          </a:prstGeom>
          <a:noFill/>
          <a:ln/>
        </p:spPr>
        <p:txBody>
          <a:bodyPr vert="horz" wrap="square" lIns="0" tIns="0" rIns="0" bIns="0" rtlCol="0" anchor="t">
            <a:normAutofit/>
          </a:bodyPr>
          <a:lstStyle/>
          <a:p>
            <a:pPr>
              <a:lnSpc>
                <a:spcPts val="3451"/>
              </a:lnSpc>
            </a:pPr>
            <a:r>
              <a:rPr lang="en-US" b="1" dirty="0">
                <a:latin typeface="Times New Roman" panose="02020603050405020304" pitchFamily="18" charset="0"/>
                <a:cs typeface="Times New Roman" panose="02020603050405020304" pitchFamily="18" charset="0"/>
              </a:rPr>
              <a:t>Existing System</a:t>
            </a:r>
            <a:endParaRPr lang="en-US" dirty="0">
              <a:latin typeface="Times New Roman" panose="02020603050405020304" pitchFamily="18" charset="0"/>
              <a:cs typeface="Times New Roman" panose="02020603050405020304" pitchFamily="18" charset="0"/>
            </a:endParaRPr>
          </a:p>
        </p:txBody>
      </p:sp>
      <p:sp>
        <p:nvSpPr>
          <p:cNvPr id="4" name="Text 2"/>
          <p:cNvSpPr/>
          <p:nvPr/>
        </p:nvSpPr>
        <p:spPr>
          <a:xfrm>
            <a:off x="1199991" y="1853006"/>
            <a:ext cx="1164511" cy="398780"/>
          </a:xfrm>
          <a:prstGeom prst="roundRect">
            <a:avLst>
              <a:gd name="adj" fmla="val 1592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54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Manager / MR</a:t>
            </a:r>
            <a:endParaRPr lang="en-US" sz="1200" dirty="0">
              <a:latin typeface="Times New Roman" panose="02020603050405020304" pitchFamily="18" charset="0"/>
              <a:cs typeface="Times New Roman" panose="02020603050405020304" pitchFamily="18" charset="0"/>
            </a:endParaRPr>
          </a:p>
        </p:txBody>
      </p:sp>
      <p:sp>
        <p:nvSpPr>
          <p:cNvPr id="5" name="Text 3"/>
          <p:cNvSpPr/>
          <p:nvPr/>
        </p:nvSpPr>
        <p:spPr>
          <a:xfrm>
            <a:off x="2453397" y="1910152"/>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nSpc>
                <a:spcPts val="2240"/>
              </a:lnSpc>
            </a:pPr>
            <a:r>
              <a:rPr lang="en-US"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2745500" y="1853006"/>
            <a:ext cx="1164669" cy="398780"/>
          </a:xfrm>
          <a:prstGeom prst="roundRect">
            <a:avLst>
              <a:gd name="adj" fmla="val 1592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54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Select doctors</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3999066" y="1910152"/>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nSpc>
                <a:spcPts val="2240"/>
              </a:lnSpc>
            </a:pPr>
            <a:r>
              <a:rPr lang="en-US"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4291169" y="1853006"/>
            <a:ext cx="1358741" cy="398780"/>
          </a:xfrm>
          <a:prstGeom prst="roundRect">
            <a:avLst>
              <a:gd name="adj" fmla="val 1592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54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Check availability</a:t>
            </a:r>
            <a:endParaRPr lang="en-US" sz="1200" dirty="0">
              <a:latin typeface="Times New Roman" panose="02020603050405020304" pitchFamily="18" charset="0"/>
              <a:cs typeface="Times New Roman" panose="02020603050405020304" pitchFamily="18" charset="0"/>
            </a:endParaRPr>
          </a:p>
        </p:txBody>
      </p:sp>
      <p:sp>
        <p:nvSpPr>
          <p:cNvPr id="9" name="Text 7"/>
          <p:cNvSpPr/>
          <p:nvPr/>
        </p:nvSpPr>
        <p:spPr>
          <a:xfrm>
            <a:off x="5738807" y="1910152"/>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nSpc>
                <a:spcPts val="2240"/>
              </a:lnSpc>
            </a:pPr>
            <a:r>
              <a:rPr lang="en-US"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6030913" y="1853006"/>
            <a:ext cx="1708071" cy="398780"/>
          </a:xfrm>
          <a:prstGeom prst="roundRect">
            <a:avLst>
              <a:gd name="adj" fmla="val 1592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54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Manually arrange visits</a:t>
            </a:r>
            <a:endParaRPr lang="en-US" sz="1200" dirty="0">
              <a:latin typeface="Times New Roman" panose="02020603050405020304" pitchFamily="18" charset="0"/>
              <a:cs typeface="Times New Roman" panose="02020603050405020304" pitchFamily="18" charset="0"/>
            </a:endParaRPr>
          </a:p>
        </p:txBody>
      </p:sp>
      <p:sp>
        <p:nvSpPr>
          <p:cNvPr id="11" name="Text 9"/>
          <p:cNvSpPr/>
          <p:nvPr/>
        </p:nvSpPr>
        <p:spPr>
          <a:xfrm>
            <a:off x="7827878" y="1910152"/>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nSpc>
                <a:spcPts val="2240"/>
              </a:lnSpc>
            </a:pPr>
            <a:r>
              <a:rPr lang="en-US"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8119981" y="1853006"/>
            <a:ext cx="1203325" cy="398780"/>
          </a:xfrm>
          <a:prstGeom prst="roundRect">
            <a:avLst>
              <a:gd name="adj" fmla="val 1592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54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Estimate travel</a:t>
            </a:r>
            <a:endParaRPr lang="en-US" sz="1200" dirty="0">
              <a:latin typeface="Times New Roman" panose="02020603050405020304" pitchFamily="18" charset="0"/>
              <a:cs typeface="Times New Roman" panose="02020603050405020304" pitchFamily="18" charset="0"/>
            </a:endParaRPr>
          </a:p>
        </p:txBody>
      </p:sp>
      <p:sp>
        <p:nvSpPr>
          <p:cNvPr id="13" name="Text 11"/>
          <p:cNvSpPr/>
          <p:nvPr/>
        </p:nvSpPr>
        <p:spPr>
          <a:xfrm>
            <a:off x="9412203" y="1910152"/>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nSpc>
                <a:spcPts val="2240"/>
              </a:lnSpc>
            </a:pPr>
            <a:r>
              <a:rPr lang="en-US"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9704310" y="1853006"/>
            <a:ext cx="1700609" cy="398780"/>
          </a:xfrm>
          <a:prstGeom prst="roundRect">
            <a:avLst>
              <a:gd name="adj" fmla="val 1592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54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Prepare daily schedule</a:t>
            </a:r>
            <a:endParaRPr lang="en-US" sz="1200" dirty="0">
              <a:latin typeface="Times New Roman" panose="02020603050405020304" pitchFamily="18" charset="0"/>
              <a:cs typeface="Times New Roman" panose="02020603050405020304" pitchFamily="18" charset="0"/>
            </a:endParaRPr>
          </a:p>
        </p:txBody>
      </p:sp>
      <p:sp>
        <p:nvSpPr>
          <p:cNvPr id="15" name="Text 13"/>
          <p:cNvSpPr/>
          <p:nvPr/>
        </p:nvSpPr>
        <p:spPr>
          <a:xfrm>
            <a:off x="11493813" y="1910152"/>
            <a:ext cx="254000" cy="309880"/>
          </a:xfrm>
          <a:prstGeom prst="rect">
            <a:avLst/>
          </a:prstGeom>
          <a:noFill/>
          <a:ln/>
        </p:spPr>
        <p:txBody>
          <a:bodyPr wrap="square" lIns="0" tIns="0" rIns="0" bIns="0" rtlCol="0" anchor="t">
            <a:normAutofit/>
          </a:bodyPr>
          <a:lstStyle/>
          <a:p>
            <a:pPr>
              <a:lnSpc>
                <a:spcPts val="2240"/>
              </a:lnSpc>
            </a:pPr>
            <a:r>
              <a:rPr lang="en-US" sz="16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1199986" y="2340687"/>
            <a:ext cx="1037749" cy="398780"/>
          </a:xfrm>
          <a:prstGeom prst="roundRect">
            <a:avLst>
              <a:gd name="adj" fmla="val 1592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54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Visit doctors</a:t>
            </a:r>
            <a:endParaRPr lang="en-US" sz="1200" dirty="0">
              <a:latin typeface="Times New Roman" panose="02020603050405020304" pitchFamily="18" charset="0"/>
              <a:cs typeface="Times New Roman" panose="02020603050405020304" pitchFamily="18" charset="0"/>
            </a:endParaRPr>
          </a:p>
        </p:txBody>
      </p:sp>
      <p:graphicFrame>
        <p:nvGraphicFramePr>
          <p:cNvPr id="17" name="Table 0"/>
          <p:cNvGraphicFramePr>
            <a:graphicFrameLocks noGrp="1"/>
          </p:cNvGraphicFramePr>
          <p:nvPr>
            <p:extLst>
              <p:ext uri="{D42A27DB-BD31-4B8C-83A1-F6EECF244321}">
                <p14:modId xmlns:p14="http://schemas.microsoft.com/office/powerpoint/2010/main" val="1584225652"/>
              </p:ext>
            </p:extLst>
          </p:nvPr>
        </p:nvGraphicFramePr>
        <p:xfrm>
          <a:off x="1210146" y="2952823"/>
          <a:ext cx="10556240" cy="3168991"/>
        </p:xfrm>
        <a:graphic>
          <a:graphicData uri="http://schemas.openxmlformats.org/drawingml/2006/table">
            <a:tbl>
              <a:tblPr>
                <a:tableStyleId>{69CF1AB2-1976-4502-BF36-3FF5EA218861}</a:tableStyleId>
              </a:tblPr>
              <a:tblGrid>
                <a:gridCol w="5278120">
                  <a:extLst>
                    <a:ext uri="{9D8B030D-6E8A-4147-A177-3AD203B41FA5}">
                      <a16:colId xmlns:a16="http://schemas.microsoft.com/office/drawing/2014/main" val="20000"/>
                    </a:ext>
                  </a:extLst>
                </a:gridCol>
                <a:gridCol w="5278120">
                  <a:extLst>
                    <a:ext uri="{9D8B030D-6E8A-4147-A177-3AD203B41FA5}">
                      <a16:colId xmlns:a16="http://schemas.microsoft.com/office/drawing/2014/main" val="20001"/>
                    </a:ext>
                  </a:extLst>
                </a:gridCol>
              </a:tblGrid>
              <a:tr h="452713">
                <a:tc>
                  <a:txBody>
                    <a:bodyPr/>
                    <a:lstStyle/>
                    <a:p>
                      <a:pPr marL="0" indent="0">
                        <a:lnSpc>
                          <a:spcPts val="2240"/>
                        </a:lnSpc>
                        <a:buNone/>
                      </a:pPr>
                      <a:r>
                        <a:rPr lang="en-US" sz="1600" dirty="0">
                          <a:latin typeface="Times New Roman" panose="02020603050405020304" pitchFamily="18" charset="0"/>
                          <a:cs typeface="Times New Roman" panose="02020603050405020304" pitchFamily="18" charset="0"/>
                        </a:rPr>
                        <a:t>Existing approach</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solidFill>
                      <a:schemeClr val="accent1"/>
                    </a:solidFill>
                  </a:tcPr>
                </a:tc>
                <a:tc>
                  <a:txBody>
                    <a:bodyPr/>
                    <a:lstStyle/>
                    <a:p>
                      <a:pPr marL="0" indent="0">
                        <a:lnSpc>
                          <a:spcPts val="2240"/>
                        </a:lnSpc>
                        <a:buNone/>
                      </a:pPr>
                      <a:r>
                        <a:rPr lang="en-US" sz="1600" dirty="0">
                          <a:latin typeface="Times New Roman" panose="02020603050405020304" pitchFamily="18" charset="0"/>
                          <a:cs typeface="Times New Roman" panose="02020603050405020304" pitchFamily="18" charset="0"/>
                        </a:rPr>
                        <a:t>Limitation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solidFill>
                      <a:schemeClr val="accent1"/>
                    </a:solidFill>
                  </a:tcPr>
                </a:tc>
                <a:extLst>
                  <a:ext uri="{0D108BD9-81ED-4DB2-BD59-A6C34878D82A}">
                    <a16:rowId xmlns:a16="http://schemas.microsoft.com/office/drawing/2014/main" val="10000"/>
                  </a:ext>
                </a:extLst>
              </a:tr>
              <a:tr h="452713">
                <a:tc>
                  <a:txBody>
                    <a:bodyPr/>
                    <a:lstStyle/>
                    <a:p>
                      <a:pPr marL="0" indent="0">
                        <a:lnSpc>
                          <a:spcPts val="2240"/>
                        </a:lnSpc>
                        <a:buNone/>
                      </a:pPr>
                      <a:r>
                        <a:rPr lang="en-US" sz="1600" dirty="0">
                          <a:latin typeface="Times New Roman" panose="02020603050405020304" pitchFamily="18" charset="0"/>
                          <a:cs typeface="Times New Roman" panose="02020603050405020304" pitchFamily="18" charset="0"/>
                        </a:rPr>
                        <a:t>Manual prioritization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240"/>
                        </a:lnSpc>
                        <a:buNone/>
                      </a:pPr>
                      <a:r>
                        <a:rPr lang="en-US" sz="1600" dirty="0">
                          <a:latin typeface="Times New Roman" panose="02020603050405020304" pitchFamily="18" charset="0"/>
                          <a:cs typeface="Times New Roman" panose="02020603050405020304" pitchFamily="18" charset="0"/>
                        </a:rPr>
                        <a:t>Subjective</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1"/>
                  </a:ext>
                </a:extLst>
              </a:tr>
              <a:tr h="452713">
                <a:tc>
                  <a:txBody>
                    <a:bodyPr/>
                    <a:lstStyle/>
                    <a:p>
                      <a:pPr marL="0" indent="0">
                        <a:lnSpc>
                          <a:spcPts val="2240"/>
                        </a:lnSpc>
                        <a:buNone/>
                      </a:pPr>
                      <a:r>
                        <a:rPr lang="en-US" sz="1600" dirty="0">
                          <a:latin typeface="Times New Roman" panose="02020603050405020304" pitchFamily="18" charset="0"/>
                          <a:cs typeface="Times New Roman" panose="02020603050405020304" pitchFamily="18" charset="0"/>
                        </a:rPr>
                        <a:t>Spreadsheet planning</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240"/>
                        </a:lnSpc>
                        <a:buNone/>
                      </a:pPr>
                      <a:r>
                        <a:rPr lang="en-US" sz="1600" dirty="0">
                          <a:latin typeface="Times New Roman" panose="02020603050405020304" pitchFamily="18" charset="0"/>
                          <a:cs typeface="Times New Roman" panose="02020603050405020304" pitchFamily="18" charset="0"/>
                        </a:rPr>
                        <a:t>Difficult to scale</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2"/>
                  </a:ext>
                </a:extLst>
              </a:tr>
              <a:tr h="452713">
                <a:tc>
                  <a:txBody>
                    <a:bodyPr/>
                    <a:lstStyle/>
                    <a:p>
                      <a:pPr marL="0" indent="0">
                        <a:lnSpc>
                          <a:spcPts val="2240"/>
                        </a:lnSpc>
                        <a:buNone/>
                      </a:pPr>
                      <a:r>
                        <a:rPr lang="en-US" sz="1600" dirty="0">
                          <a:latin typeface="Times New Roman" panose="02020603050405020304" pitchFamily="18" charset="0"/>
                          <a:cs typeface="Times New Roman" panose="02020603050405020304" pitchFamily="18" charset="0"/>
                        </a:rPr>
                        <a:t>Map navigation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240"/>
                        </a:lnSpc>
                        <a:buNone/>
                      </a:pPr>
                      <a:r>
                        <a:rPr lang="en-US" sz="1600" dirty="0">
                          <a:latin typeface="Times New Roman" panose="02020603050405020304" pitchFamily="18" charset="0"/>
                          <a:cs typeface="Times New Roman" panose="02020603050405020304" pitchFamily="18" charset="0"/>
                        </a:rPr>
                        <a:t>Navigation ≠ visit scheduling</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3"/>
                  </a:ext>
                </a:extLst>
              </a:tr>
              <a:tr h="452713">
                <a:tc>
                  <a:txBody>
                    <a:bodyPr/>
                    <a:lstStyle/>
                    <a:p>
                      <a:pPr marL="0" indent="0">
                        <a:lnSpc>
                          <a:spcPts val="2240"/>
                        </a:lnSpc>
                        <a:buNone/>
                      </a:pPr>
                      <a:r>
                        <a:rPr lang="en-US" sz="1600" dirty="0">
                          <a:latin typeface="Times New Roman" panose="02020603050405020304" pitchFamily="18" charset="0"/>
                          <a:cs typeface="Times New Roman" panose="02020603050405020304" pitchFamily="18" charset="0"/>
                        </a:rPr>
                        <a:t>Separate appointment system</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240"/>
                        </a:lnSpc>
                        <a:buNone/>
                      </a:pPr>
                      <a:r>
                        <a:rPr lang="en-US" sz="1600" dirty="0">
                          <a:latin typeface="Times New Roman" panose="02020603050405020304" pitchFamily="18" charset="0"/>
                          <a:cs typeface="Times New Roman" panose="02020603050405020304" pitchFamily="18" charset="0"/>
                        </a:rPr>
                        <a:t>Doesn't optimize entire route</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4"/>
                  </a:ext>
                </a:extLst>
              </a:tr>
              <a:tr h="452713">
                <a:tc>
                  <a:txBody>
                    <a:bodyPr/>
                    <a:lstStyle/>
                    <a:p>
                      <a:pPr marL="0" indent="0">
                        <a:lnSpc>
                          <a:spcPts val="2240"/>
                        </a:lnSpc>
                        <a:buNone/>
                      </a:pPr>
                      <a:r>
                        <a:rPr lang="en-US" sz="1600" dirty="0">
                          <a:latin typeface="Times New Roman" panose="02020603050405020304" pitchFamily="18" charset="0"/>
                          <a:cs typeface="Times New Roman" panose="02020603050405020304" pitchFamily="18" charset="0"/>
                        </a:rPr>
                        <a:t>Static plans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240"/>
                        </a:lnSpc>
                        <a:buNone/>
                      </a:pPr>
                      <a:r>
                        <a:rPr lang="en-US" sz="1600" dirty="0">
                          <a:latin typeface="Times New Roman" panose="02020603050405020304" pitchFamily="18" charset="0"/>
                          <a:cs typeface="Times New Roman" panose="02020603050405020304" pitchFamily="18" charset="0"/>
                        </a:rPr>
                        <a:t>Difficult to handle changes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5"/>
                  </a:ext>
                </a:extLst>
              </a:tr>
              <a:tr h="452713">
                <a:tc>
                  <a:txBody>
                    <a:bodyPr/>
                    <a:lstStyle/>
                    <a:p>
                      <a:pPr marL="0" indent="0">
                        <a:lnSpc>
                          <a:spcPts val="2240"/>
                        </a:lnSpc>
                        <a:buNone/>
                      </a:pPr>
                      <a:r>
                        <a:rPr lang="en-US" sz="1600" dirty="0">
                          <a:latin typeface="Times New Roman" panose="02020603050405020304" pitchFamily="18" charset="0"/>
                          <a:cs typeface="Times New Roman" panose="02020603050405020304" pitchFamily="18" charset="0"/>
                        </a:rPr>
                        <a:t>Limited analytics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240"/>
                        </a:lnSpc>
                        <a:buNone/>
                      </a:pPr>
                      <a:r>
                        <a:rPr lang="en-US" sz="1600" dirty="0">
                          <a:latin typeface="Times New Roman" panose="02020603050405020304" pitchFamily="18" charset="0"/>
                          <a:cs typeface="Times New Roman" panose="02020603050405020304" pitchFamily="18" charset="0"/>
                        </a:rPr>
                        <a:t>Poor management visibility</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6"/>
                  </a:ext>
                </a:extLst>
              </a:tr>
            </a:tbl>
          </a:graphicData>
        </a:graphic>
      </p:graphicFrame>
      <p:sp>
        <p:nvSpPr>
          <p:cNvPr id="18" name="Text 15"/>
          <p:cNvSpPr/>
          <p:nvPr/>
        </p:nvSpPr>
        <p:spPr>
          <a:xfrm>
            <a:off x="11294428" y="6798415"/>
            <a:ext cx="135573" cy="238760"/>
          </a:xfrm>
          <a:prstGeom prst="rect">
            <a:avLst/>
          </a:prstGeom>
          <a:noFill/>
          <a:ln/>
        </p:spPr>
        <p:txBody>
          <a:bodyPr wrap="square" lIns="0" tIns="0" rIns="0" bIns="0" rtlCol="0" anchor="t">
            <a:normAutofit/>
          </a:bodyPr>
          <a:lstStyle/>
          <a:p>
            <a:pPr>
              <a:lnSpc>
                <a:spcPts val="1680"/>
              </a:lnSpc>
            </a:pPr>
            <a:r>
              <a:rPr lang="en-US" sz="1200" dirty="0">
                <a:solidFill>
                  <a:srgbClr val="5B6475"/>
                </a:solidFill>
                <a:latin typeface="Times New Roman" panose="02020603050405020304" pitchFamily="18" charset="0"/>
                <a:ea typeface="Arial" pitchFamily="34" charset="-122"/>
                <a:cs typeface="Times New Roman" panose="02020603050405020304" pitchFamily="18" charset="0"/>
              </a:rPr>
              <a:t>5</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850900" y="1203963"/>
            <a:ext cx="0" cy="401559"/>
          </a:xfrm>
          <a:prstGeom prst="line">
            <a:avLst/>
          </a:prstGeom>
          <a:noFill/>
          <a:ln w="76200">
            <a:solidFill>
              <a:schemeClr val="accent2"/>
            </a:solidFill>
            <a:prstDash val="solid"/>
          </a:ln>
        </p:spPr>
      </p:sp>
      <p:sp>
        <p:nvSpPr>
          <p:cNvPr id="3" name="Text 1"/>
          <p:cNvSpPr>
            <a:spLocks noGrp="1"/>
          </p:cNvSpPr>
          <p:nvPr>
            <p:ph type="title"/>
          </p:nvPr>
        </p:nvSpPr>
        <p:spPr>
          <a:xfrm>
            <a:off x="1041403" y="1203963"/>
            <a:ext cx="10647935" cy="426959"/>
          </a:xfrm>
          <a:prstGeom prst="rect">
            <a:avLst/>
          </a:prstGeom>
          <a:noFill/>
          <a:ln/>
        </p:spPr>
        <p:txBody>
          <a:bodyPr vert="horz" wrap="square" lIns="0" tIns="0" rIns="0" bIns="0" rtlCol="0" anchor="t">
            <a:normAutofit/>
          </a:bodyPr>
          <a:lstStyle/>
          <a:p>
            <a:pPr>
              <a:lnSpc>
                <a:spcPts val="3171"/>
              </a:lnSpc>
            </a:pPr>
            <a:r>
              <a:rPr lang="en-US" sz="2756" b="1" dirty="0">
                <a:latin typeface="Times New Roman" panose="02020603050405020304" pitchFamily="18" charset="0"/>
                <a:cs typeface="Times New Roman" panose="02020603050405020304" pitchFamily="18" charset="0"/>
              </a:rPr>
              <a:t>Literature </a:t>
            </a:r>
            <a:r>
              <a:rPr lang="en-US" sz="3200" b="1" dirty="0">
                <a:latin typeface="Times New Roman" panose="02020603050405020304" pitchFamily="18" charset="0"/>
                <a:cs typeface="Times New Roman" panose="02020603050405020304" pitchFamily="18" charset="0"/>
              </a:rPr>
              <a:t>Survey</a:t>
            </a:r>
            <a:endParaRPr lang="en-US" sz="2756" dirty="0">
              <a:latin typeface="Times New Roman" panose="02020603050405020304" pitchFamily="18" charset="0"/>
              <a:cs typeface="Times New Roman" panose="02020603050405020304" pitchFamily="18" charset="0"/>
            </a:endParaRPr>
          </a:p>
        </p:txBody>
      </p:sp>
      <p:graphicFrame>
        <p:nvGraphicFramePr>
          <p:cNvPr id="4" name="Table 0"/>
          <p:cNvGraphicFramePr>
            <a:graphicFrameLocks noGrp="1"/>
          </p:cNvGraphicFramePr>
          <p:nvPr>
            <p:extLst>
              <p:ext uri="{D42A27DB-BD31-4B8C-83A1-F6EECF244321}">
                <p14:modId xmlns:p14="http://schemas.microsoft.com/office/powerpoint/2010/main" val="3462204085"/>
              </p:ext>
            </p:extLst>
          </p:nvPr>
        </p:nvGraphicFramePr>
        <p:xfrm>
          <a:off x="822960" y="1818883"/>
          <a:ext cx="10866380" cy="4524804"/>
        </p:xfrm>
        <a:graphic>
          <a:graphicData uri="http://schemas.openxmlformats.org/drawingml/2006/table">
            <a:tbl>
              <a:tblPr>
                <a:tableStyleId>{69CF1AB2-1976-4502-BF36-3FF5EA218861}</a:tableStyleId>
              </a:tblPr>
              <a:tblGrid>
                <a:gridCol w="2716595">
                  <a:extLst>
                    <a:ext uri="{9D8B030D-6E8A-4147-A177-3AD203B41FA5}">
                      <a16:colId xmlns:a16="http://schemas.microsoft.com/office/drawing/2014/main" val="20000"/>
                    </a:ext>
                  </a:extLst>
                </a:gridCol>
                <a:gridCol w="2716595">
                  <a:extLst>
                    <a:ext uri="{9D8B030D-6E8A-4147-A177-3AD203B41FA5}">
                      <a16:colId xmlns:a16="http://schemas.microsoft.com/office/drawing/2014/main" val="20001"/>
                    </a:ext>
                  </a:extLst>
                </a:gridCol>
                <a:gridCol w="2716595">
                  <a:extLst>
                    <a:ext uri="{9D8B030D-6E8A-4147-A177-3AD203B41FA5}">
                      <a16:colId xmlns:a16="http://schemas.microsoft.com/office/drawing/2014/main" val="20002"/>
                    </a:ext>
                  </a:extLst>
                </a:gridCol>
                <a:gridCol w="2716595">
                  <a:extLst>
                    <a:ext uri="{9D8B030D-6E8A-4147-A177-3AD203B41FA5}">
                      <a16:colId xmlns:a16="http://schemas.microsoft.com/office/drawing/2014/main" val="20003"/>
                    </a:ext>
                  </a:extLst>
                </a:gridCol>
              </a:tblGrid>
              <a:tr h="385164">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Study</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solidFill>
                      <a:schemeClr val="accent1"/>
                    </a:solidFill>
                  </a:tcPr>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Main Focus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solidFill>
                      <a:schemeClr val="accent1"/>
                    </a:solidFill>
                  </a:tcPr>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Technique</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solidFill>
                      <a:schemeClr val="accent1"/>
                    </a:solidFill>
                  </a:tcPr>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Limitation / Gap</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solidFill>
                      <a:schemeClr val="accent1"/>
                    </a:solidFill>
                  </a:tcPr>
                </a:tc>
                <a:extLst>
                  <a:ext uri="{0D108BD9-81ED-4DB2-BD59-A6C34878D82A}">
                    <a16:rowId xmlns:a16="http://schemas.microsoft.com/office/drawing/2014/main" val="10000"/>
                  </a:ext>
                </a:extLst>
              </a:tr>
              <a:tr h="649965">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Yi et al.</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Physician detailing planning</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Neural network + optimization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Older expert-system approach</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1"/>
                  </a:ext>
                </a:extLst>
              </a:tr>
              <a:tr h="649965">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Zhang et al.</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Pharmaceutical sales representative routing</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Orienteering + time windows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Focuses strongly on routing/selection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2"/>
                  </a:ext>
                </a:extLst>
              </a:tr>
              <a:tr h="385164">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Solomon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VRPTW</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Routing algorithms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General routing benchmark</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3"/>
                  </a:ext>
                </a:extLst>
              </a:tr>
              <a:tr h="649965">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Liu et al.</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VRPTW literature review</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Survey</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Does not provide MR-specific application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4"/>
                  </a:ext>
                </a:extLst>
              </a:tr>
              <a:tr h="649965">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Rhee &amp; Yi</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Physician interest prediction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Predictive modelling</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Focuses on targeting rather than route planning</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5"/>
                  </a:ext>
                </a:extLst>
              </a:tr>
              <a:tr h="562404">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Bouatouche &amp; Belkadi</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Sales representative planning</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Hybrid optimization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Optimization-focused</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6"/>
                  </a:ext>
                </a:extLst>
              </a:tr>
              <a:tr h="385164">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Shala et al.</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Field-service planning</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Operations research</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156"/>
                        </a:lnSpc>
                        <a:buNone/>
                      </a:pPr>
                      <a:r>
                        <a:rPr lang="en-US" sz="1600" dirty="0">
                          <a:latin typeface="Times New Roman" panose="02020603050405020304" pitchFamily="18" charset="0"/>
                          <a:cs typeface="Times New Roman" panose="02020603050405020304" pitchFamily="18" charset="0"/>
                        </a:rPr>
                        <a:t>Technician/service context</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7"/>
                  </a:ext>
                </a:extLst>
              </a:tr>
            </a:tbl>
          </a:graphicData>
        </a:graphic>
      </p:graphicFrame>
      <p:sp>
        <p:nvSpPr>
          <p:cNvPr id="5" name="Text 2"/>
          <p:cNvSpPr/>
          <p:nvPr/>
        </p:nvSpPr>
        <p:spPr>
          <a:xfrm>
            <a:off x="11294428" y="6807199"/>
            <a:ext cx="135573" cy="238760"/>
          </a:xfrm>
          <a:prstGeom prst="rect">
            <a:avLst/>
          </a:prstGeom>
          <a:noFill/>
          <a:ln/>
        </p:spPr>
        <p:txBody>
          <a:bodyPr wrap="square" lIns="0" tIns="0" rIns="0" bIns="0" rtlCol="0" anchor="t">
            <a:normAutofit/>
          </a:bodyPr>
          <a:lstStyle/>
          <a:p>
            <a:pPr>
              <a:lnSpc>
                <a:spcPts val="1680"/>
              </a:lnSpc>
            </a:pPr>
            <a:r>
              <a:rPr lang="en-US" sz="1200" dirty="0">
                <a:solidFill>
                  <a:srgbClr val="5B6475"/>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850900" y="1224283"/>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224283"/>
            <a:ext cx="10647935" cy="463551"/>
          </a:xfrm>
          <a:prstGeom prst="rect">
            <a:avLst/>
          </a:prstGeom>
          <a:noFill/>
          <a:ln/>
        </p:spPr>
        <p:txBody>
          <a:bodyPr vert="horz" wrap="square" lIns="0" tIns="0" rIns="0" bIns="0" rtlCol="0" anchor="t">
            <a:normAutofit/>
          </a:bodyPr>
          <a:lstStyle/>
          <a:p>
            <a:pPr>
              <a:lnSpc>
                <a:spcPts val="3451"/>
              </a:lnSpc>
            </a:pPr>
            <a:r>
              <a:rPr lang="en-US" sz="3600" b="1" dirty="0">
                <a:latin typeface="Times New Roman" panose="02020603050405020304" pitchFamily="18" charset="0"/>
                <a:cs typeface="Times New Roman" panose="02020603050405020304" pitchFamily="18" charset="0"/>
              </a:rPr>
              <a:t>Research </a:t>
            </a:r>
            <a:r>
              <a:rPr lang="en-US" sz="3200" b="1" dirty="0">
                <a:latin typeface="Times New Roman" panose="02020603050405020304" pitchFamily="18" charset="0"/>
                <a:cs typeface="Times New Roman" panose="02020603050405020304" pitchFamily="18" charset="0"/>
              </a:rPr>
              <a:t>Gap</a:t>
            </a:r>
            <a:endParaRPr lang="en-US" sz="3600" dirty="0">
              <a:latin typeface="Times New Roman" panose="02020603050405020304" pitchFamily="18" charset="0"/>
              <a:cs typeface="Times New Roman" panose="02020603050405020304" pitchFamily="18" charset="0"/>
            </a:endParaRPr>
          </a:p>
        </p:txBody>
      </p:sp>
      <p:sp>
        <p:nvSpPr>
          <p:cNvPr id="4" name="Text 2"/>
          <p:cNvSpPr/>
          <p:nvPr/>
        </p:nvSpPr>
        <p:spPr>
          <a:xfrm>
            <a:off x="1076960" y="1936753"/>
            <a:ext cx="10883392" cy="488315"/>
          </a:xfrm>
          <a:prstGeom prst="rect">
            <a:avLst/>
          </a:prstGeom>
          <a:noFill/>
          <a:ln/>
        </p:spPr>
        <p:txBody>
          <a:bodyPr wrap="square" lIns="0" tIns="0" rIns="0" bIns="0" rtlCol="0" anchor="t">
            <a:normAutofit/>
          </a:bodyPr>
          <a:lstStyle/>
          <a:p>
            <a:pPr algn="just">
              <a:lnSpc>
                <a:spcPts val="1823"/>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Existing research commonly addresses: Physician targeting · Sales representative planning · Appointment scheduling · Vehicle routing · Field-service optimization</a:t>
            </a:r>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1076960" y="2635947"/>
            <a:ext cx="10883392" cy="256859"/>
          </a:xfrm>
          <a:prstGeom prst="rect">
            <a:avLst/>
          </a:prstGeom>
          <a:noFill/>
          <a:ln/>
        </p:spPr>
        <p:txBody>
          <a:bodyPr wrap="square" lIns="0" tIns="0" rIns="0" bIns="0" rtlCol="0" anchor="t">
            <a:normAutofit/>
          </a:bodyPr>
          <a:lstStyle/>
          <a:p>
            <a:pPr algn="just">
              <a:lnSpc>
                <a:spcPts val="1823"/>
              </a:lnSpc>
            </a:pPr>
            <a:r>
              <a:rPr lang="en-US" sz="1600" b="1" dirty="0">
                <a:solidFill>
                  <a:srgbClr val="C8553D"/>
                </a:solidFill>
                <a:latin typeface="Times New Roman" panose="02020603050405020304" pitchFamily="18" charset="0"/>
                <a:ea typeface="Arial" pitchFamily="34" charset="-122"/>
                <a:cs typeface="Times New Roman" panose="02020603050405020304" pitchFamily="18" charset="0"/>
              </a:rPr>
              <a:t>However, these areas are often treated as separate decision problems.</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1076960" y="3221507"/>
            <a:ext cx="1947069" cy="389891"/>
          </a:xfrm>
          <a:prstGeom prst="roundRect">
            <a:avLst>
              <a:gd name="adj" fmla="val 16287"/>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just">
              <a:lnSpc>
                <a:spcPts val="1471"/>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Historical / Operational Data</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3112929" y="3274211"/>
            <a:ext cx="254000" cy="309880"/>
          </a:xfrm>
          <a:prstGeom prst="rect">
            <a:avLst/>
          </a:prstGeom>
          <a:noFill/>
          <a:ln/>
          <a:effectLst>
            <a:reflection blurRad="6350" stA="52000" endA="300" endPos="35000" dir="5400000" sy="-100000" algn="bl" rotWithShape="0"/>
          </a:effectLst>
        </p:spPr>
        <p:txBody>
          <a:bodyPr wrap="square" lIns="0" tIns="0" rIns="0" bIns="0" rtlCol="0" anchor="t">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3405031" y="3221507"/>
            <a:ext cx="2108523" cy="389891"/>
          </a:xfrm>
          <a:prstGeom prst="roundRect">
            <a:avLst>
              <a:gd name="adj" fmla="val 16287"/>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just">
              <a:lnSpc>
                <a:spcPts val="1471"/>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Visit Prioritization (ML Model)</a:t>
            </a:r>
            <a:endParaRPr lang="en-US" sz="1200" dirty="0">
              <a:latin typeface="Times New Roman" panose="02020603050405020304" pitchFamily="18" charset="0"/>
              <a:cs typeface="Times New Roman" panose="02020603050405020304" pitchFamily="18" charset="0"/>
            </a:endParaRPr>
          </a:p>
        </p:txBody>
      </p:sp>
      <p:sp>
        <p:nvSpPr>
          <p:cNvPr id="9" name="Text 7"/>
          <p:cNvSpPr/>
          <p:nvPr/>
        </p:nvSpPr>
        <p:spPr>
          <a:xfrm>
            <a:off x="5551251" y="3274211"/>
            <a:ext cx="254000" cy="309880"/>
          </a:xfrm>
          <a:prstGeom prst="rect">
            <a:avLst/>
          </a:prstGeom>
          <a:noFill/>
          <a:ln/>
          <a:effectLst>
            <a:reflection blurRad="6350" stA="52000" endA="300" endPos="35000" dir="5400000" sy="-100000" algn="bl" rotWithShape="0"/>
          </a:effectLst>
        </p:spPr>
        <p:txBody>
          <a:bodyPr wrap="square" lIns="0" tIns="0" rIns="0" bIns="0" rtlCol="0" anchor="t">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5842952" y="3221507"/>
            <a:ext cx="1550029" cy="389891"/>
          </a:xfrm>
          <a:prstGeom prst="roundRect">
            <a:avLst>
              <a:gd name="adj" fmla="val 16287"/>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just">
              <a:lnSpc>
                <a:spcPts val="1471"/>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Priority Information</a:t>
            </a:r>
            <a:endParaRPr lang="en-US" sz="1200" dirty="0">
              <a:latin typeface="Times New Roman" panose="02020603050405020304" pitchFamily="18" charset="0"/>
              <a:cs typeface="Times New Roman" panose="02020603050405020304" pitchFamily="18" charset="0"/>
            </a:endParaRPr>
          </a:p>
        </p:txBody>
      </p:sp>
      <p:sp>
        <p:nvSpPr>
          <p:cNvPr id="11" name="Text 9"/>
          <p:cNvSpPr/>
          <p:nvPr/>
        </p:nvSpPr>
        <p:spPr>
          <a:xfrm>
            <a:off x="7406481" y="3261512"/>
            <a:ext cx="254000" cy="309880"/>
          </a:xfrm>
          <a:prstGeom prst="rect">
            <a:avLst/>
          </a:prstGeom>
          <a:noFill/>
          <a:ln/>
          <a:effectLst>
            <a:reflection blurRad="6350" stA="52000" endA="300" endPos="35000" dir="5400000" sy="-100000" algn="bl" rotWithShape="0"/>
          </a:effectLst>
        </p:spPr>
        <p:txBody>
          <a:bodyPr wrap="square" lIns="0" tIns="0" rIns="0" bIns="0" rtlCol="0" anchor="t">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7735882" y="3221507"/>
            <a:ext cx="3283117" cy="389891"/>
          </a:xfrm>
          <a:prstGeom prst="roundRect">
            <a:avLst>
              <a:gd name="adj" fmla="val 16287"/>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just">
              <a:lnSpc>
                <a:spcPts val="1471"/>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Appointment Constraints + Travel Information</a:t>
            </a:r>
            <a:endParaRPr lang="en-US" sz="1200" dirty="0">
              <a:latin typeface="Times New Roman" panose="02020603050405020304" pitchFamily="18" charset="0"/>
              <a:cs typeface="Times New Roman" panose="02020603050405020304" pitchFamily="18" charset="0"/>
            </a:endParaRPr>
          </a:p>
        </p:txBody>
      </p:sp>
      <p:sp>
        <p:nvSpPr>
          <p:cNvPr id="13" name="Text 11"/>
          <p:cNvSpPr/>
          <p:nvPr/>
        </p:nvSpPr>
        <p:spPr>
          <a:xfrm>
            <a:off x="11018996" y="3274211"/>
            <a:ext cx="254000" cy="309880"/>
          </a:xfrm>
          <a:prstGeom prst="rect">
            <a:avLst/>
          </a:prstGeom>
          <a:noFill/>
          <a:ln/>
          <a:effectLst>
            <a:reflection blurRad="6350" stA="52000" endA="300" endPos="35000" dir="5400000" sy="-100000" algn="bl" rotWithShape="0"/>
          </a:effectLst>
        </p:spPr>
        <p:txBody>
          <a:bodyPr wrap="square" lIns="0" tIns="0" rIns="0" bIns="0" rtlCol="0" anchor="t">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4" name="Text 12"/>
          <p:cNvSpPr/>
          <p:nvPr/>
        </p:nvSpPr>
        <p:spPr>
          <a:xfrm>
            <a:off x="1076960" y="3700297"/>
            <a:ext cx="2095024" cy="389891"/>
          </a:xfrm>
          <a:prstGeom prst="roundRect">
            <a:avLst>
              <a:gd name="adj" fmla="val 16287"/>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just">
              <a:lnSpc>
                <a:spcPts val="1471"/>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Route Optimization (OR-Tools)</a:t>
            </a:r>
            <a:endParaRPr lang="en-US" sz="1200" dirty="0">
              <a:latin typeface="Times New Roman" panose="02020603050405020304" pitchFamily="18" charset="0"/>
              <a:cs typeface="Times New Roman" panose="02020603050405020304" pitchFamily="18" charset="0"/>
            </a:endParaRPr>
          </a:p>
        </p:txBody>
      </p:sp>
      <p:sp>
        <p:nvSpPr>
          <p:cNvPr id="15" name="Text 13"/>
          <p:cNvSpPr/>
          <p:nvPr/>
        </p:nvSpPr>
        <p:spPr>
          <a:xfrm>
            <a:off x="3260884" y="3753003"/>
            <a:ext cx="254000" cy="309880"/>
          </a:xfrm>
          <a:prstGeom prst="rect">
            <a:avLst/>
          </a:prstGeom>
          <a:noFill/>
          <a:ln/>
          <a:effectLst>
            <a:reflection blurRad="6350" stA="52000" endA="300" endPos="35000" dir="5400000" sy="-100000" algn="bl" rotWithShape="0"/>
          </a:effectLst>
        </p:spPr>
        <p:txBody>
          <a:bodyPr wrap="square" lIns="0" tIns="0" rIns="0" bIns="0" rtlCol="0" anchor="t">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6" name="Text 14"/>
          <p:cNvSpPr/>
          <p:nvPr/>
        </p:nvSpPr>
        <p:spPr>
          <a:xfrm>
            <a:off x="3552987" y="3700297"/>
            <a:ext cx="1455499" cy="389891"/>
          </a:xfrm>
          <a:prstGeom prst="roundRect">
            <a:avLst>
              <a:gd name="adj" fmla="val 16287"/>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just">
              <a:lnSpc>
                <a:spcPts val="1471"/>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Daily Visit Schedule</a:t>
            </a:r>
            <a:endParaRPr lang="en-US" sz="1200" dirty="0">
              <a:latin typeface="Times New Roman" panose="02020603050405020304" pitchFamily="18" charset="0"/>
              <a:cs typeface="Times New Roman" panose="02020603050405020304" pitchFamily="18" charset="0"/>
            </a:endParaRPr>
          </a:p>
        </p:txBody>
      </p:sp>
      <p:sp>
        <p:nvSpPr>
          <p:cNvPr id="17" name="Text 15"/>
          <p:cNvSpPr/>
          <p:nvPr/>
        </p:nvSpPr>
        <p:spPr>
          <a:xfrm>
            <a:off x="1076960" y="4471595"/>
            <a:ext cx="10883392" cy="505460"/>
          </a:xfrm>
          <a:prstGeom prst="rect">
            <a:avLst/>
          </a:prstGeom>
          <a:noFill/>
          <a:ln/>
        </p:spPr>
        <p:txBody>
          <a:bodyPr wrap="square" lIns="0" tIns="0" rIns="0" bIns="0" rtlCol="0" anchor="t">
            <a:normAutofit/>
          </a:bodyPr>
          <a:lstStyle/>
          <a:p>
            <a:pPr algn="just">
              <a:lnSpc>
                <a:spcPts val="1891"/>
              </a:lnSpc>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Research contribution: Integration of data-driven visit prioritization with constraint-based route optimization in a single MR decision-support workflow.</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11294428" y="6827519"/>
            <a:ext cx="135573" cy="238760"/>
          </a:xfrm>
          <a:prstGeom prst="rect">
            <a:avLst/>
          </a:prstGeom>
          <a:noFill/>
          <a:ln/>
        </p:spPr>
        <p:txBody>
          <a:bodyPr wrap="square" lIns="0" tIns="0" rIns="0" bIns="0" rtlCol="0" anchor="t">
            <a:normAutofit/>
          </a:bodyPr>
          <a:lstStyle/>
          <a:p>
            <a:pPr>
              <a:lnSpc>
                <a:spcPts val="1680"/>
              </a:lnSpc>
            </a:pPr>
            <a:r>
              <a:rPr lang="en-US" sz="1600" dirty="0">
                <a:solidFill>
                  <a:srgbClr val="5B6475"/>
                </a:solidFill>
                <a:latin typeface="Times New Roman" panose="02020603050405020304" pitchFamily="18" charset="0"/>
                <a:ea typeface="Arial" pitchFamily="34" charset="-122"/>
                <a:cs typeface="Times New Roman" panose="02020603050405020304" pitchFamily="18" charset="0"/>
              </a:rPr>
              <a:t>7</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50900" y="1193803"/>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193803"/>
            <a:ext cx="10647935" cy="463551"/>
          </a:xfrm>
          <a:prstGeom prst="rect">
            <a:avLst/>
          </a:prstGeom>
          <a:noFill/>
          <a:ln/>
        </p:spPr>
        <p:txBody>
          <a:bodyPr vert="horz" wrap="square" lIns="0" tIns="0" rIns="0" bIns="0" rtlCol="0" anchor="t">
            <a:normAutofit/>
          </a:bodyPr>
          <a:lstStyle/>
          <a:p>
            <a:pPr algn="just">
              <a:lnSpc>
                <a:spcPts val="3451"/>
              </a:lnSpc>
            </a:pPr>
            <a:r>
              <a:rPr lang="en-US" sz="3200" b="1" dirty="0">
                <a:latin typeface="Times New Roman" panose="02020603050405020304" pitchFamily="18" charset="0"/>
                <a:cs typeface="Times New Roman" panose="02020603050405020304" pitchFamily="18" charset="0"/>
              </a:rPr>
              <a:t>Proposed AI-Based Solution</a:t>
            </a:r>
            <a:endParaRPr lang="en-US" sz="3200" dirty="0">
              <a:latin typeface="Times New Roman" panose="02020603050405020304" pitchFamily="18" charset="0"/>
              <a:cs typeface="Times New Roman" panose="02020603050405020304" pitchFamily="18" charset="0"/>
            </a:endParaRPr>
          </a:p>
        </p:txBody>
      </p:sp>
      <p:sp>
        <p:nvSpPr>
          <p:cNvPr id="4" name="Text 2"/>
          <p:cNvSpPr/>
          <p:nvPr/>
        </p:nvSpPr>
        <p:spPr>
          <a:xfrm>
            <a:off x="1178560" y="1946909"/>
            <a:ext cx="10883392" cy="256859"/>
          </a:xfrm>
          <a:prstGeom prst="rect">
            <a:avLst/>
          </a:prstGeom>
          <a:noFill/>
          <a:ln/>
        </p:spPr>
        <p:txBody>
          <a:bodyPr wrap="square" lIns="0" tIns="0" rIns="0" bIns="0" rtlCol="0" anchor="t">
            <a:normAutofit/>
          </a:bodyPr>
          <a:lstStyle/>
          <a:p>
            <a:pPr algn="just">
              <a:lnSpc>
                <a:spcPts val="1823"/>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The system consists of three major intelligence layers.</a:t>
            </a:r>
            <a:endParaRPr lang="en-US" sz="1600" dirty="0">
              <a:latin typeface="Times New Roman" panose="02020603050405020304" pitchFamily="18" charset="0"/>
              <a:cs typeface="Times New Roman" panose="02020603050405020304" pitchFamily="18" charset="0"/>
            </a:endParaRPr>
          </a:p>
        </p:txBody>
      </p:sp>
      <p:sp>
        <p:nvSpPr>
          <p:cNvPr id="5" name="Shape 3"/>
          <p:cNvSpPr/>
          <p:nvPr/>
        </p:nvSpPr>
        <p:spPr>
          <a:xfrm>
            <a:off x="1181736" y="2384747"/>
            <a:ext cx="3414157" cy="1225551"/>
          </a:xfrm>
          <a:prstGeom prst="roundRect">
            <a:avLst>
              <a:gd name="adj" fmla="val 4922"/>
            </a:avLst>
          </a:prstGeom>
          <a:solidFill>
            <a:srgbClr val="FFFFFF"/>
          </a:solidFill>
          <a:ln w="6350">
            <a:solidFill>
              <a:srgbClr val="D9D6CC"/>
            </a:solidFill>
            <a:prstDash val="solid"/>
          </a:ln>
        </p:spPr>
      </p:sp>
      <p:sp>
        <p:nvSpPr>
          <p:cNvPr id="6" name="Text 4"/>
          <p:cNvSpPr/>
          <p:nvPr/>
        </p:nvSpPr>
        <p:spPr>
          <a:xfrm>
            <a:off x="1336044" y="2539048"/>
            <a:ext cx="3198713" cy="238760"/>
          </a:xfrm>
          <a:prstGeom prst="rect">
            <a:avLst/>
          </a:prstGeom>
          <a:noFill/>
          <a:ln/>
        </p:spPr>
        <p:txBody>
          <a:bodyPr wrap="square" lIns="0" tIns="0" rIns="0" bIns="0" rtlCol="0" anchor="t">
            <a:normAutofit/>
          </a:bodyPr>
          <a:lstStyle/>
          <a:p>
            <a:pPr algn="just">
              <a:lnSpc>
                <a:spcPts val="1680"/>
              </a:lnSpc>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Layer 1 :— Prediction</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1336044" y="2815908"/>
            <a:ext cx="3198713" cy="452120"/>
          </a:xfrm>
          <a:prstGeom prst="rect">
            <a:avLst/>
          </a:prstGeom>
          <a:noFill/>
          <a:ln/>
        </p:spPr>
        <p:txBody>
          <a:bodyPr wrap="square" lIns="0" tIns="0" rIns="0" bIns="0" rtlCol="0" anchor="t">
            <a:normAutofit/>
          </a:bodyPr>
          <a:lstStyle/>
          <a:p>
            <a:pPr algn="just">
              <a:lnSpc>
                <a:spcPts val="1680"/>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Machine Learning. Predict visit priority. "Which planned visit is more important?"</a:t>
            </a:r>
            <a:endParaRPr lang="en-US" sz="1400" dirty="0">
              <a:latin typeface="Times New Roman" panose="02020603050405020304" pitchFamily="18" charset="0"/>
              <a:cs typeface="Times New Roman" panose="02020603050405020304" pitchFamily="18" charset="0"/>
            </a:endParaRPr>
          </a:p>
        </p:txBody>
      </p:sp>
      <p:sp>
        <p:nvSpPr>
          <p:cNvPr id="8" name="Shape 6"/>
          <p:cNvSpPr/>
          <p:nvPr/>
        </p:nvSpPr>
        <p:spPr>
          <a:xfrm>
            <a:off x="4754644" y="2384747"/>
            <a:ext cx="3414157" cy="1225551"/>
          </a:xfrm>
          <a:prstGeom prst="roundRect">
            <a:avLst>
              <a:gd name="adj" fmla="val 4922"/>
            </a:avLst>
          </a:prstGeom>
          <a:solidFill>
            <a:srgbClr val="FFFFFF"/>
          </a:solidFill>
          <a:ln w="6350">
            <a:solidFill>
              <a:srgbClr val="D9D6CC"/>
            </a:solidFill>
            <a:prstDash val="solid"/>
          </a:ln>
        </p:spPr>
      </p:sp>
      <p:sp>
        <p:nvSpPr>
          <p:cNvPr id="9" name="Text 7"/>
          <p:cNvSpPr/>
          <p:nvPr/>
        </p:nvSpPr>
        <p:spPr>
          <a:xfrm>
            <a:off x="4908953" y="2539048"/>
            <a:ext cx="3198713" cy="238760"/>
          </a:xfrm>
          <a:prstGeom prst="rect">
            <a:avLst/>
          </a:prstGeom>
          <a:noFill/>
          <a:ln/>
        </p:spPr>
        <p:txBody>
          <a:bodyPr wrap="square" lIns="0" tIns="0" rIns="0" bIns="0" rtlCol="0" anchor="t">
            <a:normAutofit/>
          </a:bodyPr>
          <a:lstStyle/>
          <a:p>
            <a:pPr algn="just">
              <a:lnSpc>
                <a:spcPts val="1680"/>
              </a:lnSpc>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Layer 2 :— Optimization</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4908953" y="2815908"/>
            <a:ext cx="3198713" cy="665480"/>
          </a:xfrm>
          <a:prstGeom prst="rect">
            <a:avLst/>
          </a:prstGeom>
          <a:noFill/>
          <a:ln/>
        </p:spPr>
        <p:txBody>
          <a:bodyPr wrap="square" lIns="0" tIns="0" rIns="0" bIns="0" rtlCol="0" anchor="t">
            <a:normAutofit/>
          </a:bodyPr>
          <a:lstStyle/>
          <a:p>
            <a:pPr algn="just">
              <a:lnSpc>
                <a:spcPts val="1680"/>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Google OR-Tools / VRPTW. Generate feasible route. "In what sequence should visits be performed?"</a:t>
            </a:r>
            <a:endParaRPr lang="en-US" sz="1400" dirty="0">
              <a:latin typeface="Times New Roman" panose="02020603050405020304" pitchFamily="18" charset="0"/>
              <a:cs typeface="Times New Roman" panose="02020603050405020304" pitchFamily="18" charset="0"/>
            </a:endParaRPr>
          </a:p>
        </p:txBody>
      </p:sp>
      <p:sp>
        <p:nvSpPr>
          <p:cNvPr id="11" name="Shape 9"/>
          <p:cNvSpPr/>
          <p:nvPr/>
        </p:nvSpPr>
        <p:spPr>
          <a:xfrm>
            <a:off x="8327552" y="2384747"/>
            <a:ext cx="3414157" cy="1225551"/>
          </a:xfrm>
          <a:prstGeom prst="roundRect">
            <a:avLst>
              <a:gd name="adj" fmla="val 4922"/>
            </a:avLst>
          </a:prstGeom>
          <a:solidFill>
            <a:srgbClr val="FFFFFF"/>
          </a:solidFill>
          <a:ln w="6350">
            <a:solidFill>
              <a:srgbClr val="D9D6CC"/>
            </a:solidFill>
            <a:prstDash val="solid"/>
          </a:ln>
        </p:spPr>
      </p:sp>
      <p:sp>
        <p:nvSpPr>
          <p:cNvPr id="12" name="Text 10"/>
          <p:cNvSpPr/>
          <p:nvPr/>
        </p:nvSpPr>
        <p:spPr>
          <a:xfrm>
            <a:off x="8481860" y="2539048"/>
            <a:ext cx="3198713" cy="238760"/>
          </a:xfrm>
          <a:prstGeom prst="rect">
            <a:avLst/>
          </a:prstGeom>
          <a:noFill/>
          <a:ln/>
        </p:spPr>
        <p:txBody>
          <a:bodyPr wrap="square" lIns="0" tIns="0" rIns="0" bIns="0" rtlCol="0" anchor="t">
            <a:normAutofit/>
          </a:bodyPr>
          <a:lstStyle/>
          <a:p>
            <a:pPr algn="just">
              <a:lnSpc>
                <a:spcPts val="1680"/>
              </a:lnSpc>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Layer 3 :— Application</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8481860" y="2815908"/>
            <a:ext cx="3198713" cy="452120"/>
          </a:xfrm>
          <a:prstGeom prst="rect">
            <a:avLst/>
          </a:prstGeom>
          <a:noFill/>
          <a:ln/>
        </p:spPr>
        <p:txBody>
          <a:bodyPr wrap="square" lIns="0" tIns="0" rIns="0" bIns="0" rtlCol="0" anchor="t">
            <a:normAutofit/>
          </a:bodyPr>
          <a:lstStyle/>
          <a:p>
            <a:pPr algn="just">
              <a:lnSpc>
                <a:spcPts val="1680"/>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Web Dashboard. Allow MRs and managers to interact with the results.</a:t>
            </a:r>
            <a:endParaRPr lang="en-US" sz="1400" dirty="0">
              <a:latin typeface="Times New Roman" panose="02020603050405020304" pitchFamily="18" charset="0"/>
              <a:cs typeface="Times New Roman" panose="02020603050405020304" pitchFamily="18" charset="0"/>
            </a:endParaRPr>
          </a:p>
        </p:txBody>
      </p:sp>
      <p:sp>
        <p:nvSpPr>
          <p:cNvPr id="14" name="Text 12"/>
          <p:cNvSpPr/>
          <p:nvPr/>
        </p:nvSpPr>
        <p:spPr>
          <a:xfrm>
            <a:off x="1178560" y="3816669"/>
            <a:ext cx="1213088" cy="389891"/>
          </a:xfrm>
          <a:prstGeom prst="roundRect">
            <a:avLst>
              <a:gd name="adj" fmla="val 16287"/>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just">
              <a:lnSpc>
                <a:spcPts val="1471"/>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AGENCY DATA</a:t>
            </a:r>
            <a:endParaRPr lang="en-US" sz="1200" dirty="0">
              <a:latin typeface="Times New Roman" panose="02020603050405020304" pitchFamily="18" charset="0"/>
              <a:cs typeface="Times New Roman" panose="02020603050405020304" pitchFamily="18" charset="0"/>
            </a:endParaRPr>
          </a:p>
        </p:txBody>
      </p:sp>
      <p:sp>
        <p:nvSpPr>
          <p:cNvPr id="15" name="Text 13"/>
          <p:cNvSpPr/>
          <p:nvPr/>
        </p:nvSpPr>
        <p:spPr>
          <a:xfrm>
            <a:off x="2480548" y="3869373"/>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6" name="Text 14"/>
          <p:cNvSpPr/>
          <p:nvPr/>
        </p:nvSpPr>
        <p:spPr>
          <a:xfrm>
            <a:off x="2772648" y="3816669"/>
            <a:ext cx="1450579" cy="389891"/>
          </a:xfrm>
          <a:prstGeom prst="roundRect">
            <a:avLst>
              <a:gd name="adj" fmla="val 16287"/>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just">
              <a:lnSpc>
                <a:spcPts val="1471"/>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Data Preprocessing</a:t>
            </a:r>
            <a:endParaRPr lang="en-US" sz="1200" dirty="0">
              <a:latin typeface="Times New Roman" panose="02020603050405020304" pitchFamily="18" charset="0"/>
              <a:cs typeface="Times New Roman" panose="02020603050405020304" pitchFamily="18" charset="0"/>
            </a:endParaRPr>
          </a:p>
        </p:txBody>
      </p:sp>
      <p:sp>
        <p:nvSpPr>
          <p:cNvPr id="17" name="Text 15"/>
          <p:cNvSpPr/>
          <p:nvPr/>
        </p:nvSpPr>
        <p:spPr>
          <a:xfrm>
            <a:off x="4312127" y="3869373"/>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4604232" y="3816669"/>
            <a:ext cx="2150745" cy="389891"/>
          </a:xfrm>
          <a:prstGeom prst="roundRect">
            <a:avLst>
              <a:gd name="adj" fmla="val 16287"/>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just">
              <a:lnSpc>
                <a:spcPts val="1471"/>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Priority Prediction + Constraints</a:t>
            </a:r>
            <a:endParaRPr lang="en-US" sz="1200" dirty="0">
              <a:latin typeface="Times New Roman" panose="02020603050405020304" pitchFamily="18" charset="0"/>
              <a:cs typeface="Times New Roman" panose="02020603050405020304" pitchFamily="18" charset="0"/>
            </a:endParaRPr>
          </a:p>
        </p:txBody>
      </p:sp>
      <p:sp>
        <p:nvSpPr>
          <p:cNvPr id="19" name="Text 17"/>
          <p:cNvSpPr/>
          <p:nvPr/>
        </p:nvSpPr>
        <p:spPr>
          <a:xfrm>
            <a:off x="6843871" y="3869373"/>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20" name="Text 18"/>
          <p:cNvSpPr/>
          <p:nvPr/>
        </p:nvSpPr>
        <p:spPr>
          <a:xfrm>
            <a:off x="7135972" y="3816669"/>
            <a:ext cx="2095024" cy="389891"/>
          </a:xfrm>
          <a:prstGeom prst="roundRect">
            <a:avLst>
              <a:gd name="adj" fmla="val 16287"/>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just">
              <a:lnSpc>
                <a:spcPts val="1471"/>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Route Optimization (OR-Tools)</a:t>
            </a:r>
            <a:endParaRPr lang="en-US" sz="1200" dirty="0">
              <a:latin typeface="Times New Roman" panose="02020603050405020304" pitchFamily="18" charset="0"/>
              <a:cs typeface="Times New Roman" panose="02020603050405020304" pitchFamily="18" charset="0"/>
            </a:endParaRPr>
          </a:p>
        </p:txBody>
      </p:sp>
      <p:sp>
        <p:nvSpPr>
          <p:cNvPr id="21" name="Text 19"/>
          <p:cNvSpPr/>
          <p:nvPr/>
        </p:nvSpPr>
        <p:spPr>
          <a:xfrm>
            <a:off x="9319895" y="3869373"/>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22" name="Text 20"/>
          <p:cNvSpPr/>
          <p:nvPr/>
        </p:nvSpPr>
        <p:spPr>
          <a:xfrm>
            <a:off x="9611997" y="3816669"/>
            <a:ext cx="1472803" cy="389891"/>
          </a:xfrm>
          <a:prstGeom prst="roundRect">
            <a:avLst>
              <a:gd name="adj" fmla="val 16287"/>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just">
              <a:lnSpc>
                <a:spcPts val="1471"/>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Optimized Schedule</a:t>
            </a:r>
            <a:endParaRPr lang="en-US" sz="1200" dirty="0">
              <a:latin typeface="Times New Roman" panose="02020603050405020304" pitchFamily="18" charset="0"/>
              <a:cs typeface="Times New Roman" panose="02020603050405020304" pitchFamily="18" charset="0"/>
            </a:endParaRPr>
          </a:p>
        </p:txBody>
      </p:sp>
      <p:sp>
        <p:nvSpPr>
          <p:cNvPr id="23" name="Text 21"/>
          <p:cNvSpPr/>
          <p:nvPr/>
        </p:nvSpPr>
        <p:spPr>
          <a:xfrm>
            <a:off x="11173699" y="3869373"/>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24" name="Text 22"/>
          <p:cNvSpPr/>
          <p:nvPr/>
        </p:nvSpPr>
        <p:spPr>
          <a:xfrm>
            <a:off x="1178560" y="4295457"/>
            <a:ext cx="2500709" cy="389891"/>
          </a:xfrm>
          <a:prstGeom prst="roundRect">
            <a:avLst>
              <a:gd name="adj" fmla="val 16287"/>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just">
              <a:lnSpc>
                <a:spcPts val="1471"/>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MR Dashboard | Manager Dashboard</a:t>
            </a:r>
            <a:endParaRPr lang="en-US" sz="1200" dirty="0">
              <a:latin typeface="Times New Roman" panose="02020603050405020304" pitchFamily="18" charset="0"/>
              <a:cs typeface="Times New Roman" panose="02020603050405020304" pitchFamily="18" charset="0"/>
            </a:endParaRPr>
          </a:p>
        </p:txBody>
      </p:sp>
      <p:sp>
        <p:nvSpPr>
          <p:cNvPr id="25" name="Text 23"/>
          <p:cNvSpPr/>
          <p:nvPr/>
        </p:nvSpPr>
        <p:spPr>
          <a:xfrm>
            <a:off x="11294428" y="6797043"/>
            <a:ext cx="135573" cy="238760"/>
          </a:xfrm>
          <a:prstGeom prst="rect">
            <a:avLst/>
          </a:prstGeom>
          <a:noFill/>
          <a:ln/>
        </p:spPr>
        <p:txBody>
          <a:bodyPr wrap="square" lIns="0" tIns="0" rIns="0" bIns="0" rtlCol="0" anchor="t">
            <a:normAutofit/>
          </a:bodyPr>
          <a:lstStyle/>
          <a:p>
            <a:pPr algn="just">
              <a:lnSpc>
                <a:spcPts val="1680"/>
              </a:lnSpc>
            </a:pPr>
            <a:r>
              <a:rPr lang="en-US" sz="1400" dirty="0">
                <a:solidFill>
                  <a:srgbClr val="5B6475"/>
                </a:solidFill>
                <a:latin typeface="Times New Roman" panose="02020603050405020304" pitchFamily="18" charset="0"/>
                <a:ea typeface="Arial" pitchFamily="34" charset="-122"/>
                <a:cs typeface="Times New Roman" panose="02020603050405020304" pitchFamily="18" charset="0"/>
              </a:rPr>
              <a:t>8</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50900" y="1183643"/>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183643"/>
            <a:ext cx="10647935" cy="463551"/>
          </a:xfrm>
          <a:prstGeom prst="rect">
            <a:avLst/>
          </a:prstGeom>
          <a:noFill/>
          <a:ln/>
        </p:spPr>
        <p:txBody>
          <a:bodyPr vert="horz" wrap="square" lIns="0" tIns="0" rIns="0" bIns="0" rtlCol="0" anchor="t">
            <a:normAutofit/>
          </a:bodyPr>
          <a:lstStyle/>
          <a:p>
            <a:pPr algn="just">
              <a:lnSpc>
                <a:spcPts val="3451"/>
              </a:lnSpc>
            </a:pPr>
            <a:r>
              <a:rPr lang="en-US" sz="3200" b="1" dirty="0">
                <a:latin typeface="Times New Roman" panose="02020603050405020304" pitchFamily="18" charset="0"/>
                <a:cs typeface="Times New Roman" panose="02020603050405020304" pitchFamily="18" charset="0"/>
              </a:rPr>
              <a:t>Proposed methodology</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1141096" y="1929769"/>
            <a:ext cx="3414157" cy="1352551"/>
          </a:xfrm>
          <a:prstGeom prst="roundRect">
            <a:avLst>
              <a:gd name="adj" fmla="val 4460"/>
            </a:avLst>
          </a:prstGeom>
          <a:solidFill>
            <a:srgbClr val="FFFFFF"/>
          </a:solidFill>
          <a:ln w="6350">
            <a:solidFill>
              <a:srgbClr val="D9D6CC"/>
            </a:solidFill>
            <a:prstDash val="solid"/>
          </a:ln>
        </p:spPr>
      </p:sp>
      <p:sp>
        <p:nvSpPr>
          <p:cNvPr id="5" name="Text 3"/>
          <p:cNvSpPr/>
          <p:nvPr/>
        </p:nvSpPr>
        <p:spPr>
          <a:xfrm>
            <a:off x="1295404" y="2084069"/>
            <a:ext cx="3198713" cy="223520"/>
          </a:xfrm>
          <a:prstGeom prst="rect">
            <a:avLst/>
          </a:prstGeom>
          <a:noFill/>
          <a:ln/>
        </p:spPr>
        <p:txBody>
          <a:bodyPr wrap="square" lIns="0" tIns="0" rIns="0" bIns="0" rtlCol="0" anchor="t">
            <a:normAutofit/>
          </a:bodyPr>
          <a:lstStyle/>
          <a:p>
            <a:pPr algn="just">
              <a:lnSpc>
                <a:spcPts val="1560"/>
              </a:lnSpc>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Phase 1 :— Data Collection</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1295404" y="2345691"/>
            <a:ext cx="3198713" cy="807720"/>
          </a:xfrm>
          <a:prstGeom prst="rect">
            <a:avLst/>
          </a:prstGeom>
          <a:noFill/>
          <a:ln/>
        </p:spPr>
        <p:txBody>
          <a:bodyPr wrap="square" lIns="0" tIns="0" rIns="0" bIns="0" rtlCol="0" anchor="t">
            <a:normAutofit fontScale="92500"/>
          </a:bodyPr>
          <a:lstStyle/>
          <a:p>
            <a:pPr algn="just">
              <a:lnSpc>
                <a:spcPts val="1540"/>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Doctor information, MR information, historical visits, appointment information, location information, visit outcomes, existing priority/category information, if available</a:t>
            </a:r>
            <a:endParaRPr lang="en-US" sz="1400" dirty="0">
              <a:latin typeface="Times New Roman" panose="02020603050405020304" pitchFamily="18" charset="0"/>
              <a:cs typeface="Times New Roman" panose="02020603050405020304" pitchFamily="18" charset="0"/>
            </a:endParaRPr>
          </a:p>
        </p:txBody>
      </p:sp>
      <p:sp>
        <p:nvSpPr>
          <p:cNvPr id="7" name="Shape 5"/>
          <p:cNvSpPr/>
          <p:nvPr/>
        </p:nvSpPr>
        <p:spPr>
          <a:xfrm>
            <a:off x="4714004" y="1929769"/>
            <a:ext cx="3414157" cy="1352551"/>
          </a:xfrm>
          <a:prstGeom prst="roundRect">
            <a:avLst>
              <a:gd name="adj" fmla="val 4460"/>
            </a:avLst>
          </a:prstGeom>
          <a:solidFill>
            <a:srgbClr val="FFFFFF"/>
          </a:solidFill>
          <a:ln w="6350">
            <a:solidFill>
              <a:srgbClr val="D9D6CC"/>
            </a:solidFill>
            <a:prstDash val="solid"/>
          </a:ln>
        </p:spPr>
      </p:sp>
      <p:sp>
        <p:nvSpPr>
          <p:cNvPr id="8" name="Text 6"/>
          <p:cNvSpPr/>
          <p:nvPr/>
        </p:nvSpPr>
        <p:spPr>
          <a:xfrm>
            <a:off x="4868313" y="2084069"/>
            <a:ext cx="3198713" cy="223520"/>
          </a:xfrm>
          <a:prstGeom prst="rect">
            <a:avLst/>
          </a:prstGeom>
          <a:noFill/>
          <a:ln/>
        </p:spPr>
        <p:txBody>
          <a:bodyPr wrap="square" lIns="0" tIns="0" rIns="0" bIns="0" rtlCol="0" anchor="t">
            <a:normAutofit/>
          </a:bodyPr>
          <a:lstStyle/>
          <a:p>
            <a:pPr algn="just">
              <a:lnSpc>
                <a:spcPts val="1560"/>
              </a:lnSpc>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Phase 2 :— Data Preprocessing</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4868313" y="2345691"/>
            <a:ext cx="3198713" cy="807720"/>
          </a:xfrm>
          <a:prstGeom prst="rect">
            <a:avLst/>
          </a:prstGeom>
          <a:noFill/>
          <a:ln/>
        </p:spPr>
        <p:txBody>
          <a:bodyPr wrap="square" lIns="0" tIns="0" rIns="0" bIns="0" rtlCol="0" anchor="t">
            <a:normAutofit/>
          </a:bodyPr>
          <a:lstStyle/>
          <a:p>
            <a:pPr algn="just">
              <a:lnSpc>
                <a:spcPts val="1540"/>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Remove duplicates, handle missing values, validate coordinates, encode categorical features, normalize/transform where required, detect inconsistent records</a:t>
            </a:r>
            <a:endParaRPr lang="en-US" sz="1400" dirty="0">
              <a:latin typeface="Times New Roman" panose="02020603050405020304" pitchFamily="18" charset="0"/>
              <a:cs typeface="Times New Roman" panose="02020603050405020304" pitchFamily="18" charset="0"/>
            </a:endParaRPr>
          </a:p>
        </p:txBody>
      </p:sp>
      <p:sp>
        <p:nvSpPr>
          <p:cNvPr id="10" name="Shape 8"/>
          <p:cNvSpPr/>
          <p:nvPr/>
        </p:nvSpPr>
        <p:spPr>
          <a:xfrm>
            <a:off x="8286912" y="1929769"/>
            <a:ext cx="3414157" cy="1352551"/>
          </a:xfrm>
          <a:prstGeom prst="roundRect">
            <a:avLst>
              <a:gd name="adj" fmla="val 4460"/>
            </a:avLst>
          </a:prstGeom>
          <a:solidFill>
            <a:srgbClr val="FFFFFF"/>
          </a:solidFill>
          <a:ln w="6350">
            <a:solidFill>
              <a:srgbClr val="D9D6CC"/>
            </a:solidFill>
            <a:prstDash val="solid"/>
          </a:ln>
        </p:spPr>
      </p:sp>
      <p:sp>
        <p:nvSpPr>
          <p:cNvPr id="11" name="Text 9"/>
          <p:cNvSpPr/>
          <p:nvPr/>
        </p:nvSpPr>
        <p:spPr>
          <a:xfrm>
            <a:off x="8441220" y="2084069"/>
            <a:ext cx="3198713" cy="223520"/>
          </a:xfrm>
          <a:prstGeom prst="rect">
            <a:avLst/>
          </a:prstGeom>
          <a:noFill/>
          <a:ln/>
        </p:spPr>
        <p:txBody>
          <a:bodyPr wrap="square" lIns="0" tIns="0" rIns="0" bIns="0" rtlCol="0" anchor="t">
            <a:normAutofit/>
          </a:bodyPr>
          <a:lstStyle/>
          <a:p>
            <a:pPr algn="just">
              <a:lnSpc>
                <a:spcPts val="1560"/>
              </a:lnSpc>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Phase 3 :— ML</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8441220" y="2345694"/>
            <a:ext cx="3198713" cy="220980"/>
          </a:xfrm>
          <a:prstGeom prst="rect">
            <a:avLst/>
          </a:prstGeom>
          <a:noFill/>
          <a:ln/>
        </p:spPr>
        <p:txBody>
          <a:bodyPr wrap="square" lIns="0" tIns="0" rIns="0" bIns="0" rtlCol="0" anchor="t">
            <a:normAutofit/>
          </a:bodyPr>
          <a:lstStyle/>
          <a:p>
            <a:pPr algn="just">
              <a:lnSpc>
                <a:spcPts val="1540"/>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Train priority prediction model.</a:t>
            </a:r>
            <a:endParaRPr lang="en-US" sz="1400" dirty="0">
              <a:latin typeface="Times New Roman" panose="02020603050405020304" pitchFamily="18" charset="0"/>
              <a:cs typeface="Times New Roman" panose="02020603050405020304" pitchFamily="18" charset="0"/>
            </a:endParaRPr>
          </a:p>
        </p:txBody>
      </p:sp>
      <p:sp>
        <p:nvSpPr>
          <p:cNvPr id="13" name="Shape 11"/>
          <p:cNvSpPr/>
          <p:nvPr/>
        </p:nvSpPr>
        <p:spPr>
          <a:xfrm>
            <a:off x="1141096" y="3441065"/>
            <a:ext cx="3414157" cy="1156971"/>
          </a:xfrm>
          <a:prstGeom prst="roundRect">
            <a:avLst>
              <a:gd name="adj" fmla="val 5214"/>
            </a:avLst>
          </a:prstGeom>
          <a:solidFill>
            <a:srgbClr val="FFFFFF"/>
          </a:solidFill>
          <a:ln w="6350">
            <a:solidFill>
              <a:srgbClr val="D9D6CC"/>
            </a:solidFill>
            <a:prstDash val="solid"/>
          </a:ln>
        </p:spPr>
      </p:sp>
      <p:sp>
        <p:nvSpPr>
          <p:cNvPr id="14" name="Text 12"/>
          <p:cNvSpPr/>
          <p:nvPr/>
        </p:nvSpPr>
        <p:spPr>
          <a:xfrm>
            <a:off x="1295404" y="3595369"/>
            <a:ext cx="3198713" cy="223520"/>
          </a:xfrm>
          <a:prstGeom prst="rect">
            <a:avLst/>
          </a:prstGeom>
          <a:noFill/>
          <a:ln/>
        </p:spPr>
        <p:txBody>
          <a:bodyPr wrap="square" lIns="0" tIns="0" rIns="0" bIns="0" rtlCol="0" anchor="t">
            <a:normAutofit/>
          </a:bodyPr>
          <a:lstStyle/>
          <a:p>
            <a:pPr algn="just">
              <a:lnSpc>
                <a:spcPts val="1560"/>
              </a:lnSpc>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Phase 4 :— Optimization</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1295404" y="3856994"/>
            <a:ext cx="3198713" cy="612140"/>
          </a:xfrm>
          <a:prstGeom prst="rect">
            <a:avLst/>
          </a:prstGeom>
          <a:noFill/>
          <a:ln/>
        </p:spPr>
        <p:txBody>
          <a:bodyPr wrap="square" lIns="0" tIns="0" rIns="0" bIns="0" rtlCol="0" anchor="t">
            <a:normAutofit/>
          </a:bodyPr>
          <a:lstStyle/>
          <a:p>
            <a:pPr algn="just">
              <a:lnSpc>
                <a:spcPts val="1540"/>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Create travel-time matrix, distance matrix, time windows, visit duration, working-hour constraints. Then solve routing problem.</a:t>
            </a:r>
            <a:endParaRPr lang="en-US" sz="1400" dirty="0">
              <a:latin typeface="Times New Roman" panose="02020603050405020304" pitchFamily="18" charset="0"/>
              <a:cs typeface="Times New Roman" panose="02020603050405020304" pitchFamily="18" charset="0"/>
            </a:endParaRPr>
          </a:p>
        </p:txBody>
      </p:sp>
      <p:sp>
        <p:nvSpPr>
          <p:cNvPr id="16" name="Shape 14"/>
          <p:cNvSpPr/>
          <p:nvPr/>
        </p:nvSpPr>
        <p:spPr>
          <a:xfrm>
            <a:off x="4714004" y="3441065"/>
            <a:ext cx="3414157" cy="1156971"/>
          </a:xfrm>
          <a:prstGeom prst="roundRect">
            <a:avLst>
              <a:gd name="adj" fmla="val 5214"/>
            </a:avLst>
          </a:prstGeom>
          <a:solidFill>
            <a:srgbClr val="FFFFFF"/>
          </a:solidFill>
          <a:ln w="6350">
            <a:solidFill>
              <a:srgbClr val="D9D6CC"/>
            </a:solidFill>
            <a:prstDash val="solid"/>
          </a:ln>
        </p:spPr>
      </p:sp>
      <p:sp>
        <p:nvSpPr>
          <p:cNvPr id="17" name="Text 15"/>
          <p:cNvSpPr/>
          <p:nvPr/>
        </p:nvSpPr>
        <p:spPr>
          <a:xfrm>
            <a:off x="4868313" y="3595369"/>
            <a:ext cx="3198713" cy="223520"/>
          </a:xfrm>
          <a:prstGeom prst="rect">
            <a:avLst/>
          </a:prstGeom>
          <a:noFill/>
          <a:ln/>
        </p:spPr>
        <p:txBody>
          <a:bodyPr wrap="square" lIns="0" tIns="0" rIns="0" bIns="0" rtlCol="0" anchor="t">
            <a:normAutofit/>
          </a:bodyPr>
          <a:lstStyle/>
          <a:p>
            <a:pPr algn="just">
              <a:lnSpc>
                <a:spcPts val="1560"/>
              </a:lnSpc>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Phase 5 :— Web Application</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4868313" y="3856994"/>
            <a:ext cx="3198713" cy="220980"/>
          </a:xfrm>
          <a:prstGeom prst="rect">
            <a:avLst/>
          </a:prstGeom>
          <a:noFill/>
          <a:ln/>
        </p:spPr>
        <p:txBody>
          <a:bodyPr wrap="square" lIns="0" tIns="0" rIns="0" bIns="0" rtlCol="0" anchor="t">
            <a:normAutofit/>
          </a:bodyPr>
          <a:lstStyle/>
          <a:p>
            <a:pPr algn="just">
              <a:lnSpc>
                <a:spcPts val="1540"/>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FastAPI + React + MySQL.</a:t>
            </a:r>
            <a:endParaRPr lang="en-US" sz="1400" dirty="0">
              <a:latin typeface="Times New Roman" panose="02020603050405020304" pitchFamily="18" charset="0"/>
              <a:cs typeface="Times New Roman" panose="02020603050405020304" pitchFamily="18" charset="0"/>
            </a:endParaRPr>
          </a:p>
        </p:txBody>
      </p:sp>
      <p:sp>
        <p:nvSpPr>
          <p:cNvPr id="19" name="Shape 17"/>
          <p:cNvSpPr/>
          <p:nvPr/>
        </p:nvSpPr>
        <p:spPr>
          <a:xfrm>
            <a:off x="8286912" y="3441065"/>
            <a:ext cx="3414157" cy="1156971"/>
          </a:xfrm>
          <a:prstGeom prst="roundRect">
            <a:avLst>
              <a:gd name="adj" fmla="val 5214"/>
            </a:avLst>
          </a:prstGeom>
          <a:solidFill>
            <a:srgbClr val="FFFFFF"/>
          </a:solidFill>
          <a:ln w="6350">
            <a:solidFill>
              <a:srgbClr val="D9D6CC"/>
            </a:solidFill>
            <a:prstDash val="solid"/>
          </a:ln>
        </p:spPr>
      </p:sp>
      <p:sp>
        <p:nvSpPr>
          <p:cNvPr id="20" name="Text 18"/>
          <p:cNvSpPr/>
          <p:nvPr/>
        </p:nvSpPr>
        <p:spPr>
          <a:xfrm>
            <a:off x="8441220" y="3595369"/>
            <a:ext cx="3198713" cy="223520"/>
          </a:xfrm>
          <a:prstGeom prst="rect">
            <a:avLst/>
          </a:prstGeom>
          <a:noFill/>
          <a:ln/>
        </p:spPr>
        <p:txBody>
          <a:bodyPr wrap="square" lIns="0" tIns="0" rIns="0" bIns="0" rtlCol="0" anchor="t">
            <a:normAutofit/>
          </a:bodyPr>
          <a:lstStyle/>
          <a:p>
            <a:pPr algn="just">
              <a:lnSpc>
                <a:spcPts val="1560"/>
              </a:lnSpc>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Phase 6 :— Evaluation</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8441217" y="3856994"/>
            <a:ext cx="3256679" cy="220980"/>
          </a:xfrm>
          <a:prstGeom prst="rect">
            <a:avLst/>
          </a:prstGeom>
          <a:noFill/>
          <a:ln/>
        </p:spPr>
        <p:txBody>
          <a:bodyPr wrap="square" lIns="0" tIns="0" rIns="0" bIns="0" rtlCol="0" anchor="t">
            <a:noAutofit/>
          </a:bodyPr>
          <a:lstStyle/>
          <a:p>
            <a:pPr algn="just">
              <a:lnSpc>
                <a:spcPts val="1540"/>
              </a:lnSpc>
            </a:pPr>
            <a:r>
              <a:rPr lang="en-US" sz="1200" dirty="0">
                <a:solidFill>
                  <a:srgbClr val="1F2A44"/>
                </a:solidFill>
                <a:latin typeface="Times New Roman" panose="02020603050405020304" pitchFamily="18" charset="0"/>
                <a:ea typeface="Arial" pitchFamily="34" charset="-122"/>
                <a:cs typeface="Times New Roman" panose="02020603050405020304" pitchFamily="18" charset="0"/>
              </a:rPr>
              <a:t>Compare: Manual/baseline plan vs optimized plan</a:t>
            </a:r>
            <a:endParaRPr lang="en-US" sz="1200" dirty="0">
              <a:latin typeface="Times New Roman" panose="02020603050405020304" pitchFamily="18" charset="0"/>
              <a:cs typeface="Times New Roman" panose="02020603050405020304" pitchFamily="18" charset="0"/>
            </a:endParaRPr>
          </a:p>
        </p:txBody>
      </p:sp>
      <p:sp>
        <p:nvSpPr>
          <p:cNvPr id="22" name="Text 20"/>
          <p:cNvSpPr/>
          <p:nvPr/>
        </p:nvSpPr>
        <p:spPr>
          <a:xfrm>
            <a:off x="11294428" y="6786883"/>
            <a:ext cx="135573" cy="238760"/>
          </a:xfrm>
          <a:prstGeom prst="rect">
            <a:avLst/>
          </a:prstGeom>
          <a:noFill/>
          <a:ln/>
        </p:spPr>
        <p:txBody>
          <a:bodyPr wrap="square" lIns="0" tIns="0" rIns="0" bIns="0" rtlCol="0" anchor="t">
            <a:normAutofit/>
          </a:bodyPr>
          <a:lstStyle/>
          <a:p>
            <a:pPr algn="just">
              <a:lnSpc>
                <a:spcPts val="1680"/>
              </a:lnSpc>
            </a:pPr>
            <a:r>
              <a:rPr lang="en-US" sz="1400" dirty="0">
                <a:solidFill>
                  <a:srgbClr val="5B6475"/>
                </a:solidFill>
                <a:latin typeface="Times New Roman" panose="02020603050405020304" pitchFamily="18" charset="0"/>
                <a:ea typeface="Arial" pitchFamily="34" charset="-122"/>
                <a:cs typeface="Times New Roman" panose="02020603050405020304" pitchFamily="18" charset="0"/>
              </a:rPr>
              <a:t>9</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850900" y="1193803"/>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193803"/>
            <a:ext cx="10647935" cy="463551"/>
          </a:xfrm>
          <a:prstGeom prst="rect">
            <a:avLst/>
          </a:prstGeom>
          <a:noFill/>
          <a:ln/>
        </p:spPr>
        <p:txBody>
          <a:bodyPr vert="horz" wrap="square" lIns="0" tIns="0" rIns="0" bIns="0" rtlCol="0" anchor="t">
            <a:normAutofit/>
          </a:bodyPr>
          <a:lstStyle/>
          <a:p>
            <a:pPr>
              <a:lnSpc>
                <a:spcPts val="3451"/>
              </a:lnSpc>
            </a:pPr>
            <a:r>
              <a:rPr lang="en-US" sz="3200" b="1" dirty="0">
                <a:latin typeface="Times New Roman" panose="02020603050405020304" pitchFamily="18" charset="0"/>
                <a:cs typeface="Times New Roman" panose="02020603050405020304" pitchFamily="18" charset="0"/>
              </a:rPr>
              <a:t>Overall</a:t>
            </a:r>
            <a:r>
              <a:rPr lang="en-US" b="1" dirty="0">
                <a:latin typeface="Times New Roman" panose="02020603050405020304" pitchFamily="18" charset="0"/>
                <a:cs typeface="Times New Roman" panose="02020603050405020304" pitchFamily="18" charset="0"/>
              </a:rPr>
              <a:t> System Architecture</a:t>
            </a:r>
            <a:endParaRPr lang="en-US" dirty="0">
              <a:latin typeface="Times New Roman" panose="02020603050405020304" pitchFamily="18" charset="0"/>
              <a:cs typeface="Times New Roman" panose="02020603050405020304" pitchFamily="18" charset="0"/>
            </a:endParaRPr>
          </a:p>
        </p:txBody>
      </p:sp>
      <p:sp>
        <p:nvSpPr>
          <p:cNvPr id="4" name="Text 2"/>
          <p:cNvSpPr/>
          <p:nvPr/>
        </p:nvSpPr>
        <p:spPr>
          <a:xfrm>
            <a:off x="812800" y="1835151"/>
            <a:ext cx="5130800" cy="391160"/>
          </a:xfrm>
          <a:prstGeom prst="roundRect">
            <a:avLst>
              <a:gd name="adj" fmla="val 16234"/>
            </a:avLst>
          </a:prstGeom>
          <a:solidFill>
            <a:schemeClr val="accent2">
              <a:lumMod val="75000"/>
            </a:schemeClr>
          </a:solidFill>
          <a:ln/>
          <a:effectLst>
            <a:reflection blurRad="6350" stA="52000" endA="300" endPos="35000" dir="5400000" sy="-100000" algn="bl" rotWithShape="0"/>
          </a:effectLst>
        </p:spPr>
        <p:txBody>
          <a:bodyPr wrap="square" lIns="48331" tIns="70301" rIns="48331" bIns="44901" rtlCol="0" anchor="t">
            <a:normAutofit/>
          </a:bodyPr>
          <a:lstStyle/>
          <a:p>
            <a:pPr algn="ctr">
              <a:lnSpc>
                <a:spcPts val="168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Master Data</a:t>
            </a:r>
            <a:endParaRPr lang="en-US" sz="1200" dirty="0">
              <a:latin typeface="Times New Roman" panose="02020603050405020304" pitchFamily="18" charset="0"/>
              <a:cs typeface="Times New Roman" panose="02020603050405020304" pitchFamily="18" charset="0"/>
            </a:endParaRPr>
          </a:p>
        </p:txBody>
      </p:sp>
      <p:sp>
        <p:nvSpPr>
          <p:cNvPr id="5" name="Text 3"/>
          <p:cNvSpPr/>
          <p:nvPr/>
        </p:nvSpPr>
        <p:spPr>
          <a:xfrm>
            <a:off x="6248400" y="1835151"/>
            <a:ext cx="5130800" cy="391160"/>
          </a:xfrm>
          <a:prstGeom prst="roundRect">
            <a:avLst>
              <a:gd name="adj" fmla="val 16234"/>
            </a:avLst>
          </a:prstGeom>
          <a:solidFill>
            <a:schemeClr val="accent2">
              <a:lumMod val="75000"/>
            </a:schemeClr>
          </a:solidFill>
          <a:ln/>
          <a:effectLst>
            <a:reflection blurRad="6350" stA="52000" endA="300" endPos="35000" dir="5400000" sy="-100000" algn="bl" rotWithShape="0"/>
          </a:effectLst>
        </p:spPr>
        <p:txBody>
          <a:bodyPr wrap="square" lIns="48331" tIns="70301" rIns="48331" bIns="44901" rtlCol="0" anchor="t">
            <a:normAutofit/>
          </a:bodyPr>
          <a:lstStyle/>
          <a:p>
            <a:pPr algn="ctr">
              <a:lnSpc>
                <a:spcPts val="168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Historical Data</a:t>
            </a:r>
            <a:endParaRPr lang="en-US" sz="1200" dirty="0">
              <a:latin typeface="Times New Roman" panose="02020603050405020304" pitchFamily="18" charset="0"/>
              <a:cs typeface="Times New Roman" panose="02020603050405020304" pitchFamily="18" charset="0"/>
            </a:endParaRPr>
          </a:p>
        </p:txBody>
      </p:sp>
      <p:sp>
        <p:nvSpPr>
          <p:cNvPr id="6" name="Text 4"/>
          <p:cNvSpPr/>
          <p:nvPr/>
        </p:nvSpPr>
        <p:spPr>
          <a:xfrm>
            <a:off x="812800" y="2429515"/>
            <a:ext cx="10566400" cy="391160"/>
          </a:xfrm>
          <a:prstGeom prst="roundRect">
            <a:avLst>
              <a:gd name="adj" fmla="val 16234"/>
            </a:avLst>
          </a:prstGeom>
          <a:solidFill>
            <a:schemeClr val="accent1"/>
          </a:solidFill>
          <a:ln/>
          <a:effectLst>
            <a:reflection blurRad="6350" stA="52000" endA="300" endPos="35000" dir="5400000" sy="-100000" algn="bl" rotWithShape="0"/>
          </a:effectLst>
        </p:spPr>
        <p:txBody>
          <a:bodyPr wrap="square" lIns="0" tIns="70301" rIns="0" bIns="44901" rtlCol="0" anchor="t">
            <a:normAutofit/>
          </a:bodyPr>
          <a:lstStyle/>
          <a:p>
            <a:pPr algn="ctr">
              <a:lnSpc>
                <a:spcPts val="168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DATA PREPROCESSING</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654304" y="2884177"/>
            <a:ext cx="10883392" cy="282575"/>
          </a:xfrm>
          <a:prstGeom prst="rect">
            <a:avLst/>
          </a:prstGeom>
          <a:noFill/>
          <a:ln/>
          <a:effectLst>
            <a:reflection blurRad="6350" stA="52000" endA="300" endPos="35000" dir="5400000" sy="-100000" algn="bl" rotWithShape="0"/>
          </a:effectLst>
        </p:spPr>
        <p:txBody>
          <a:bodyPr wrap="square" lIns="0" tIns="0" rIns="0" bIns="0" rtlCol="0" anchor="t">
            <a:normAutofit/>
          </a:bodyPr>
          <a:lstStyle/>
          <a:p>
            <a:pPr algn="ctr">
              <a:lnSpc>
                <a:spcPts val="2025"/>
              </a:lnSpc>
            </a:pPr>
            <a:r>
              <a:rPr lang="en-US" sz="15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1500" dirty="0">
              <a:latin typeface="Times New Roman" panose="02020603050405020304" pitchFamily="18" charset="0"/>
              <a:cs typeface="Times New Roman" panose="02020603050405020304" pitchFamily="18" charset="0"/>
            </a:endParaRPr>
          </a:p>
        </p:txBody>
      </p:sp>
      <p:sp>
        <p:nvSpPr>
          <p:cNvPr id="8" name="Text 6"/>
          <p:cNvSpPr/>
          <p:nvPr/>
        </p:nvSpPr>
        <p:spPr>
          <a:xfrm>
            <a:off x="812800" y="3204847"/>
            <a:ext cx="10566400" cy="391160"/>
          </a:xfrm>
          <a:prstGeom prst="roundRect">
            <a:avLst>
              <a:gd name="adj" fmla="val 16234"/>
            </a:avLst>
          </a:prstGeom>
          <a:solidFill>
            <a:schemeClr val="accent1"/>
          </a:solidFill>
          <a:ln/>
          <a:effectLst>
            <a:reflection blurRad="6350" stA="52000" endA="300" endPos="35000" dir="5400000" sy="-100000" algn="bl" rotWithShape="0"/>
          </a:effectLst>
        </p:spPr>
        <p:txBody>
          <a:bodyPr wrap="square" lIns="0" tIns="70301" rIns="0" bIns="44901" rtlCol="0" anchor="t">
            <a:normAutofit/>
          </a:bodyPr>
          <a:lstStyle/>
          <a:p>
            <a:pPr algn="ctr">
              <a:lnSpc>
                <a:spcPts val="168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FEATURE ENGINEERING</a:t>
            </a:r>
            <a:endParaRPr lang="en-US" sz="1200" dirty="0">
              <a:latin typeface="Times New Roman" panose="02020603050405020304" pitchFamily="18" charset="0"/>
              <a:cs typeface="Times New Roman" panose="02020603050405020304" pitchFamily="18" charset="0"/>
            </a:endParaRPr>
          </a:p>
        </p:txBody>
      </p:sp>
      <p:sp>
        <p:nvSpPr>
          <p:cNvPr id="9" name="Text 7"/>
          <p:cNvSpPr/>
          <p:nvPr/>
        </p:nvSpPr>
        <p:spPr>
          <a:xfrm>
            <a:off x="812800" y="3799207"/>
            <a:ext cx="5130800" cy="382271"/>
          </a:xfrm>
          <a:prstGeom prst="roundRect">
            <a:avLst>
              <a:gd name="adj" fmla="val 16611"/>
            </a:avLst>
          </a:prstGeom>
          <a:solidFill>
            <a:schemeClr val="accent2">
              <a:lumMod val="50000"/>
            </a:schemeClr>
          </a:solidFill>
          <a:ln/>
          <a:effectLst>
            <a:reflection blurRad="6350" stA="52000" endA="300" endPos="35000" dir="5400000" sy="-100000" algn="bl" rotWithShape="0"/>
          </a:effectLst>
        </p:spPr>
        <p:txBody>
          <a:bodyPr wrap="square" lIns="48331" tIns="70301" rIns="48331" bIns="44901" rtlCol="0" anchor="t">
            <a:normAutofit/>
          </a:bodyPr>
          <a:lstStyle/>
          <a:p>
            <a:pPr algn="ctr">
              <a:lnSpc>
                <a:spcPts val="1611"/>
              </a:lnSpc>
            </a:pPr>
            <a:r>
              <a:rPr lang="en-US" sz="1151" dirty="0">
                <a:solidFill>
                  <a:srgbClr val="F7F6F2"/>
                </a:solidFill>
                <a:latin typeface="Times New Roman" panose="02020603050405020304" pitchFamily="18" charset="0"/>
                <a:ea typeface="Arial" pitchFamily="34" charset="-122"/>
                <a:cs typeface="Times New Roman" panose="02020603050405020304" pitchFamily="18" charset="0"/>
              </a:rPr>
              <a:t>ML PRIORITY ENGINE – Random Forest → Priority Output</a:t>
            </a:r>
            <a:endParaRPr lang="en-US" sz="1151" dirty="0">
              <a:latin typeface="Times New Roman" panose="02020603050405020304" pitchFamily="18" charset="0"/>
              <a:cs typeface="Times New Roman" panose="02020603050405020304" pitchFamily="18" charset="0"/>
            </a:endParaRPr>
          </a:p>
        </p:txBody>
      </p:sp>
      <p:sp>
        <p:nvSpPr>
          <p:cNvPr id="10" name="Text 8"/>
          <p:cNvSpPr/>
          <p:nvPr/>
        </p:nvSpPr>
        <p:spPr>
          <a:xfrm>
            <a:off x="6248400" y="3799207"/>
            <a:ext cx="5130800" cy="382271"/>
          </a:xfrm>
          <a:prstGeom prst="roundRect">
            <a:avLst>
              <a:gd name="adj" fmla="val 16611"/>
            </a:avLst>
          </a:prstGeom>
          <a:solidFill>
            <a:schemeClr val="accent2">
              <a:lumMod val="50000"/>
            </a:schemeClr>
          </a:solidFill>
          <a:ln/>
          <a:effectLst>
            <a:reflection blurRad="6350" stA="52000" endA="300" endPos="35000" dir="5400000" sy="-100000" algn="bl" rotWithShape="0"/>
          </a:effectLst>
        </p:spPr>
        <p:txBody>
          <a:bodyPr wrap="square" lIns="48331" tIns="70301" rIns="48331" bIns="44901" rtlCol="0" anchor="t">
            <a:normAutofit/>
          </a:bodyPr>
          <a:lstStyle/>
          <a:p>
            <a:pPr algn="ctr">
              <a:lnSpc>
                <a:spcPts val="1611"/>
              </a:lnSpc>
            </a:pPr>
            <a:r>
              <a:rPr lang="en-US" sz="1151" dirty="0">
                <a:solidFill>
                  <a:srgbClr val="F7F6F2"/>
                </a:solidFill>
                <a:latin typeface="Times New Roman" panose="02020603050405020304" pitchFamily="18" charset="0"/>
                <a:ea typeface="Arial" pitchFamily="34" charset="-122"/>
                <a:cs typeface="Times New Roman" panose="02020603050405020304" pitchFamily="18" charset="0"/>
              </a:rPr>
              <a:t>CONSTRAINT ENGINE – Time / Location / Availability / Visit Duration</a:t>
            </a:r>
            <a:endParaRPr lang="en-US" sz="1151" dirty="0">
              <a:latin typeface="Times New Roman" panose="02020603050405020304" pitchFamily="18" charset="0"/>
              <a:cs typeface="Times New Roman" panose="02020603050405020304" pitchFamily="18" charset="0"/>
            </a:endParaRPr>
          </a:p>
        </p:txBody>
      </p:sp>
      <p:sp>
        <p:nvSpPr>
          <p:cNvPr id="11" name="Text 9"/>
          <p:cNvSpPr/>
          <p:nvPr/>
        </p:nvSpPr>
        <p:spPr>
          <a:xfrm>
            <a:off x="812800" y="4384675"/>
            <a:ext cx="10566400" cy="391160"/>
          </a:xfrm>
          <a:prstGeom prst="roundRect">
            <a:avLst>
              <a:gd name="adj" fmla="val 16234"/>
            </a:avLst>
          </a:prstGeom>
          <a:solidFill>
            <a:schemeClr val="accent1"/>
          </a:solidFill>
          <a:ln/>
          <a:effectLst>
            <a:reflection blurRad="6350" stA="52000" endA="300" endPos="35000" dir="5400000" sy="-100000" algn="bl" rotWithShape="0"/>
          </a:effectLst>
        </p:spPr>
        <p:txBody>
          <a:bodyPr wrap="square" lIns="0" tIns="70301" rIns="0" bIns="44901" rtlCol="0" anchor="t">
            <a:normAutofit/>
          </a:bodyPr>
          <a:lstStyle/>
          <a:p>
            <a:pPr algn="ctr">
              <a:lnSpc>
                <a:spcPts val="168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ROUTE OPTIMIZER – Google OR-Tools</a:t>
            </a:r>
            <a:endParaRPr lang="en-US" sz="1200" dirty="0">
              <a:latin typeface="Times New Roman" panose="02020603050405020304" pitchFamily="18" charset="0"/>
              <a:cs typeface="Times New Roman" panose="02020603050405020304" pitchFamily="18" charset="0"/>
            </a:endParaRPr>
          </a:p>
        </p:txBody>
      </p:sp>
      <p:sp>
        <p:nvSpPr>
          <p:cNvPr id="12" name="Text 10"/>
          <p:cNvSpPr/>
          <p:nvPr/>
        </p:nvSpPr>
        <p:spPr>
          <a:xfrm>
            <a:off x="654304" y="4839345"/>
            <a:ext cx="10883392" cy="282575"/>
          </a:xfrm>
          <a:prstGeom prst="rect">
            <a:avLst/>
          </a:prstGeom>
          <a:noFill/>
          <a:ln/>
          <a:effectLst>
            <a:reflection blurRad="6350" stA="52000" endA="300" endPos="35000" dir="5400000" sy="-100000" algn="bl" rotWithShape="0"/>
          </a:effectLst>
        </p:spPr>
        <p:txBody>
          <a:bodyPr wrap="square" lIns="0" tIns="0" rIns="0" bIns="0" rtlCol="0" anchor="t">
            <a:normAutofit/>
          </a:bodyPr>
          <a:lstStyle/>
          <a:p>
            <a:pPr algn="ctr">
              <a:lnSpc>
                <a:spcPts val="2025"/>
              </a:lnSpc>
            </a:pPr>
            <a:r>
              <a:rPr lang="en-US" sz="15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1500" dirty="0">
              <a:latin typeface="Times New Roman" panose="02020603050405020304" pitchFamily="18" charset="0"/>
              <a:cs typeface="Times New Roman" panose="02020603050405020304" pitchFamily="18" charset="0"/>
            </a:endParaRPr>
          </a:p>
        </p:txBody>
      </p:sp>
      <p:sp>
        <p:nvSpPr>
          <p:cNvPr id="13" name="Text 11"/>
          <p:cNvSpPr/>
          <p:nvPr/>
        </p:nvSpPr>
        <p:spPr>
          <a:xfrm>
            <a:off x="812800" y="5160015"/>
            <a:ext cx="10566400" cy="391160"/>
          </a:xfrm>
          <a:prstGeom prst="roundRect">
            <a:avLst>
              <a:gd name="adj" fmla="val 16234"/>
            </a:avLst>
          </a:prstGeom>
          <a:solidFill>
            <a:schemeClr val="accent1"/>
          </a:solidFill>
          <a:ln/>
          <a:effectLst>
            <a:reflection blurRad="6350" stA="52000" endA="300" endPos="35000" dir="5400000" sy="-100000" algn="bl" rotWithShape="0"/>
          </a:effectLst>
        </p:spPr>
        <p:txBody>
          <a:bodyPr wrap="square" lIns="0" tIns="70301" rIns="0" bIns="44901" rtlCol="0" anchor="t">
            <a:normAutofit/>
          </a:bodyPr>
          <a:lstStyle/>
          <a:p>
            <a:pPr algn="ctr">
              <a:lnSpc>
                <a:spcPts val="168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OPTIMIZED DAILY PLAN → FastAPI → React Frontend</a:t>
            </a:r>
            <a:endParaRPr lang="en-US" sz="1200" dirty="0">
              <a:latin typeface="Times New Roman" panose="02020603050405020304" pitchFamily="18" charset="0"/>
              <a:cs typeface="Times New Roman" panose="02020603050405020304" pitchFamily="18" charset="0"/>
            </a:endParaRPr>
          </a:p>
        </p:txBody>
      </p:sp>
      <p:sp>
        <p:nvSpPr>
          <p:cNvPr id="14" name="Text 12"/>
          <p:cNvSpPr/>
          <p:nvPr/>
        </p:nvSpPr>
        <p:spPr>
          <a:xfrm>
            <a:off x="812800" y="5754371"/>
            <a:ext cx="5130800" cy="391160"/>
          </a:xfrm>
          <a:prstGeom prst="roundRect">
            <a:avLst>
              <a:gd name="adj" fmla="val 16234"/>
            </a:avLst>
          </a:prstGeom>
          <a:solidFill>
            <a:schemeClr val="accent2">
              <a:lumMod val="75000"/>
            </a:schemeClr>
          </a:solidFill>
          <a:ln/>
          <a:effectLst>
            <a:reflection blurRad="6350" stA="52000" endA="300" endPos="35000" dir="5400000" sy="-100000" algn="bl" rotWithShape="0"/>
          </a:effectLst>
        </p:spPr>
        <p:txBody>
          <a:bodyPr wrap="square" lIns="48331" tIns="70301" rIns="48331" bIns="44901" rtlCol="0" anchor="t">
            <a:normAutofit/>
          </a:bodyPr>
          <a:lstStyle/>
          <a:p>
            <a:pPr algn="ctr">
              <a:lnSpc>
                <a:spcPts val="168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MR Dashboard</a:t>
            </a:r>
            <a:endParaRPr lang="en-US" sz="1200" dirty="0">
              <a:latin typeface="Times New Roman" panose="02020603050405020304" pitchFamily="18" charset="0"/>
              <a:cs typeface="Times New Roman" panose="02020603050405020304" pitchFamily="18" charset="0"/>
            </a:endParaRPr>
          </a:p>
        </p:txBody>
      </p:sp>
      <p:sp>
        <p:nvSpPr>
          <p:cNvPr id="15" name="Text 13"/>
          <p:cNvSpPr/>
          <p:nvPr/>
        </p:nvSpPr>
        <p:spPr>
          <a:xfrm>
            <a:off x="6248400" y="5754371"/>
            <a:ext cx="5130800" cy="391160"/>
          </a:xfrm>
          <a:prstGeom prst="roundRect">
            <a:avLst>
              <a:gd name="adj" fmla="val 16234"/>
            </a:avLst>
          </a:prstGeom>
          <a:solidFill>
            <a:schemeClr val="accent2">
              <a:lumMod val="75000"/>
            </a:schemeClr>
          </a:solidFill>
          <a:ln/>
          <a:effectLst>
            <a:reflection blurRad="6350" stA="52000" endA="300" endPos="35000" dir="5400000" sy="-100000" algn="bl" rotWithShape="0"/>
          </a:effectLst>
        </p:spPr>
        <p:txBody>
          <a:bodyPr wrap="square" lIns="48331" tIns="70301" rIns="48331" bIns="44901" rtlCol="0" anchor="t">
            <a:normAutofit/>
          </a:bodyPr>
          <a:lstStyle/>
          <a:p>
            <a:pPr algn="ctr">
              <a:lnSpc>
                <a:spcPts val="1680"/>
              </a:lnSpc>
            </a:pPr>
            <a:r>
              <a:rPr lang="en-US" sz="1200" dirty="0">
                <a:solidFill>
                  <a:srgbClr val="F7F6F2"/>
                </a:solidFill>
                <a:latin typeface="Times New Roman" panose="02020603050405020304" pitchFamily="18" charset="0"/>
                <a:ea typeface="Arial" pitchFamily="34" charset="-122"/>
                <a:cs typeface="Times New Roman" panose="02020603050405020304" pitchFamily="18" charset="0"/>
              </a:rPr>
              <a:t>Manager Dashboard</a:t>
            </a:r>
            <a:endParaRPr lang="en-US" sz="1200" dirty="0">
              <a:latin typeface="Times New Roman" panose="02020603050405020304" pitchFamily="18" charset="0"/>
              <a:cs typeface="Times New Roman" panose="02020603050405020304" pitchFamily="18" charset="0"/>
            </a:endParaRPr>
          </a:p>
        </p:txBody>
      </p:sp>
      <p:sp>
        <p:nvSpPr>
          <p:cNvPr id="16" name="Text 14"/>
          <p:cNvSpPr/>
          <p:nvPr/>
        </p:nvSpPr>
        <p:spPr>
          <a:xfrm>
            <a:off x="11209660" y="6797043"/>
            <a:ext cx="220345" cy="238760"/>
          </a:xfrm>
          <a:prstGeom prst="rect">
            <a:avLst/>
          </a:prstGeom>
          <a:noFill/>
          <a:ln/>
        </p:spPr>
        <p:txBody>
          <a:bodyPr wrap="square" lIns="0" tIns="0" rIns="0" bIns="0" rtlCol="0" anchor="t">
            <a:normAutofit/>
          </a:bodyPr>
          <a:lstStyle/>
          <a:p>
            <a:pPr>
              <a:lnSpc>
                <a:spcPts val="1680"/>
              </a:lnSpc>
            </a:pPr>
            <a:r>
              <a:rPr lang="en-US" sz="1200" dirty="0">
                <a:solidFill>
                  <a:srgbClr val="5B6475"/>
                </a:solidFill>
                <a:latin typeface="Times New Roman" panose="02020603050405020304" pitchFamily="18" charset="0"/>
                <a:ea typeface="Arial" pitchFamily="34" charset="-122"/>
                <a:cs typeface="Times New Roman" panose="02020603050405020304" pitchFamily="18" charset="0"/>
              </a:rPr>
              <a:t>10</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850900" y="1214123"/>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214123"/>
            <a:ext cx="10647935" cy="463551"/>
          </a:xfrm>
          <a:prstGeom prst="rect">
            <a:avLst/>
          </a:prstGeom>
          <a:noFill/>
          <a:ln/>
        </p:spPr>
        <p:txBody>
          <a:bodyPr vert="horz" wrap="square" lIns="0" tIns="0" rIns="0" bIns="0" rtlCol="0" anchor="t">
            <a:normAutofit/>
          </a:bodyPr>
          <a:lstStyle/>
          <a:p>
            <a:pPr>
              <a:lnSpc>
                <a:spcPts val="3451"/>
              </a:lnSpc>
            </a:pPr>
            <a:r>
              <a:rPr lang="en-US" sz="3200" b="1" dirty="0">
                <a:latin typeface="Times New Roman" panose="02020603050405020304" pitchFamily="18" charset="0"/>
                <a:cs typeface="Times New Roman" panose="02020603050405020304" pitchFamily="18" charset="0"/>
              </a:rPr>
              <a:t>Data Flow</a:t>
            </a:r>
            <a:endParaRPr lang="en-US" sz="3200" dirty="0">
              <a:latin typeface="Times New Roman" panose="02020603050405020304" pitchFamily="18" charset="0"/>
              <a:cs typeface="Times New Roman" panose="02020603050405020304" pitchFamily="18" charset="0"/>
            </a:endParaRPr>
          </a:p>
        </p:txBody>
      </p:sp>
      <p:sp>
        <p:nvSpPr>
          <p:cNvPr id="4" name="Text 2"/>
          <p:cNvSpPr/>
          <p:nvPr/>
        </p:nvSpPr>
        <p:spPr>
          <a:xfrm>
            <a:off x="1219203" y="1921818"/>
            <a:ext cx="10883392" cy="248285"/>
          </a:xfrm>
          <a:prstGeom prst="rect">
            <a:avLst/>
          </a:prstGeom>
          <a:noFill/>
          <a:ln/>
        </p:spPr>
        <p:txBody>
          <a:bodyPr wrap="square" lIns="0" tIns="0" rIns="0" bIns="0" rtlCol="0" anchor="t">
            <a:normAutofit/>
          </a:bodyPr>
          <a:lstStyle/>
          <a:p>
            <a:pPr>
              <a:lnSpc>
                <a:spcPts val="1755"/>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Suppose an MR logs in.</a:t>
            </a:r>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1219203" y="2423802"/>
            <a:ext cx="904479" cy="407671"/>
          </a:xfrm>
          <a:prstGeom prst="roundRect">
            <a:avLst>
              <a:gd name="adj" fmla="val 15576"/>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MR Login</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2212579" y="2485389"/>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2504685" y="2423802"/>
            <a:ext cx="1034415" cy="407671"/>
          </a:xfrm>
          <a:prstGeom prst="roundRect">
            <a:avLst>
              <a:gd name="adj" fmla="val 15576"/>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Select Date</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3627993" y="2485389"/>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3920100" y="2423802"/>
            <a:ext cx="2000409" cy="407671"/>
          </a:xfrm>
          <a:prstGeom prst="roundRect">
            <a:avLst>
              <a:gd name="adj" fmla="val 15576"/>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Retrieve Assigned Doctors</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6009403" y="2485389"/>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6301504" y="2423802"/>
            <a:ext cx="2455069" cy="407671"/>
          </a:xfrm>
          <a:prstGeom prst="roundRect">
            <a:avLst>
              <a:gd name="adj" fmla="val 15576"/>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Retrieve Appointment Constraints</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8845471" y="2485389"/>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9137571" y="2423802"/>
            <a:ext cx="1661955" cy="407671"/>
          </a:xfrm>
          <a:prstGeom prst="roundRect">
            <a:avLst>
              <a:gd name="adj" fmla="val 15576"/>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ML Priority Prediction</a:t>
            </a:r>
            <a:endParaRPr lang="en-US" sz="1400" dirty="0">
              <a:latin typeface="Times New Roman" panose="02020603050405020304" pitchFamily="18" charset="0"/>
              <a:cs typeface="Times New Roman" panose="02020603050405020304" pitchFamily="18" charset="0"/>
            </a:endParaRPr>
          </a:p>
        </p:txBody>
      </p:sp>
      <p:sp>
        <p:nvSpPr>
          <p:cNvPr id="14" name="Text 12"/>
          <p:cNvSpPr/>
          <p:nvPr/>
        </p:nvSpPr>
        <p:spPr>
          <a:xfrm>
            <a:off x="10888425" y="2485389"/>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1219201" y="2920367"/>
            <a:ext cx="2154555" cy="407671"/>
          </a:xfrm>
          <a:prstGeom prst="roundRect">
            <a:avLst>
              <a:gd name="adj" fmla="val 15576"/>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Generate Priority Information</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3462655" y="2981960"/>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7" name="Text 15"/>
          <p:cNvSpPr/>
          <p:nvPr/>
        </p:nvSpPr>
        <p:spPr>
          <a:xfrm>
            <a:off x="3754755" y="2920367"/>
            <a:ext cx="1699736" cy="407671"/>
          </a:xfrm>
          <a:prstGeom prst="roundRect">
            <a:avLst>
              <a:gd name="adj" fmla="val 15576"/>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Retrieve Travel Matrix</a:t>
            </a:r>
            <a:endParaRPr lang="en-US" sz="1400" dirty="0">
              <a:latin typeface="Times New Roman" panose="02020603050405020304" pitchFamily="18" charset="0"/>
              <a:cs typeface="Times New Roman" panose="02020603050405020304" pitchFamily="18" charset="0"/>
            </a:endParaRPr>
          </a:p>
        </p:txBody>
      </p:sp>
      <p:sp>
        <p:nvSpPr>
          <p:cNvPr id="18" name="Text 16"/>
          <p:cNvSpPr/>
          <p:nvPr/>
        </p:nvSpPr>
        <p:spPr>
          <a:xfrm>
            <a:off x="5543391" y="2981960"/>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9" name="Text 17"/>
          <p:cNvSpPr/>
          <p:nvPr/>
        </p:nvSpPr>
        <p:spPr>
          <a:xfrm>
            <a:off x="5835494" y="2920367"/>
            <a:ext cx="1423988" cy="407671"/>
          </a:xfrm>
          <a:prstGeom prst="roundRect">
            <a:avLst>
              <a:gd name="adj" fmla="val 15576"/>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Apply Constraints</a:t>
            </a:r>
            <a:endParaRPr lang="en-US" sz="1400" dirty="0">
              <a:latin typeface="Times New Roman" panose="02020603050405020304" pitchFamily="18" charset="0"/>
              <a:cs typeface="Times New Roman" panose="02020603050405020304" pitchFamily="18" charset="0"/>
            </a:endParaRPr>
          </a:p>
        </p:txBody>
      </p:sp>
      <p:sp>
        <p:nvSpPr>
          <p:cNvPr id="20" name="Text 18"/>
          <p:cNvSpPr/>
          <p:nvPr/>
        </p:nvSpPr>
        <p:spPr>
          <a:xfrm>
            <a:off x="7348379" y="2981960"/>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21" name="Text 19"/>
          <p:cNvSpPr/>
          <p:nvPr/>
        </p:nvSpPr>
        <p:spPr>
          <a:xfrm>
            <a:off x="7640479" y="2920367"/>
            <a:ext cx="1740376" cy="407671"/>
          </a:xfrm>
          <a:prstGeom prst="roundRect">
            <a:avLst>
              <a:gd name="adj" fmla="val 15576"/>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OR-Tools Optimization</a:t>
            </a:r>
            <a:endParaRPr lang="en-US" sz="1400" dirty="0">
              <a:latin typeface="Times New Roman" panose="02020603050405020304" pitchFamily="18" charset="0"/>
              <a:cs typeface="Times New Roman" panose="02020603050405020304" pitchFamily="18" charset="0"/>
            </a:endParaRPr>
          </a:p>
        </p:txBody>
      </p:sp>
      <p:sp>
        <p:nvSpPr>
          <p:cNvPr id="22" name="Text 20"/>
          <p:cNvSpPr/>
          <p:nvPr/>
        </p:nvSpPr>
        <p:spPr>
          <a:xfrm>
            <a:off x="9469755" y="2981960"/>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23" name="Text 21"/>
          <p:cNvSpPr/>
          <p:nvPr/>
        </p:nvSpPr>
        <p:spPr>
          <a:xfrm>
            <a:off x="9761861" y="2920367"/>
            <a:ext cx="1318657" cy="407671"/>
          </a:xfrm>
          <a:prstGeom prst="roundRect">
            <a:avLst>
              <a:gd name="adj" fmla="val 15576"/>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Generate Route</a:t>
            </a:r>
            <a:endParaRPr lang="en-US" sz="1400" dirty="0">
              <a:latin typeface="Times New Roman" panose="02020603050405020304" pitchFamily="18" charset="0"/>
              <a:cs typeface="Times New Roman" panose="02020603050405020304" pitchFamily="18" charset="0"/>
            </a:endParaRPr>
          </a:p>
        </p:txBody>
      </p:sp>
      <p:sp>
        <p:nvSpPr>
          <p:cNvPr id="24" name="Text 22"/>
          <p:cNvSpPr/>
          <p:nvPr/>
        </p:nvSpPr>
        <p:spPr>
          <a:xfrm>
            <a:off x="1219203" y="3669681"/>
            <a:ext cx="10883392" cy="256859"/>
          </a:xfrm>
          <a:prstGeom prst="rect">
            <a:avLst/>
          </a:prstGeom>
          <a:noFill/>
          <a:ln/>
        </p:spPr>
        <p:txBody>
          <a:bodyPr wrap="square" lIns="0" tIns="0" rIns="0" bIns="0" rtlCol="0" anchor="t">
            <a:normAutofit/>
          </a:bodyPr>
          <a:lstStyle/>
          <a:p>
            <a:pPr>
              <a:lnSpc>
                <a:spcPts val="1823"/>
              </a:lnSpc>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Display: Doctor · Visit order · Time · Priority · Travel time · Distance</a:t>
            </a:r>
            <a:endParaRPr lang="en-US" sz="1600" dirty="0">
              <a:latin typeface="Times New Roman" panose="02020603050405020304" pitchFamily="18" charset="0"/>
              <a:cs typeface="Times New Roman" panose="02020603050405020304" pitchFamily="18" charset="0"/>
            </a:endParaRPr>
          </a:p>
        </p:txBody>
      </p:sp>
      <p:sp>
        <p:nvSpPr>
          <p:cNvPr id="26" name="Text 24"/>
          <p:cNvSpPr/>
          <p:nvPr/>
        </p:nvSpPr>
        <p:spPr>
          <a:xfrm>
            <a:off x="11220927" y="6817363"/>
            <a:ext cx="209075" cy="238760"/>
          </a:xfrm>
          <a:prstGeom prst="rect">
            <a:avLst/>
          </a:prstGeom>
          <a:noFill/>
          <a:ln/>
        </p:spPr>
        <p:txBody>
          <a:bodyPr wrap="square" lIns="0" tIns="0" rIns="0" bIns="0" rtlCol="0" anchor="t">
            <a:normAutofit/>
          </a:bodyPr>
          <a:lstStyle/>
          <a:p>
            <a:pPr>
              <a:lnSpc>
                <a:spcPts val="1680"/>
              </a:lnSpc>
            </a:pPr>
            <a:r>
              <a:rPr lang="en-US" sz="1400" dirty="0">
                <a:solidFill>
                  <a:srgbClr val="5B6475"/>
                </a:solidFill>
                <a:latin typeface="Times New Roman" panose="02020603050405020304" pitchFamily="18" charset="0"/>
                <a:ea typeface="Arial" pitchFamily="34" charset="-122"/>
                <a:cs typeface="Times New Roman" panose="02020603050405020304" pitchFamily="18" charset="0"/>
              </a:rPr>
              <a:t>11</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850900" y="1193803"/>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193803"/>
            <a:ext cx="10647935" cy="463551"/>
          </a:xfrm>
          <a:prstGeom prst="rect">
            <a:avLst/>
          </a:prstGeom>
          <a:noFill/>
          <a:ln/>
        </p:spPr>
        <p:txBody>
          <a:bodyPr vert="horz" wrap="square" lIns="0" tIns="0" rIns="0" bIns="0" rtlCol="0" anchor="t">
            <a:normAutofit/>
          </a:bodyPr>
          <a:lstStyle/>
          <a:p>
            <a:pPr>
              <a:lnSpc>
                <a:spcPts val="3451"/>
              </a:lnSpc>
            </a:pPr>
            <a:r>
              <a:rPr lang="en-US" b="1" dirty="0">
                <a:latin typeface="Times New Roman" panose="02020603050405020304" pitchFamily="18" charset="0"/>
                <a:cs typeface="Times New Roman" panose="02020603050405020304" pitchFamily="18" charset="0"/>
              </a:rPr>
              <a:t>Data Design</a:t>
            </a:r>
            <a:endParaRPr lang="en-US" dirty="0">
              <a:latin typeface="Times New Roman" panose="02020603050405020304" pitchFamily="18" charset="0"/>
              <a:cs typeface="Times New Roman" panose="02020603050405020304" pitchFamily="18" charset="0"/>
            </a:endParaRPr>
          </a:p>
        </p:txBody>
      </p:sp>
      <p:sp>
        <p:nvSpPr>
          <p:cNvPr id="4" name="Shape 2"/>
          <p:cNvSpPr/>
          <p:nvPr/>
        </p:nvSpPr>
        <p:spPr>
          <a:xfrm>
            <a:off x="1141095" y="1838325"/>
            <a:ext cx="5200651" cy="1259840"/>
          </a:xfrm>
          <a:prstGeom prst="roundRect">
            <a:avLst>
              <a:gd name="adj" fmla="val 4788"/>
            </a:avLst>
          </a:prstGeom>
          <a:solidFill>
            <a:srgbClr val="FFFFFF"/>
          </a:solidFill>
          <a:ln w="6350">
            <a:solidFill>
              <a:schemeClr val="tx1"/>
            </a:solidFill>
            <a:prstDash val="solid"/>
          </a:ln>
        </p:spPr>
      </p:sp>
      <p:sp>
        <p:nvSpPr>
          <p:cNvPr id="5" name="Text 3"/>
          <p:cNvSpPr/>
          <p:nvPr/>
        </p:nvSpPr>
        <p:spPr>
          <a:xfrm>
            <a:off x="1295404" y="1992633"/>
            <a:ext cx="5038801" cy="246380"/>
          </a:xfrm>
          <a:prstGeom prst="rect">
            <a:avLst/>
          </a:prstGeom>
          <a:noFill/>
          <a:ln/>
        </p:spPr>
        <p:txBody>
          <a:bodyPr wrap="square" lIns="0" tIns="0" rIns="0" bIns="0" rtlCol="0" anchor="t">
            <a:normAutofit/>
          </a:bodyPr>
          <a:lstStyle/>
          <a:p>
            <a:pPr algn="just">
              <a:lnSpc>
                <a:spcPts val="174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Doctor</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1295404" y="2277117"/>
            <a:ext cx="5038801" cy="692151"/>
          </a:xfrm>
          <a:prstGeom prst="rect">
            <a:avLst/>
          </a:prstGeom>
          <a:noFill/>
          <a:ln/>
        </p:spPr>
        <p:txBody>
          <a:bodyPr wrap="square" lIns="0" tIns="0" rIns="0" bIns="0" rtlCol="0" anchor="t">
            <a:normAutofit/>
          </a:bodyPr>
          <a:lstStyle/>
          <a:p>
            <a:pPr algn="just">
              <a:lnSpc>
                <a:spcPts val="1751"/>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doctor_id, specialization, territory, latitude, longitude, availability_start, availability_end, typical_visit_duration, priority_category</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6500495" y="1838325"/>
            <a:ext cx="5200651" cy="1259840"/>
          </a:xfrm>
          <a:prstGeom prst="roundRect">
            <a:avLst>
              <a:gd name="adj" fmla="val 4788"/>
            </a:avLst>
          </a:prstGeom>
          <a:solidFill>
            <a:srgbClr val="FFFFFF"/>
          </a:solidFill>
          <a:ln w="6350">
            <a:solidFill>
              <a:schemeClr val="tx1"/>
            </a:solidFill>
            <a:prstDash val="solid"/>
          </a:ln>
        </p:spPr>
      </p:sp>
      <p:sp>
        <p:nvSpPr>
          <p:cNvPr id="8" name="Text 6"/>
          <p:cNvSpPr/>
          <p:nvPr/>
        </p:nvSpPr>
        <p:spPr>
          <a:xfrm>
            <a:off x="6654806" y="1992633"/>
            <a:ext cx="5038801" cy="246380"/>
          </a:xfrm>
          <a:prstGeom prst="rect">
            <a:avLst/>
          </a:prstGeom>
          <a:noFill/>
          <a:ln/>
        </p:spPr>
        <p:txBody>
          <a:bodyPr wrap="square" lIns="0" tIns="0" rIns="0" bIns="0" rtlCol="0" anchor="t">
            <a:normAutofit/>
          </a:bodyPr>
          <a:lstStyle/>
          <a:p>
            <a:pPr algn="just">
              <a:lnSpc>
                <a:spcPts val="174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Medical Representative</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6654806" y="2277118"/>
            <a:ext cx="5038801" cy="469900"/>
          </a:xfrm>
          <a:prstGeom prst="rect">
            <a:avLst/>
          </a:prstGeom>
          <a:noFill/>
          <a:ln/>
        </p:spPr>
        <p:txBody>
          <a:bodyPr wrap="square" lIns="0" tIns="0" rIns="0" bIns="0" rtlCol="0" anchor="t">
            <a:normAutofit/>
          </a:bodyPr>
          <a:lstStyle/>
          <a:p>
            <a:pPr algn="just">
              <a:lnSpc>
                <a:spcPts val="1751"/>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mr_id, territory, working_start, working_end, start_location, end_location</a:t>
            </a:r>
            <a:endParaRPr lang="en-US" sz="1600" dirty="0">
              <a:latin typeface="Times New Roman" panose="02020603050405020304" pitchFamily="18" charset="0"/>
              <a:cs typeface="Times New Roman" panose="02020603050405020304" pitchFamily="18" charset="0"/>
            </a:endParaRPr>
          </a:p>
        </p:txBody>
      </p:sp>
      <p:sp>
        <p:nvSpPr>
          <p:cNvPr id="10" name="Shape 8"/>
          <p:cNvSpPr/>
          <p:nvPr/>
        </p:nvSpPr>
        <p:spPr>
          <a:xfrm>
            <a:off x="1141095" y="3256921"/>
            <a:ext cx="5200651" cy="1037591"/>
          </a:xfrm>
          <a:prstGeom prst="roundRect">
            <a:avLst>
              <a:gd name="adj" fmla="val 5814"/>
            </a:avLst>
          </a:prstGeom>
          <a:solidFill>
            <a:srgbClr val="FFFFFF"/>
          </a:solidFill>
          <a:ln w="6350">
            <a:solidFill>
              <a:schemeClr val="tx1"/>
            </a:solidFill>
            <a:prstDash val="solid"/>
          </a:ln>
        </p:spPr>
      </p:sp>
      <p:sp>
        <p:nvSpPr>
          <p:cNvPr id="11" name="Text 9"/>
          <p:cNvSpPr/>
          <p:nvPr/>
        </p:nvSpPr>
        <p:spPr>
          <a:xfrm>
            <a:off x="1295404" y="3411225"/>
            <a:ext cx="5038801" cy="246380"/>
          </a:xfrm>
          <a:prstGeom prst="rect">
            <a:avLst/>
          </a:prstGeom>
          <a:noFill/>
          <a:ln/>
        </p:spPr>
        <p:txBody>
          <a:bodyPr wrap="square" lIns="0" tIns="0" rIns="0" bIns="0" rtlCol="0" anchor="t">
            <a:normAutofit/>
          </a:bodyPr>
          <a:lstStyle/>
          <a:p>
            <a:pPr algn="just">
              <a:lnSpc>
                <a:spcPts val="174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Visit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1295404" y="3695703"/>
            <a:ext cx="5038801" cy="469900"/>
          </a:xfrm>
          <a:prstGeom prst="rect">
            <a:avLst/>
          </a:prstGeom>
          <a:noFill/>
          <a:ln/>
        </p:spPr>
        <p:txBody>
          <a:bodyPr wrap="square" lIns="0" tIns="0" rIns="0" bIns="0" rtlCol="0" anchor="t">
            <a:normAutofit fontScale="85000" lnSpcReduction="10000"/>
          </a:bodyPr>
          <a:lstStyle/>
          <a:p>
            <a:pPr algn="just">
              <a:lnSpc>
                <a:spcPts val="1751"/>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visit_id, doctor_id, mr_id, visit_date, planned_time, actual_arrival, actual_departure, visit_status, visit_outcome, follow_up_required</a:t>
            </a:r>
            <a:endParaRPr lang="en-US" sz="1600" dirty="0">
              <a:latin typeface="Times New Roman" panose="02020603050405020304" pitchFamily="18" charset="0"/>
              <a:cs typeface="Times New Roman" panose="02020603050405020304" pitchFamily="18" charset="0"/>
            </a:endParaRPr>
          </a:p>
        </p:txBody>
      </p:sp>
      <p:sp>
        <p:nvSpPr>
          <p:cNvPr id="13" name="Shape 11"/>
          <p:cNvSpPr/>
          <p:nvPr/>
        </p:nvSpPr>
        <p:spPr>
          <a:xfrm>
            <a:off x="6500495" y="3256921"/>
            <a:ext cx="5200651" cy="1037591"/>
          </a:xfrm>
          <a:prstGeom prst="roundRect">
            <a:avLst>
              <a:gd name="adj" fmla="val 5814"/>
            </a:avLst>
          </a:prstGeom>
          <a:solidFill>
            <a:srgbClr val="FFFFFF"/>
          </a:solidFill>
          <a:ln w="6350">
            <a:solidFill>
              <a:schemeClr val="tx1"/>
            </a:solidFill>
            <a:prstDash val="solid"/>
          </a:ln>
        </p:spPr>
      </p:sp>
      <p:sp>
        <p:nvSpPr>
          <p:cNvPr id="14" name="Text 12"/>
          <p:cNvSpPr/>
          <p:nvPr/>
        </p:nvSpPr>
        <p:spPr>
          <a:xfrm>
            <a:off x="6654806" y="3411225"/>
            <a:ext cx="5038801" cy="246380"/>
          </a:xfrm>
          <a:prstGeom prst="rect">
            <a:avLst/>
          </a:prstGeom>
          <a:noFill/>
          <a:ln/>
        </p:spPr>
        <p:txBody>
          <a:bodyPr wrap="square" lIns="0" tIns="0" rIns="0" bIns="0" rtlCol="0" anchor="t">
            <a:normAutofit/>
          </a:bodyPr>
          <a:lstStyle/>
          <a:p>
            <a:pPr algn="just">
              <a:lnSpc>
                <a:spcPts val="174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Appointment</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6654806" y="3695703"/>
            <a:ext cx="5038801" cy="469900"/>
          </a:xfrm>
          <a:prstGeom prst="rect">
            <a:avLst/>
          </a:prstGeom>
          <a:noFill/>
          <a:ln/>
        </p:spPr>
        <p:txBody>
          <a:bodyPr wrap="square" lIns="0" tIns="0" rIns="0" bIns="0" rtlCol="0" anchor="t">
            <a:normAutofit/>
          </a:bodyPr>
          <a:lstStyle/>
          <a:p>
            <a:pPr algn="just">
              <a:lnSpc>
                <a:spcPts val="1751"/>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appointment_id, doctor_id, mr_id, appointment_date, window_start, window_end, duration, status</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11209660" y="6797043"/>
            <a:ext cx="220345" cy="238760"/>
          </a:xfrm>
          <a:prstGeom prst="rect">
            <a:avLst/>
          </a:prstGeom>
          <a:noFill/>
          <a:ln/>
        </p:spPr>
        <p:txBody>
          <a:bodyPr wrap="square" lIns="0" tIns="0" rIns="0" bIns="0" rtlCol="0" anchor="t">
            <a:normAutofit/>
          </a:bodyPr>
          <a:lstStyle/>
          <a:p>
            <a:pPr>
              <a:lnSpc>
                <a:spcPts val="1680"/>
              </a:lnSpc>
            </a:pPr>
            <a:r>
              <a:rPr lang="en-US" sz="1200" dirty="0">
                <a:solidFill>
                  <a:srgbClr val="5B6475"/>
                </a:solidFill>
                <a:latin typeface="Times New Roman" panose="02020603050405020304" pitchFamily="18" charset="0"/>
                <a:ea typeface="Arial" pitchFamily="34" charset="-122"/>
                <a:cs typeface="Times New Roman" panose="02020603050405020304" pitchFamily="18" charset="0"/>
              </a:rPr>
              <a:t>12</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850900" y="1203963"/>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203963"/>
            <a:ext cx="10647935" cy="463551"/>
          </a:xfrm>
          <a:prstGeom prst="rect">
            <a:avLst/>
          </a:prstGeom>
          <a:noFill/>
          <a:ln/>
        </p:spPr>
        <p:txBody>
          <a:bodyPr vert="horz" wrap="square" lIns="0" tIns="0" rIns="0" bIns="0" rtlCol="0" anchor="t">
            <a:normAutofit/>
          </a:bodyPr>
          <a:lstStyle/>
          <a:p>
            <a:pPr>
              <a:lnSpc>
                <a:spcPts val="3451"/>
              </a:lnSpc>
            </a:pPr>
            <a:r>
              <a:rPr lang="en-US" b="1" dirty="0">
                <a:latin typeface="Times New Roman" panose="02020603050405020304" pitchFamily="18" charset="0"/>
                <a:cs typeface="Times New Roman" panose="02020603050405020304" pitchFamily="18" charset="0"/>
              </a:rPr>
              <a:t>ML </a:t>
            </a:r>
            <a:r>
              <a:rPr lang="en-US" sz="3200" b="1" dirty="0">
                <a:latin typeface="Times New Roman" panose="02020603050405020304" pitchFamily="18" charset="0"/>
                <a:cs typeface="Times New Roman" panose="02020603050405020304" pitchFamily="18" charset="0"/>
              </a:rPr>
              <a:t>Priority</a:t>
            </a:r>
            <a:r>
              <a:rPr lang="en-US" b="1" dirty="0">
                <a:latin typeface="Times New Roman" panose="02020603050405020304" pitchFamily="18" charset="0"/>
                <a:cs typeface="Times New Roman" panose="02020603050405020304" pitchFamily="18" charset="0"/>
              </a:rPr>
              <a:t> Prediction</a:t>
            </a:r>
            <a:endParaRPr lang="en-US" dirty="0">
              <a:latin typeface="Times New Roman" panose="02020603050405020304" pitchFamily="18" charset="0"/>
              <a:cs typeface="Times New Roman" panose="02020603050405020304" pitchFamily="18" charset="0"/>
            </a:endParaRPr>
          </a:p>
        </p:txBody>
      </p:sp>
      <p:sp>
        <p:nvSpPr>
          <p:cNvPr id="4" name="Text 2"/>
          <p:cNvSpPr/>
          <p:nvPr/>
        </p:nvSpPr>
        <p:spPr>
          <a:xfrm>
            <a:off x="1158240" y="1896434"/>
            <a:ext cx="10883392" cy="248285"/>
          </a:xfrm>
          <a:prstGeom prst="rect">
            <a:avLst/>
          </a:prstGeom>
          <a:noFill/>
          <a:ln/>
        </p:spPr>
        <p:txBody>
          <a:bodyPr wrap="square" lIns="0" tIns="0" rIns="0" bIns="0" rtlCol="0" anchor="t">
            <a:normAutofit/>
          </a:bodyPr>
          <a:lstStyle/>
          <a:p>
            <a:pPr>
              <a:lnSpc>
                <a:spcPts val="1755"/>
              </a:lnSpc>
            </a:pPr>
            <a:r>
              <a:rPr lang="en-US" sz="1600" b="1" dirty="0">
                <a:solidFill>
                  <a:srgbClr val="C8553D"/>
                </a:solidFill>
                <a:latin typeface="Times New Roman" panose="02020603050405020304" pitchFamily="18" charset="0"/>
                <a:ea typeface="Arial" pitchFamily="34" charset="-122"/>
                <a:cs typeface="Times New Roman" panose="02020603050405020304" pitchFamily="18" charset="0"/>
              </a:rPr>
              <a:t>Our ML model does not generate the route. It predicts the importance/priority of a planned doctor visit.</a:t>
            </a:r>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1158240" y="2302518"/>
            <a:ext cx="5165599" cy="3429000"/>
          </a:xfrm>
          <a:prstGeom prst="rect">
            <a:avLst/>
          </a:prstGeom>
          <a:noFill/>
          <a:ln/>
        </p:spPr>
        <p:txBody>
          <a:bodyPr wrap="square" lIns="0" tIns="0" rIns="0" bIns="0" rtlCol="0" anchor="t">
            <a:normAutofit lnSpcReduction="10000"/>
          </a:bodyPr>
          <a:lstStyle/>
          <a:p>
            <a:pPr marL="142491" indent="-142491" algn="just">
              <a:lnSpc>
                <a:spcPct val="150000"/>
              </a:lnSpc>
              <a:buSzPct val="100000"/>
              <a:buChar char="•"/>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Historical visit frequency</a:t>
            </a:r>
            <a:endParaRPr lang="en-US" sz="1600" b="1" dirty="0">
              <a:latin typeface="Times New Roman" panose="02020603050405020304" pitchFamily="18" charset="0"/>
              <a:cs typeface="Times New Roman" panose="02020603050405020304" pitchFamily="18" charset="0"/>
            </a:endParaRPr>
          </a:p>
          <a:p>
            <a:pPr marL="142491" indent="-142491" algn="just">
              <a:lnSpc>
                <a:spcPct val="150000"/>
              </a:lnSpc>
              <a:buSzPct val="100000"/>
              <a:buChar char="•"/>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Days since last visit</a:t>
            </a:r>
            <a:endParaRPr lang="en-US" sz="1600" b="1" dirty="0">
              <a:latin typeface="Times New Roman" panose="02020603050405020304" pitchFamily="18" charset="0"/>
              <a:cs typeface="Times New Roman" panose="02020603050405020304" pitchFamily="18" charset="0"/>
            </a:endParaRPr>
          </a:p>
          <a:p>
            <a:pPr marL="142491" indent="-142491" algn="just">
              <a:lnSpc>
                <a:spcPct val="150000"/>
              </a:lnSpc>
              <a:buSzPct val="100000"/>
              <a:buChar char="•"/>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Previous visit outcome</a:t>
            </a:r>
            <a:endParaRPr lang="en-US" sz="1600" b="1" dirty="0">
              <a:latin typeface="Times New Roman" panose="02020603050405020304" pitchFamily="18" charset="0"/>
              <a:cs typeface="Times New Roman" panose="02020603050405020304" pitchFamily="18" charset="0"/>
            </a:endParaRPr>
          </a:p>
          <a:p>
            <a:pPr marL="142491" indent="-142491" algn="just">
              <a:lnSpc>
                <a:spcPct val="150000"/>
              </a:lnSpc>
              <a:buSzPct val="100000"/>
              <a:buChar char="•"/>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Follow-up requirement</a:t>
            </a:r>
            <a:endParaRPr lang="en-US" sz="1600" b="1" dirty="0">
              <a:latin typeface="Times New Roman" panose="02020603050405020304" pitchFamily="18" charset="0"/>
              <a:cs typeface="Times New Roman" panose="02020603050405020304" pitchFamily="18" charset="0"/>
            </a:endParaRPr>
          </a:p>
          <a:p>
            <a:pPr marL="142491" indent="-142491" algn="just">
              <a:lnSpc>
                <a:spcPct val="150000"/>
              </a:lnSpc>
              <a:buSzPct val="100000"/>
              <a:buChar char="•"/>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Existing priority category</a:t>
            </a:r>
            <a:endParaRPr lang="en-US" sz="1600" b="1" dirty="0">
              <a:latin typeface="Times New Roman" panose="02020603050405020304" pitchFamily="18" charset="0"/>
              <a:cs typeface="Times New Roman" panose="02020603050405020304" pitchFamily="18" charset="0"/>
            </a:endParaRPr>
          </a:p>
          <a:p>
            <a:pPr marL="142491" indent="-142491" algn="just">
              <a:lnSpc>
                <a:spcPct val="150000"/>
              </a:lnSpc>
              <a:buSzPct val="100000"/>
              <a:buChar char="•"/>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Appointment status</a:t>
            </a:r>
            <a:endParaRPr lang="en-US" sz="1600" b="1" dirty="0">
              <a:latin typeface="Times New Roman" panose="02020603050405020304" pitchFamily="18" charset="0"/>
              <a:cs typeface="Times New Roman" panose="02020603050405020304" pitchFamily="18" charset="0"/>
            </a:endParaRPr>
          </a:p>
          <a:p>
            <a:pPr marL="142491" indent="-142491" algn="just">
              <a:lnSpc>
                <a:spcPct val="150000"/>
              </a:lnSpc>
              <a:buSzPct val="100000"/>
              <a:buChar char="•"/>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Doctor engagement indicator</a:t>
            </a:r>
            <a:endParaRPr lang="en-US" sz="1600" b="1" dirty="0">
              <a:latin typeface="Times New Roman" panose="02020603050405020304" pitchFamily="18" charset="0"/>
              <a:cs typeface="Times New Roman" panose="02020603050405020304" pitchFamily="18" charset="0"/>
            </a:endParaRPr>
          </a:p>
          <a:p>
            <a:pPr marL="142491" indent="-142491" algn="just">
              <a:lnSpc>
                <a:spcPct val="150000"/>
              </a:lnSpc>
              <a:buSzPct val="100000"/>
              <a:buChar char="•"/>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Visit history</a:t>
            </a:r>
            <a:endParaRPr lang="en-US" sz="1600" b="1" dirty="0">
              <a:latin typeface="Times New Roman" panose="02020603050405020304" pitchFamily="18" charset="0"/>
              <a:cs typeface="Times New Roman" panose="02020603050405020304" pitchFamily="18" charset="0"/>
            </a:endParaRPr>
          </a:p>
          <a:p>
            <a:pPr marL="142491" indent="-142491" algn="just">
              <a:lnSpc>
                <a:spcPct val="150000"/>
              </a:lnSpc>
              <a:buSzPct val="100000"/>
              <a:buChar char="•"/>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Territory information</a:t>
            </a:r>
            <a:endParaRPr lang="en-US" sz="1600" b="1" dirty="0">
              <a:latin typeface="Times New Roman" panose="02020603050405020304" pitchFamily="18" charset="0"/>
              <a:cs typeface="Times New Roman" panose="02020603050405020304" pitchFamily="18" charset="0"/>
            </a:endParaRPr>
          </a:p>
          <a:p>
            <a:pPr marL="142491" indent="-142491" algn="just">
              <a:lnSpc>
                <a:spcPct val="150000"/>
              </a:lnSpc>
              <a:buSzPct val="100000"/>
              <a:buChar char="•"/>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Other approved operational features</a:t>
            </a:r>
            <a:endParaRPr lang="en-US" sz="1600" b="1" dirty="0">
              <a:latin typeface="Times New Roman" panose="02020603050405020304" pitchFamily="18" charset="0"/>
              <a:cs typeface="Times New Roman" panose="02020603050405020304" pitchFamily="18" charset="0"/>
            </a:endParaRPr>
          </a:p>
        </p:txBody>
      </p:sp>
      <p:sp>
        <p:nvSpPr>
          <p:cNvPr id="6" name="Text 4"/>
          <p:cNvSpPr/>
          <p:nvPr/>
        </p:nvSpPr>
        <p:spPr>
          <a:xfrm>
            <a:off x="6248400" y="2271402"/>
            <a:ext cx="5130800" cy="373380"/>
          </a:xfrm>
          <a:prstGeom prst="roundRect">
            <a:avLst>
              <a:gd name="adj" fmla="val 17007"/>
            </a:avLst>
          </a:prstGeom>
          <a:solidFill>
            <a:srgbClr val="2F6F6D"/>
          </a:solidFill>
          <a:ln/>
          <a:effectLst>
            <a:reflection blurRad="6350" stA="52000" endA="300" endPos="35000" dir="5400000" sy="-100000" algn="bl" rotWithShape="0"/>
          </a:effectLst>
        </p:spPr>
        <p:txBody>
          <a:bodyPr wrap="square" lIns="48331" tIns="70301" rIns="48331" bIns="44901" rtlCol="0" anchor="ctr">
            <a:normAutofit/>
          </a:bodyPr>
          <a:lstStyle/>
          <a:p>
            <a:pPr algn="ctr">
              <a:lnSpc>
                <a:spcPts val="1540"/>
              </a:lnSpc>
            </a:pPr>
            <a:r>
              <a:rPr lang="en-US" sz="1600" dirty="0">
                <a:solidFill>
                  <a:srgbClr val="F7F6F2"/>
                </a:solidFill>
                <a:latin typeface="Times New Roman" panose="02020603050405020304" pitchFamily="18" charset="0"/>
                <a:ea typeface="Arial" pitchFamily="34" charset="-122"/>
                <a:cs typeface="Times New Roman" panose="02020603050405020304" pitchFamily="18" charset="0"/>
              </a:rPr>
              <a:t>Historical Data</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6171442" y="2708283"/>
            <a:ext cx="5284724" cy="282575"/>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ctr">
              <a:lnSpc>
                <a:spcPts val="2025"/>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6248400" y="3028955"/>
            <a:ext cx="5130800" cy="373380"/>
          </a:xfrm>
          <a:prstGeom prst="roundRect">
            <a:avLst>
              <a:gd name="adj" fmla="val 17007"/>
            </a:avLst>
          </a:prstGeom>
          <a:solidFill>
            <a:srgbClr val="2F6F6D"/>
          </a:solidFill>
          <a:ln/>
          <a:effectLst>
            <a:reflection blurRad="6350" stA="52000" endA="300" endPos="35000" dir="5400000" sy="-100000" algn="bl" rotWithShape="0"/>
          </a:effectLst>
        </p:spPr>
        <p:txBody>
          <a:bodyPr wrap="square" lIns="48331" tIns="70301" rIns="48331" bIns="44901" rtlCol="0" anchor="ctr">
            <a:normAutofit/>
          </a:bodyPr>
          <a:lstStyle/>
          <a:p>
            <a:pPr algn="ctr">
              <a:lnSpc>
                <a:spcPts val="1540"/>
              </a:lnSpc>
            </a:pPr>
            <a:r>
              <a:rPr lang="en-US" sz="1600" dirty="0">
                <a:solidFill>
                  <a:srgbClr val="F7F6F2"/>
                </a:solidFill>
                <a:latin typeface="Times New Roman" panose="02020603050405020304" pitchFamily="18" charset="0"/>
                <a:ea typeface="Arial" pitchFamily="34" charset="-122"/>
                <a:cs typeface="Times New Roman" panose="02020603050405020304" pitchFamily="18" charset="0"/>
              </a:rPr>
              <a:t>Feature Engineering</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6171442" y="3465837"/>
            <a:ext cx="5284724" cy="282575"/>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ctr">
              <a:lnSpc>
                <a:spcPts val="2025"/>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6248400" y="3786510"/>
            <a:ext cx="5130800" cy="373380"/>
          </a:xfrm>
          <a:prstGeom prst="roundRect">
            <a:avLst>
              <a:gd name="adj" fmla="val 17007"/>
            </a:avLst>
          </a:prstGeom>
          <a:solidFill>
            <a:srgbClr val="2F6F6D"/>
          </a:solidFill>
          <a:ln/>
          <a:effectLst>
            <a:reflection blurRad="6350" stA="52000" endA="300" endPos="35000" dir="5400000" sy="-100000" algn="bl" rotWithShape="0"/>
          </a:effectLst>
        </p:spPr>
        <p:txBody>
          <a:bodyPr wrap="square" lIns="48331" tIns="70301" rIns="48331" bIns="44901" rtlCol="0" anchor="ctr">
            <a:normAutofit/>
          </a:bodyPr>
          <a:lstStyle/>
          <a:p>
            <a:pPr algn="ctr">
              <a:lnSpc>
                <a:spcPts val="1540"/>
              </a:lnSpc>
            </a:pPr>
            <a:r>
              <a:rPr lang="en-US" sz="1600" dirty="0">
                <a:solidFill>
                  <a:srgbClr val="F7F6F2"/>
                </a:solidFill>
                <a:latin typeface="Times New Roman" panose="02020603050405020304" pitchFamily="18" charset="0"/>
                <a:ea typeface="Arial" pitchFamily="34" charset="-122"/>
                <a:cs typeface="Times New Roman" panose="02020603050405020304" pitchFamily="18" charset="0"/>
              </a:rPr>
              <a:t>Train/Test Split</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6171442" y="4223391"/>
            <a:ext cx="5284724" cy="282575"/>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ctr">
              <a:lnSpc>
                <a:spcPts val="2025"/>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6248400" y="4544063"/>
            <a:ext cx="5130800" cy="373380"/>
          </a:xfrm>
          <a:prstGeom prst="roundRect">
            <a:avLst>
              <a:gd name="adj" fmla="val 17007"/>
            </a:avLst>
          </a:prstGeom>
          <a:solidFill>
            <a:srgbClr val="2F6F6D"/>
          </a:solidFill>
          <a:ln/>
          <a:effectLst>
            <a:reflection blurRad="6350" stA="52000" endA="300" endPos="35000" dir="5400000" sy="-100000" algn="bl" rotWithShape="0"/>
          </a:effectLst>
        </p:spPr>
        <p:txBody>
          <a:bodyPr wrap="square" lIns="48331" tIns="70301" rIns="48331" bIns="44901" rtlCol="0" anchor="ctr">
            <a:normAutofit/>
          </a:bodyPr>
          <a:lstStyle/>
          <a:p>
            <a:pPr algn="ctr">
              <a:lnSpc>
                <a:spcPts val="1540"/>
              </a:lnSpc>
            </a:pPr>
            <a:r>
              <a:rPr lang="en-US" sz="1600" dirty="0">
                <a:solidFill>
                  <a:srgbClr val="F7F6F2"/>
                </a:solidFill>
                <a:latin typeface="Times New Roman" panose="02020603050405020304" pitchFamily="18" charset="0"/>
                <a:ea typeface="Arial" pitchFamily="34" charset="-122"/>
                <a:cs typeface="Times New Roman" panose="02020603050405020304" pitchFamily="18" charset="0"/>
              </a:rPr>
              <a:t>Random Forest Classifier</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6171442" y="4980945"/>
            <a:ext cx="5284724" cy="282575"/>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ctr">
              <a:lnSpc>
                <a:spcPts val="2025"/>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4" name="Text 12"/>
          <p:cNvSpPr/>
          <p:nvPr/>
        </p:nvSpPr>
        <p:spPr>
          <a:xfrm>
            <a:off x="6248400" y="5301618"/>
            <a:ext cx="5130800" cy="373380"/>
          </a:xfrm>
          <a:prstGeom prst="roundRect">
            <a:avLst>
              <a:gd name="adj" fmla="val 17007"/>
            </a:avLst>
          </a:prstGeom>
          <a:solidFill>
            <a:srgbClr val="2F6F6D"/>
          </a:solidFill>
          <a:ln/>
          <a:effectLst>
            <a:reflection blurRad="6350" stA="52000" endA="300" endPos="35000" dir="5400000" sy="-100000" algn="bl" rotWithShape="0"/>
          </a:effectLst>
        </p:spPr>
        <p:txBody>
          <a:bodyPr wrap="square" lIns="48331" tIns="70301" rIns="48331" bIns="44901" rtlCol="0" anchor="ctr">
            <a:normAutofit/>
          </a:bodyPr>
          <a:lstStyle/>
          <a:p>
            <a:pPr algn="ctr">
              <a:lnSpc>
                <a:spcPts val="1540"/>
              </a:lnSpc>
            </a:pPr>
            <a:r>
              <a:rPr lang="en-US" sz="1600" dirty="0">
                <a:solidFill>
                  <a:srgbClr val="F7F6F2"/>
                </a:solidFill>
                <a:latin typeface="Times New Roman" panose="02020603050405020304" pitchFamily="18" charset="0"/>
                <a:ea typeface="Arial" pitchFamily="34" charset="-122"/>
                <a:cs typeface="Times New Roman" panose="02020603050405020304" pitchFamily="18" charset="0"/>
              </a:rPr>
              <a:t>Predicted Priority: High / Medium / Low</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1158240" y="5975357"/>
            <a:ext cx="10883392" cy="231140"/>
          </a:xfrm>
          <a:prstGeom prst="rect">
            <a:avLst/>
          </a:prstGeom>
          <a:noFill/>
          <a:ln/>
        </p:spPr>
        <p:txBody>
          <a:bodyPr wrap="square" lIns="0" tIns="0" rIns="0" bIns="0" rtlCol="0" anchor="t">
            <a:normAutofit/>
          </a:bodyPr>
          <a:lstStyle/>
          <a:p>
            <a:pPr>
              <a:lnSpc>
                <a:spcPts val="1620"/>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The final ML formulation, Classification or regression, will depend on the structure and reliability of the agency's priority label.</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11209660" y="6807203"/>
            <a:ext cx="220345" cy="238760"/>
          </a:xfrm>
          <a:prstGeom prst="rect">
            <a:avLst/>
          </a:prstGeom>
          <a:noFill/>
          <a:ln/>
        </p:spPr>
        <p:txBody>
          <a:bodyPr wrap="square" lIns="0" tIns="0" rIns="0" bIns="0" rtlCol="0" anchor="t">
            <a:normAutofit/>
          </a:bodyPr>
          <a:lstStyle/>
          <a:p>
            <a:pPr>
              <a:lnSpc>
                <a:spcPts val="1680"/>
              </a:lnSpc>
            </a:pPr>
            <a:r>
              <a:rPr lang="en-US" sz="1200" dirty="0">
                <a:solidFill>
                  <a:srgbClr val="5B6475"/>
                </a:solidFill>
                <a:latin typeface="Times New Roman" panose="02020603050405020304" pitchFamily="18" charset="0"/>
                <a:ea typeface="Arial" pitchFamily="34" charset="-122"/>
                <a:cs typeface="Times New Roman" panose="02020603050405020304" pitchFamily="18" charset="0"/>
              </a:rPr>
              <a:t>13</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850900" y="1193803"/>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193803"/>
            <a:ext cx="10647935" cy="463551"/>
          </a:xfrm>
          <a:prstGeom prst="rect">
            <a:avLst/>
          </a:prstGeom>
          <a:noFill/>
          <a:ln/>
        </p:spPr>
        <p:txBody>
          <a:bodyPr vert="horz" wrap="square" lIns="0" tIns="0" rIns="0" bIns="0" rtlCol="0" anchor="t">
            <a:normAutofit/>
          </a:bodyPr>
          <a:lstStyle/>
          <a:p>
            <a:pPr>
              <a:lnSpc>
                <a:spcPts val="3451"/>
              </a:lnSpc>
            </a:pPr>
            <a:r>
              <a:rPr lang="en-US" sz="3200" b="1" dirty="0">
                <a:latin typeface="Times New Roman" panose="02020603050405020304" pitchFamily="18" charset="0"/>
                <a:cs typeface="Times New Roman" panose="02020603050405020304" pitchFamily="18" charset="0"/>
              </a:rPr>
              <a:t>Feature</a:t>
            </a:r>
            <a:r>
              <a:rPr lang="en-US" b="1" dirty="0">
                <a:latin typeface="Times New Roman" panose="02020603050405020304" pitchFamily="18" charset="0"/>
                <a:cs typeface="Times New Roman" panose="02020603050405020304" pitchFamily="18" charset="0"/>
              </a:rPr>
              <a:t> Engineering</a:t>
            </a:r>
            <a:endParaRPr lang="en-US" dirty="0">
              <a:latin typeface="Times New Roman" panose="02020603050405020304" pitchFamily="18" charset="0"/>
              <a:cs typeface="Times New Roman" panose="02020603050405020304" pitchFamily="18" charset="0"/>
            </a:endParaRPr>
          </a:p>
        </p:txBody>
      </p:sp>
      <p:sp>
        <p:nvSpPr>
          <p:cNvPr id="4" name="Shape 2"/>
          <p:cNvSpPr/>
          <p:nvPr/>
        </p:nvSpPr>
        <p:spPr>
          <a:xfrm>
            <a:off x="1161415" y="1960249"/>
            <a:ext cx="5124451" cy="1225551"/>
          </a:xfrm>
          <a:prstGeom prst="roundRect">
            <a:avLst>
              <a:gd name="adj" fmla="val 4922"/>
            </a:avLst>
          </a:prstGeom>
          <a:solidFill>
            <a:srgbClr val="FFFFFF"/>
          </a:solidFill>
          <a:ln w="6350">
            <a:solidFill>
              <a:schemeClr val="accent2"/>
            </a:solidFill>
            <a:prstDash val="solid"/>
          </a:ln>
          <a:effectLst>
            <a:outerShdw blurRad="50800" dist="38100" dir="8100000" algn="tr" rotWithShape="0">
              <a:prstClr val="black">
                <a:alpha val="40000"/>
              </a:prstClr>
            </a:outerShdw>
          </a:effectLst>
        </p:spPr>
      </p:sp>
      <p:sp>
        <p:nvSpPr>
          <p:cNvPr id="5" name="Text 3"/>
          <p:cNvSpPr/>
          <p:nvPr/>
        </p:nvSpPr>
        <p:spPr>
          <a:xfrm>
            <a:off x="1315721" y="2114549"/>
            <a:ext cx="4960315" cy="238760"/>
          </a:xfrm>
          <a:prstGeom prst="rect">
            <a:avLst/>
          </a:prstGeom>
          <a:noFill/>
          <a:ln/>
        </p:spPr>
        <p:txBody>
          <a:bodyPr wrap="square" lIns="0" tIns="0" rIns="0" bIns="0" rtlCol="0" anchor="t">
            <a:normAutofit/>
          </a:bodyPr>
          <a:lstStyle/>
          <a:p>
            <a:pPr algn="just">
              <a:lnSpc>
                <a:spcPts val="1680"/>
              </a:lnSpc>
            </a:pPr>
            <a:r>
              <a:rPr lang="en-US" sz="1400" b="1" dirty="0">
                <a:solidFill>
                  <a:srgbClr val="1F2A44"/>
                </a:solidFill>
                <a:latin typeface="Times New Roman" panose="02020603050405020304" pitchFamily="18" charset="0"/>
                <a:ea typeface="Arial" pitchFamily="34" charset="-122"/>
                <a:cs typeface="Times New Roman" panose="02020603050405020304" pitchFamily="18" charset="0"/>
              </a:rPr>
              <a:t>Doctor A</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1315721" y="2391412"/>
            <a:ext cx="4960315" cy="665480"/>
          </a:xfrm>
          <a:prstGeom prst="rect">
            <a:avLst/>
          </a:prstGeom>
          <a:noFill/>
          <a:ln/>
        </p:spPr>
        <p:txBody>
          <a:bodyPr wrap="square" lIns="0" tIns="0" rIns="0" bIns="0" rtlCol="0" anchor="t">
            <a:normAutofit/>
          </a:bodyPr>
          <a:lstStyle/>
          <a:p>
            <a:pPr algn="just">
              <a:lnSpc>
                <a:spcPts val="1680"/>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Last visit: 25 days ago. Frequent follow-up. High historical priority. Appointment confirmed. Previous visit outcome requires follow-up. The model may assign a high priority probability.</a:t>
            </a:r>
            <a:endParaRPr lang="en-US" sz="1400" dirty="0">
              <a:latin typeface="Times New Roman" panose="02020603050405020304" pitchFamily="18" charset="0"/>
              <a:cs typeface="Times New Roman" panose="02020603050405020304" pitchFamily="18" charset="0"/>
            </a:endParaRPr>
          </a:p>
        </p:txBody>
      </p:sp>
      <p:sp>
        <p:nvSpPr>
          <p:cNvPr id="7" name="Shape 5"/>
          <p:cNvSpPr/>
          <p:nvPr/>
        </p:nvSpPr>
        <p:spPr>
          <a:xfrm>
            <a:off x="6597015" y="1960249"/>
            <a:ext cx="5124451" cy="1225551"/>
          </a:xfrm>
          <a:prstGeom prst="roundRect">
            <a:avLst>
              <a:gd name="adj" fmla="val 4922"/>
            </a:avLst>
          </a:prstGeom>
          <a:solidFill>
            <a:srgbClr val="FFFFFF"/>
          </a:solidFill>
          <a:ln w="6350">
            <a:solidFill>
              <a:schemeClr val="accent2"/>
            </a:solidFill>
            <a:prstDash val="solid"/>
          </a:ln>
          <a:effectLst>
            <a:outerShdw blurRad="50800" dist="38100" dir="8100000" algn="tr" rotWithShape="0">
              <a:prstClr val="black">
                <a:alpha val="40000"/>
              </a:prstClr>
            </a:outerShdw>
          </a:effectLst>
        </p:spPr>
      </p:sp>
      <p:sp>
        <p:nvSpPr>
          <p:cNvPr id="8" name="Text 6"/>
          <p:cNvSpPr/>
          <p:nvPr/>
        </p:nvSpPr>
        <p:spPr>
          <a:xfrm>
            <a:off x="6751323" y="2114549"/>
            <a:ext cx="4960315" cy="238760"/>
          </a:xfrm>
          <a:prstGeom prst="rect">
            <a:avLst/>
          </a:prstGeom>
          <a:noFill/>
          <a:ln/>
        </p:spPr>
        <p:txBody>
          <a:bodyPr wrap="square" lIns="0" tIns="0" rIns="0" bIns="0" rtlCol="0" anchor="t">
            <a:normAutofit/>
          </a:bodyPr>
          <a:lstStyle/>
          <a:p>
            <a:pPr algn="just">
              <a:lnSpc>
                <a:spcPts val="1680"/>
              </a:lnSpc>
            </a:pPr>
            <a:r>
              <a:rPr lang="en-US" sz="1400" b="1" dirty="0">
                <a:solidFill>
                  <a:srgbClr val="1F2A44"/>
                </a:solidFill>
                <a:latin typeface="Times New Roman" panose="02020603050405020304" pitchFamily="18" charset="0"/>
                <a:ea typeface="Arial" pitchFamily="34" charset="-122"/>
                <a:cs typeface="Times New Roman" panose="02020603050405020304" pitchFamily="18" charset="0"/>
              </a:rPr>
              <a:t>Doctor B</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6751323" y="2391412"/>
            <a:ext cx="4960315" cy="452120"/>
          </a:xfrm>
          <a:prstGeom prst="rect">
            <a:avLst/>
          </a:prstGeom>
          <a:noFill/>
          <a:ln/>
        </p:spPr>
        <p:txBody>
          <a:bodyPr wrap="square" lIns="0" tIns="0" rIns="0" bIns="0" rtlCol="0" anchor="t">
            <a:normAutofit/>
          </a:bodyPr>
          <a:lstStyle/>
          <a:p>
            <a:pPr algn="just">
              <a:lnSpc>
                <a:spcPts val="1680"/>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Recently visited. No follow-up. Low historical priority. Flexible availability. May receive lower priority.</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1161415" y="3488695"/>
            <a:ext cx="10883392" cy="248285"/>
          </a:xfrm>
          <a:prstGeom prst="rect">
            <a:avLst/>
          </a:prstGeom>
          <a:noFill/>
          <a:ln/>
        </p:spPr>
        <p:txBody>
          <a:bodyPr wrap="square" lIns="0" tIns="0" rIns="0" bIns="0" rtlCol="0" anchor="t">
            <a:normAutofit/>
          </a:bodyPr>
          <a:lstStyle/>
          <a:p>
            <a:pPr>
              <a:lnSpc>
                <a:spcPts val="1755"/>
              </a:lnSpc>
            </a:pPr>
            <a:r>
              <a:rPr lang="en-US" sz="1300" b="1" dirty="0">
                <a:solidFill>
                  <a:srgbClr val="C8553D"/>
                </a:solidFill>
                <a:latin typeface="Times New Roman" panose="02020603050405020304" pitchFamily="18" charset="0"/>
                <a:ea typeface="Arial" pitchFamily="34" charset="-122"/>
                <a:cs typeface="Times New Roman" panose="02020603050405020304" pitchFamily="18" charset="0"/>
              </a:rPr>
              <a:t>These values are illustrative until the actual model is trained and evaluated.</a:t>
            </a:r>
            <a:endParaRPr lang="en-US" sz="1300" dirty="0">
              <a:latin typeface="Times New Roman" panose="02020603050405020304" pitchFamily="18" charset="0"/>
              <a:cs typeface="Times New Roman" panose="02020603050405020304" pitchFamily="18" charset="0"/>
            </a:endParaRPr>
          </a:p>
        </p:txBody>
      </p:sp>
      <p:sp>
        <p:nvSpPr>
          <p:cNvPr id="11" name="Text 9"/>
          <p:cNvSpPr/>
          <p:nvPr/>
        </p:nvSpPr>
        <p:spPr>
          <a:xfrm>
            <a:off x="11209660" y="6797043"/>
            <a:ext cx="220345" cy="238760"/>
          </a:xfrm>
          <a:prstGeom prst="rect">
            <a:avLst/>
          </a:prstGeom>
          <a:noFill/>
          <a:ln/>
        </p:spPr>
        <p:txBody>
          <a:bodyPr wrap="square" lIns="0" tIns="0" rIns="0" bIns="0" rtlCol="0" anchor="t">
            <a:normAutofit/>
          </a:bodyPr>
          <a:lstStyle/>
          <a:p>
            <a:pPr>
              <a:lnSpc>
                <a:spcPts val="1680"/>
              </a:lnSpc>
            </a:pPr>
            <a:r>
              <a:rPr lang="en-US" sz="1200" dirty="0">
                <a:solidFill>
                  <a:srgbClr val="5B6475"/>
                </a:solidFill>
                <a:latin typeface="Times New Roman" panose="02020603050405020304" pitchFamily="18" charset="0"/>
                <a:ea typeface="Arial" pitchFamily="34" charset="-122"/>
                <a:cs typeface="Times New Roman" panose="02020603050405020304" pitchFamily="18" charset="0"/>
              </a:rPr>
              <a:t>14</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850900" y="1193803"/>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193803"/>
            <a:ext cx="10647935" cy="463551"/>
          </a:xfrm>
          <a:prstGeom prst="rect">
            <a:avLst/>
          </a:prstGeom>
          <a:noFill/>
          <a:ln/>
        </p:spPr>
        <p:txBody>
          <a:bodyPr vert="horz" wrap="square" lIns="0" tIns="0" rIns="0" bIns="0" rtlCol="0" anchor="t">
            <a:normAutofit/>
          </a:bodyPr>
          <a:lstStyle/>
          <a:p>
            <a:pPr>
              <a:lnSpc>
                <a:spcPts val="3451"/>
              </a:lnSpc>
            </a:pPr>
            <a:r>
              <a:rPr lang="en-US" b="1" dirty="0">
                <a:latin typeface="Times New Roman" panose="02020603050405020304" pitchFamily="18" charset="0"/>
                <a:cs typeface="Times New Roman" panose="02020603050405020304" pitchFamily="18" charset="0"/>
              </a:rPr>
              <a:t>Route Optimization</a:t>
            </a:r>
            <a:endParaRPr lang="en-US" dirty="0">
              <a:latin typeface="Times New Roman" panose="02020603050405020304" pitchFamily="18" charset="0"/>
              <a:cs typeface="Times New Roman" panose="02020603050405020304" pitchFamily="18" charset="0"/>
            </a:endParaRPr>
          </a:p>
        </p:txBody>
      </p:sp>
      <p:sp>
        <p:nvSpPr>
          <p:cNvPr id="4" name="Text 2"/>
          <p:cNvSpPr/>
          <p:nvPr/>
        </p:nvSpPr>
        <p:spPr>
          <a:xfrm>
            <a:off x="1137920" y="1835157"/>
            <a:ext cx="10566406" cy="419735"/>
          </a:xfrm>
          <a:prstGeom prst="rect">
            <a:avLst/>
          </a:prstGeom>
          <a:noFill/>
          <a:ln/>
        </p:spPr>
        <p:txBody>
          <a:bodyPr wrap="square" lIns="0" tIns="0" rIns="0" bIns="0" rtlCol="0" anchor="t">
            <a:normAutofit/>
          </a:bodyPr>
          <a:lstStyle/>
          <a:p>
            <a:pPr algn="just">
              <a:lnSpc>
                <a:spcPts val="1553"/>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Vehicle Routing Problem with Time Windows ,VRPTW. Locations: MR Start, Doctor A, B, C, D, MR End. Constraints: MR working hours, doctor availability, visit duration, travel time, location, appointment time window, number of available MRs.</a:t>
            </a:r>
            <a:endParaRPr lang="en-US" sz="1400" dirty="0">
              <a:latin typeface="Times New Roman" panose="02020603050405020304" pitchFamily="18" charset="0"/>
              <a:cs typeface="Times New Roman" panose="02020603050405020304" pitchFamily="18" charset="0"/>
            </a:endParaRPr>
          </a:p>
        </p:txBody>
      </p:sp>
      <p:graphicFrame>
        <p:nvGraphicFramePr>
          <p:cNvPr id="5" name="Table 0"/>
          <p:cNvGraphicFramePr>
            <a:graphicFrameLocks noGrp="1"/>
          </p:cNvGraphicFramePr>
          <p:nvPr>
            <p:extLst>
              <p:ext uri="{D42A27DB-BD31-4B8C-83A1-F6EECF244321}">
                <p14:modId xmlns:p14="http://schemas.microsoft.com/office/powerpoint/2010/main" val="4150100740"/>
              </p:ext>
            </p:extLst>
          </p:nvPr>
        </p:nvGraphicFramePr>
        <p:xfrm>
          <a:off x="1148085" y="2442849"/>
          <a:ext cx="10556241" cy="2263565"/>
        </p:xfrm>
        <a:graphic>
          <a:graphicData uri="http://schemas.openxmlformats.org/drawingml/2006/table">
            <a:tbl>
              <a:tblPr>
                <a:tableStyleId>{69CF1AB2-1976-4502-BF36-3FF5EA218861}</a:tableStyleId>
              </a:tblPr>
              <a:tblGrid>
                <a:gridCol w="3518747">
                  <a:extLst>
                    <a:ext uri="{9D8B030D-6E8A-4147-A177-3AD203B41FA5}">
                      <a16:colId xmlns:a16="http://schemas.microsoft.com/office/drawing/2014/main" val="20000"/>
                    </a:ext>
                  </a:extLst>
                </a:gridCol>
                <a:gridCol w="3518747">
                  <a:extLst>
                    <a:ext uri="{9D8B030D-6E8A-4147-A177-3AD203B41FA5}">
                      <a16:colId xmlns:a16="http://schemas.microsoft.com/office/drawing/2014/main" val="20001"/>
                    </a:ext>
                  </a:extLst>
                </a:gridCol>
                <a:gridCol w="3518747">
                  <a:extLst>
                    <a:ext uri="{9D8B030D-6E8A-4147-A177-3AD203B41FA5}">
                      <a16:colId xmlns:a16="http://schemas.microsoft.com/office/drawing/2014/main" val="20002"/>
                    </a:ext>
                  </a:extLst>
                </a:gridCol>
              </a:tblGrid>
              <a:tr h="452713">
                <a:tc>
                  <a:txBody>
                    <a:bodyPr/>
                    <a:lstStyle/>
                    <a:p>
                      <a:pPr marL="0" indent="0">
                        <a:lnSpc>
                          <a:spcPts val="2240"/>
                        </a:lnSpc>
                        <a:buNone/>
                      </a:pPr>
                      <a:r>
                        <a:rPr lang="en-US" sz="1600" dirty="0"/>
                        <a:t>Doctor</a:t>
                      </a:r>
                      <a:endParaRPr lang="en-US" sz="1600" dirty="0">
                        <a:latin typeface="Arial" charset="0"/>
                        <a:ea typeface="Arial" charset="0"/>
                        <a:cs typeface="Arial" charset="0"/>
                      </a:endParaRPr>
                    </a:p>
                  </a:txBody>
                  <a:tcPr marL="114300" marR="114300" marT="63500" marB="63500">
                    <a:solidFill>
                      <a:schemeClr val="accent2">
                        <a:lumMod val="75000"/>
                      </a:schemeClr>
                    </a:solidFill>
                  </a:tcPr>
                </a:tc>
                <a:tc>
                  <a:txBody>
                    <a:bodyPr/>
                    <a:lstStyle/>
                    <a:p>
                      <a:pPr marL="0" indent="0">
                        <a:lnSpc>
                          <a:spcPts val="2240"/>
                        </a:lnSpc>
                        <a:buNone/>
                      </a:pPr>
                      <a:r>
                        <a:rPr lang="en-US" sz="1600" dirty="0"/>
                        <a:t>Priority</a:t>
                      </a:r>
                      <a:endParaRPr lang="en-US" sz="1600" dirty="0">
                        <a:latin typeface="Arial" charset="0"/>
                        <a:ea typeface="Arial" charset="0"/>
                        <a:cs typeface="Arial" charset="0"/>
                      </a:endParaRPr>
                    </a:p>
                  </a:txBody>
                  <a:tcPr marL="114300" marR="114300" marT="63500" marB="63500">
                    <a:solidFill>
                      <a:schemeClr val="accent2">
                        <a:lumMod val="75000"/>
                      </a:schemeClr>
                    </a:solidFill>
                  </a:tcPr>
                </a:tc>
                <a:tc>
                  <a:txBody>
                    <a:bodyPr/>
                    <a:lstStyle/>
                    <a:p>
                      <a:pPr marL="0" indent="0">
                        <a:lnSpc>
                          <a:spcPts val="2240"/>
                        </a:lnSpc>
                        <a:buNone/>
                      </a:pPr>
                      <a:r>
                        <a:rPr lang="en-US" sz="1600" dirty="0"/>
                        <a:t>Time Window</a:t>
                      </a:r>
                      <a:endParaRPr lang="en-US" sz="1600" dirty="0">
                        <a:latin typeface="Arial" charset="0"/>
                        <a:ea typeface="Arial" charset="0"/>
                        <a:cs typeface="Arial" charset="0"/>
                      </a:endParaRPr>
                    </a:p>
                  </a:txBody>
                  <a:tcPr marL="114300" marR="114300" marT="63500" marB="63500">
                    <a:solidFill>
                      <a:schemeClr val="accent2">
                        <a:lumMod val="75000"/>
                      </a:schemeClr>
                    </a:solidFill>
                  </a:tcPr>
                </a:tc>
                <a:extLst>
                  <a:ext uri="{0D108BD9-81ED-4DB2-BD59-A6C34878D82A}">
                    <a16:rowId xmlns:a16="http://schemas.microsoft.com/office/drawing/2014/main" val="10000"/>
                  </a:ext>
                </a:extLst>
              </a:tr>
              <a:tr h="452713">
                <a:tc>
                  <a:txBody>
                    <a:bodyPr/>
                    <a:lstStyle/>
                    <a:p>
                      <a:pPr marL="0" indent="0">
                        <a:lnSpc>
                          <a:spcPts val="2240"/>
                        </a:lnSpc>
                        <a:buNone/>
                      </a:pPr>
                      <a:r>
                        <a:rPr lang="en-US" sz="1600" dirty="0"/>
                        <a:t>A</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High</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9:00–10:00</a:t>
                      </a:r>
                      <a:endParaRPr lang="en-US" sz="1600" dirty="0">
                        <a:latin typeface="Arial" charset="0"/>
                        <a:ea typeface="Arial" charset="0"/>
                        <a:cs typeface="Arial" charset="0"/>
                      </a:endParaRPr>
                    </a:p>
                  </a:txBody>
                  <a:tcPr marL="114300" marR="114300" marT="63500" marB="63500"/>
                </a:tc>
                <a:extLst>
                  <a:ext uri="{0D108BD9-81ED-4DB2-BD59-A6C34878D82A}">
                    <a16:rowId xmlns:a16="http://schemas.microsoft.com/office/drawing/2014/main" val="10001"/>
                  </a:ext>
                </a:extLst>
              </a:tr>
              <a:tr h="452713">
                <a:tc>
                  <a:txBody>
                    <a:bodyPr/>
                    <a:lstStyle/>
                    <a:p>
                      <a:pPr marL="0" indent="0">
                        <a:lnSpc>
                          <a:spcPts val="2240"/>
                        </a:lnSpc>
                        <a:buNone/>
                      </a:pPr>
                      <a:r>
                        <a:rPr lang="en-US" sz="1600" dirty="0"/>
                        <a:t>B</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Medium</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10:00–12:00</a:t>
                      </a:r>
                      <a:endParaRPr lang="en-US" sz="1600" dirty="0">
                        <a:latin typeface="Arial" charset="0"/>
                        <a:ea typeface="Arial" charset="0"/>
                        <a:cs typeface="Arial" charset="0"/>
                      </a:endParaRPr>
                    </a:p>
                  </a:txBody>
                  <a:tcPr marL="114300" marR="114300" marT="63500" marB="63500"/>
                </a:tc>
                <a:extLst>
                  <a:ext uri="{0D108BD9-81ED-4DB2-BD59-A6C34878D82A}">
                    <a16:rowId xmlns:a16="http://schemas.microsoft.com/office/drawing/2014/main" val="10002"/>
                  </a:ext>
                </a:extLst>
              </a:tr>
              <a:tr h="452713">
                <a:tc>
                  <a:txBody>
                    <a:bodyPr/>
                    <a:lstStyle/>
                    <a:p>
                      <a:pPr marL="0" indent="0">
                        <a:lnSpc>
                          <a:spcPts val="2240"/>
                        </a:lnSpc>
                        <a:buNone/>
                      </a:pPr>
                      <a:r>
                        <a:rPr lang="en-US" sz="1600" dirty="0"/>
                        <a:t>C</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High</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13:00–14:00</a:t>
                      </a:r>
                      <a:endParaRPr lang="en-US" sz="1600" dirty="0">
                        <a:latin typeface="Arial" charset="0"/>
                        <a:ea typeface="Arial" charset="0"/>
                        <a:cs typeface="Arial" charset="0"/>
                      </a:endParaRPr>
                    </a:p>
                  </a:txBody>
                  <a:tcPr marL="114300" marR="114300" marT="63500" marB="63500"/>
                </a:tc>
                <a:extLst>
                  <a:ext uri="{0D108BD9-81ED-4DB2-BD59-A6C34878D82A}">
                    <a16:rowId xmlns:a16="http://schemas.microsoft.com/office/drawing/2014/main" val="10003"/>
                  </a:ext>
                </a:extLst>
              </a:tr>
              <a:tr h="452713">
                <a:tc>
                  <a:txBody>
                    <a:bodyPr/>
                    <a:lstStyle/>
                    <a:p>
                      <a:pPr marL="0" indent="0">
                        <a:lnSpc>
                          <a:spcPts val="2240"/>
                        </a:lnSpc>
                        <a:buNone/>
                      </a:pPr>
                      <a:r>
                        <a:rPr lang="en-US" sz="1600" dirty="0"/>
                        <a:t>D</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Low</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14:00–17:00</a:t>
                      </a:r>
                      <a:endParaRPr lang="en-US" sz="1600" dirty="0">
                        <a:latin typeface="Arial" charset="0"/>
                        <a:ea typeface="Arial" charset="0"/>
                        <a:cs typeface="Arial" charset="0"/>
                      </a:endParaRPr>
                    </a:p>
                  </a:txBody>
                  <a:tcPr marL="114300" marR="114300" marT="63500" marB="63500"/>
                </a:tc>
                <a:extLst>
                  <a:ext uri="{0D108BD9-81ED-4DB2-BD59-A6C34878D82A}">
                    <a16:rowId xmlns:a16="http://schemas.microsoft.com/office/drawing/2014/main" val="10004"/>
                  </a:ext>
                </a:extLst>
              </a:tr>
            </a:tbl>
          </a:graphicData>
        </a:graphic>
      </p:graphicFrame>
      <p:sp>
        <p:nvSpPr>
          <p:cNvPr id="6" name="Text 3"/>
          <p:cNvSpPr/>
          <p:nvPr/>
        </p:nvSpPr>
        <p:spPr>
          <a:xfrm>
            <a:off x="1137920" y="4754248"/>
            <a:ext cx="10883392" cy="248285"/>
          </a:xfrm>
          <a:prstGeom prst="rect">
            <a:avLst/>
          </a:prstGeom>
          <a:noFill/>
          <a:ln/>
        </p:spPr>
        <p:txBody>
          <a:bodyPr wrap="square" lIns="0" tIns="0" rIns="0" bIns="0" rtlCol="0" anchor="t">
            <a:normAutofit/>
          </a:bodyPr>
          <a:lstStyle/>
          <a:p>
            <a:pPr algn="just">
              <a:lnSpc>
                <a:spcPts val="1755"/>
              </a:lnSpc>
            </a:pPr>
            <a:r>
              <a:rPr lang="en-US" sz="1600" b="1" dirty="0">
                <a:solidFill>
                  <a:srgbClr val="2F6F6D"/>
                </a:solidFill>
                <a:latin typeface="Times New Roman" panose="02020603050405020304" pitchFamily="18" charset="0"/>
                <a:ea typeface="Arial" pitchFamily="34" charset="-122"/>
                <a:cs typeface="Times New Roman" panose="02020603050405020304" pitchFamily="18" charset="0"/>
              </a:rPr>
              <a:t>Route must be: feasible + priority-aware + time-window compliant + efficient</a:t>
            </a:r>
            <a:endParaRPr lang="en-US" sz="1600" dirty="0">
              <a:latin typeface="Times New Roman" panose="02020603050405020304" pitchFamily="18" charset="0"/>
              <a:cs typeface="Times New Roman" panose="02020603050405020304" pitchFamily="18" charset="0"/>
            </a:endParaRPr>
          </a:p>
        </p:txBody>
      </p:sp>
      <p:sp>
        <p:nvSpPr>
          <p:cNvPr id="7" name="Text 4"/>
          <p:cNvSpPr/>
          <p:nvPr/>
        </p:nvSpPr>
        <p:spPr>
          <a:xfrm>
            <a:off x="1137921" y="5180333"/>
            <a:ext cx="877491" cy="398780"/>
          </a:xfrm>
          <a:prstGeom prst="roundRect">
            <a:avLst>
              <a:gd name="adj" fmla="val 15924"/>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ctr">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Locations</a:t>
            </a:r>
            <a:endParaRPr lang="en-US" sz="1400" dirty="0">
              <a:latin typeface="Times New Roman" panose="02020603050405020304" pitchFamily="18" charset="0"/>
              <a:cs typeface="Times New Roman" panose="02020603050405020304" pitchFamily="18" charset="0"/>
            </a:endParaRPr>
          </a:p>
        </p:txBody>
      </p:sp>
      <p:sp>
        <p:nvSpPr>
          <p:cNvPr id="8" name="Text 5"/>
          <p:cNvSpPr/>
          <p:nvPr/>
        </p:nvSpPr>
        <p:spPr>
          <a:xfrm>
            <a:off x="2104311" y="5237479"/>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ct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9" name="Text 6"/>
          <p:cNvSpPr/>
          <p:nvPr/>
        </p:nvSpPr>
        <p:spPr>
          <a:xfrm>
            <a:off x="2396417" y="5180333"/>
            <a:ext cx="2091055" cy="398780"/>
          </a:xfrm>
          <a:prstGeom prst="roundRect">
            <a:avLst>
              <a:gd name="adj" fmla="val 15924"/>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ctr">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Routing / Travel-Time Source</a:t>
            </a:r>
            <a:endParaRPr lang="en-US" sz="1400" dirty="0">
              <a:latin typeface="Times New Roman" panose="02020603050405020304" pitchFamily="18" charset="0"/>
              <a:cs typeface="Times New Roman" panose="02020603050405020304" pitchFamily="18" charset="0"/>
            </a:endParaRPr>
          </a:p>
        </p:txBody>
      </p:sp>
      <p:sp>
        <p:nvSpPr>
          <p:cNvPr id="10" name="Text 7"/>
          <p:cNvSpPr/>
          <p:nvPr/>
        </p:nvSpPr>
        <p:spPr>
          <a:xfrm>
            <a:off x="4576367" y="5237479"/>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ct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1" name="Text 8"/>
          <p:cNvSpPr/>
          <p:nvPr/>
        </p:nvSpPr>
        <p:spPr>
          <a:xfrm>
            <a:off x="4868465" y="5180333"/>
            <a:ext cx="1593851" cy="398780"/>
          </a:xfrm>
          <a:prstGeom prst="roundRect">
            <a:avLst>
              <a:gd name="adj" fmla="val 15924"/>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ctr">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Distance-Time Matrix</a:t>
            </a:r>
            <a:endParaRPr lang="en-US" sz="1400" dirty="0">
              <a:latin typeface="Times New Roman" panose="02020603050405020304" pitchFamily="18" charset="0"/>
              <a:cs typeface="Times New Roman" panose="02020603050405020304" pitchFamily="18" charset="0"/>
            </a:endParaRPr>
          </a:p>
        </p:txBody>
      </p:sp>
      <p:sp>
        <p:nvSpPr>
          <p:cNvPr id="12" name="Text 9"/>
          <p:cNvSpPr/>
          <p:nvPr/>
        </p:nvSpPr>
        <p:spPr>
          <a:xfrm>
            <a:off x="6551216" y="5237479"/>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ct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3" name="Text 10"/>
          <p:cNvSpPr/>
          <p:nvPr/>
        </p:nvSpPr>
        <p:spPr>
          <a:xfrm>
            <a:off x="6843316" y="5180333"/>
            <a:ext cx="861616" cy="398780"/>
          </a:xfrm>
          <a:prstGeom prst="roundRect">
            <a:avLst>
              <a:gd name="adj" fmla="val 15924"/>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ctr">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OR-Tools</a:t>
            </a:r>
            <a:endParaRPr lang="en-US" sz="1400" dirty="0">
              <a:latin typeface="Times New Roman" panose="02020603050405020304" pitchFamily="18" charset="0"/>
              <a:cs typeface="Times New Roman" panose="02020603050405020304" pitchFamily="18" charset="0"/>
            </a:endParaRPr>
          </a:p>
        </p:txBody>
      </p:sp>
      <p:sp>
        <p:nvSpPr>
          <p:cNvPr id="14" name="Text 11"/>
          <p:cNvSpPr/>
          <p:nvPr/>
        </p:nvSpPr>
        <p:spPr>
          <a:xfrm>
            <a:off x="7793832" y="5237479"/>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ct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5" name="Text 12"/>
          <p:cNvSpPr/>
          <p:nvPr/>
        </p:nvSpPr>
        <p:spPr>
          <a:xfrm>
            <a:off x="8085938" y="5180333"/>
            <a:ext cx="1319927" cy="398780"/>
          </a:xfrm>
          <a:prstGeom prst="roundRect">
            <a:avLst>
              <a:gd name="adj" fmla="val 15924"/>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ctr">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Optimized Route</a:t>
            </a:r>
            <a:endParaRPr lang="en-US" sz="1400" dirty="0">
              <a:latin typeface="Times New Roman" panose="02020603050405020304" pitchFamily="18" charset="0"/>
              <a:cs typeface="Times New Roman" panose="02020603050405020304" pitchFamily="18" charset="0"/>
            </a:endParaRPr>
          </a:p>
        </p:txBody>
      </p:sp>
      <p:sp>
        <p:nvSpPr>
          <p:cNvPr id="16" name="Text 13"/>
          <p:cNvSpPr/>
          <p:nvPr/>
        </p:nvSpPr>
        <p:spPr>
          <a:xfrm>
            <a:off x="1137920" y="5782317"/>
            <a:ext cx="10566406" cy="496563"/>
          </a:xfrm>
          <a:prstGeom prst="rect">
            <a:avLst/>
          </a:prstGeom>
          <a:noFill/>
          <a:ln/>
        </p:spPr>
        <p:txBody>
          <a:bodyPr wrap="square" lIns="0" tIns="0" rIns="0" bIns="0" rtlCol="0" anchor="t">
            <a:noAutofit/>
          </a:bodyPr>
          <a:lstStyle/>
          <a:p>
            <a:pPr algn="just">
              <a:lnSpc>
                <a:spcPts val="1485"/>
              </a:lnSpc>
            </a:pPr>
            <a:r>
              <a:rPr lang="en-US" sz="1400" dirty="0">
                <a:solidFill>
                  <a:srgbClr val="5B6475"/>
                </a:solidFill>
                <a:latin typeface="Times New Roman" panose="02020603050405020304" pitchFamily="18" charset="0"/>
                <a:ea typeface="Arial" pitchFamily="34" charset="-122"/>
                <a:cs typeface="Times New Roman" panose="02020603050405020304" pitchFamily="18" charset="0"/>
              </a:rPr>
              <a:t>OR-Tools is an optimization library; it needs a distance/time matrix (map/routing API, organization-provided travel data, precomputed distances, or a controlled simulation).</a:t>
            </a:r>
            <a:endParaRPr lang="en-US" sz="1400" dirty="0">
              <a:latin typeface="Times New Roman" panose="02020603050405020304" pitchFamily="18" charset="0"/>
              <a:cs typeface="Times New Roman" panose="02020603050405020304" pitchFamily="18" charset="0"/>
            </a:endParaRPr>
          </a:p>
        </p:txBody>
      </p:sp>
      <p:sp>
        <p:nvSpPr>
          <p:cNvPr id="17" name="Text 14"/>
          <p:cNvSpPr/>
          <p:nvPr/>
        </p:nvSpPr>
        <p:spPr>
          <a:xfrm>
            <a:off x="11209660" y="6797043"/>
            <a:ext cx="220345" cy="238760"/>
          </a:xfrm>
          <a:prstGeom prst="rect">
            <a:avLst/>
          </a:prstGeom>
          <a:noFill/>
          <a:ln/>
        </p:spPr>
        <p:txBody>
          <a:bodyPr wrap="square" lIns="0" tIns="0" rIns="0" bIns="0" rtlCol="0" anchor="t">
            <a:normAutofit/>
          </a:bodyPr>
          <a:lstStyle/>
          <a:p>
            <a:pPr>
              <a:lnSpc>
                <a:spcPts val="1680"/>
              </a:lnSpc>
            </a:pPr>
            <a:r>
              <a:rPr lang="en-US" sz="1200" dirty="0">
                <a:solidFill>
                  <a:srgbClr val="5B6475"/>
                </a:solidFill>
                <a:latin typeface="Times New Roman" panose="02020603050405020304" pitchFamily="18" charset="0"/>
                <a:ea typeface="Arial" pitchFamily="34" charset="-122"/>
                <a:cs typeface="Times New Roman" panose="02020603050405020304" pitchFamily="18" charset="0"/>
              </a:rPr>
              <a:t>15</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850900" y="1183643"/>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183643"/>
            <a:ext cx="10647935" cy="463551"/>
          </a:xfrm>
          <a:prstGeom prst="rect">
            <a:avLst/>
          </a:prstGeom>
          <a:noFill/>
          <a:ln/>
        </p:spPr>
        <p:txBody>
          <a:bodyPr vert="horz" wrap="square" lIns="0" tIns="0" rIns="0" bIns="0" rtlCol="0" anchor="t">
            <a:normAutofit/>
          </a:bodyPr>
          <a:lstStyle/>
          <a:p>
            <a:pPr algn="just">
              <a:lnSpc>
                <a:spcPts val="3451"/>
              </a:lnSpc>
            </a:pPr>
            <a:r>
              <a:rPr lang="en-US" sz="3200" b="1" dirty="0">
                <a:latin typeface="Times New Roman" panose="02020603050405020304" pitchFamily="18" charset="0"/>
                <a:cs typeface="Times New Roman" panose="02020603050405020304" pitchFamily="18" charset="0"/>
              </a:rPr>
              <a:t>Optimization Objective</a:t>
            </a:r>
            <a:endParaRPr lang="en-US" sz="3200" dirty="0">
              <a:latin typeface="Times New Roman" panose="02020603050405020304" pitchFamily="18" charset="0"/>
              <a:cs typeface="Times New Roman" panose="02020603050405020304" pitchFamily="18" charset="0"/>
            </a:endParaRPr>
          </a:p>
        </p:txBody>
      </p:sp>
      <p:sp>
        <p:nvSpPr>
          <p:cNvPr id="5" name="Text 3"/>
          <p:cNvSpPr/>
          <p:nvPr/>
        </p:nvSpPr>
        <p:spPr>
          <a:xfrm>
            <a:off x="1206641" y="3339374"/>
            <a:ext cx="10883392" cy="265431"/>
          </a:xfrm>
          <a:prstGeom prst="rect">
            <a:avLst/>
          </a:prstGeom>
          <a:noFill/>
          <a:ln/>
        </p:spPr>
        <p:txBody>
          <a:bodyPr wrap="square" lIns="0" tIns="0" rIns="0" bIns="0" rtlCol="0" anchor="t">
            <a:normAutofit/>
          </a:bodyPr>
          <a:lstStyle/>
          <a:p>
            <a:pPr algn="just">
              <a:lnSpc>
                <a:spcPts val="1891"/>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Subject to:</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1302770" y="3756135"/>
            <a:ext cx="5193284" cy="662943"/>
          </a:xfrm>
          <a:prstGeom prst="rect">
            <a:avLst/>
          </a:prstGeom>
          <a:noFill/>
          <a:ln/>
        </p:spPr>
        <p:txBody>
          <a:bodyPr wrap="square" lIns="0" tIns="0" rIns="0" bIns="0" rtlCol="0" anchor="t">
            <a:normAutofit/>
          </a:bodyPr>
          <a:lstStyle/>
          <a:p>
            <a:pPr marL="170176" indent="-170176" algn="just">
              <a:lnSpc>
                <a:spcPts val="2251"/>
              </a:lnSpc>
              <a:buSzPct val="100000"/>
              <a:buChar char="•"/>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Doctor availability</a:t>
            </a:r>
            <a:endParaRPr lang="en-US" sz="1600" dirty="0">
              <a:latin typeface="Times New Roman" panose="02020603050405020304" pitchFamily="18" charset="0"/>
              <a:cs typeface="Times New Roman" panose="02020603050405020304" pitchFamily="18" charset="0"/>
            </a:endParaRPr>
          </a:p>
          <a:p>
            <a:pPr marL="170176" indent="-170176" algn="just">
              <a:lnSpc>
                <a:spcPts val="2251"/>
              </a:lnSpc>
              <a:buSzPct val="100000"/>
              <a:buChar char="•"/>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MR working hours</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3600454" y="3789156"/>
            <a:ext cx="5193284" cy="596900"/>
          </a:xfrm>
          <a:prstGeom prst="rect">
            <a:avLst/>
          </a:prstGeom>
          <a:noFill/>
          <a:ln/>
        </p:spPr>
        <p:txBody>
          <a:bodyPr wrap="square" lIns="0" tIns="0" rIns="0" bIns="0" rtlCol="0" anchor="t">
            <a:normAutofit/>
          </a:bodyPr>
          <a:lstStyle/>
          <a:p>
            <a:pPr marL="170176" indent="-170176" algn="just">
              <a:lnSpc>
                <a:spcPts val="2251"/>
              </a:lnSpc>
              <a:buSzPct val="100000"/>
              <a:buChar char="•"/>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Visit duration</a:t>
            </a:r>
            <a:endParaRPr lang="en-US" sz="1600" dirty="0">
              <a:latin typeface="Times New Roman" panose="02020603050405020304" pitchFamily="18" charset="0"/>
              <a:cs typeface="Times New Roman" panose="02020603050405020304" pitchFamily="18" charset="0"/>
            </a:endParaRPr>
          </a:p>
          <a:p>
            <a:pPr marL="170176" indent="-170176" algn="just">
              <a:lnSpc>
                <a:spcPts val="2251"/>
              </a:lnSpc>
              <a:buSzPct val="100000"/>
              <a:buChar char="•"/>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Route feasibility</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1308608" y="4606654"/>
            <a:ext cx="10883392" cy="248285"/>
          </a:xfrm>
          <a:prstGeom prst="rect">
            <a:avLst/>
          </a:prstGeom>
          <a:noFill/>
          <a:ln/>
        </p:spPr>
        <p:txBody>
          <a:bodyPr wrap="square" lIns="0" tIns="0" rIns="0" bIns="0" rtlCol="0" anchor="t">
            <a:normAutofit/>
          </a:bodyPr>
          <a:lstStyle/>
          <a:p>
            <a:pPr algn="just">
              <a:lnSpc>
                <a:spcPts val="1755"/>
              </a:lnSpc>
            </a:pPr>
            <a:r>
              <a:rPr lang="en-US" sz="1400" dirty="0">
                <a:solidFill>
                  <a:srgbClr val="5B6475"/>
                </a:solidFill>
                <a:latin typeface="Times New Roman" panose="02020603050405020304" pitchFamily="18" charset="0"/>
                <a:ea typeface="Arial" pitchFamily="34" charset="-122"/>
                <a:cs typeface="Times New Roman" panose="02020603050405020304" pitchFamily="18" charset="0"/>
              </a:rPr>
              <a:t>Priority information can influence which visits are more valuable to serve. This is a simplified conceptual objective.</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11209660" y="6786883"/>
            <a:ext cx="220345" cy="238760"/>
          </a:xfrm>
          <a:prstGeom prst="rect">
            <a:avLst/>
          </a:prstGeom>
          <a:noFill/>
          <a:ln/>
        </p:spPr>
        <p:txBody>
          <a:bodyPr wrap="square" lIns="0" tIns="0" rIns="0" bIns="0" rtlCol="0" anchor="t">
            <a:normAutofit/>
          </a:bodyPr>
          <a:lstStyle/>
          <a:p>
            <a:pPr algn="just">
              <a:lnSpc>
                <a:spcPts val="1680"/>
              </a:lnSpc>
            </a:pPr>
            <a:r>
              <a:rPr lang="en-US" sz="1400" dirty="0">
                <a:solidFill>
                  <a:srgbClr val="5B6475"/>
                </a:solidFill>
                <a:latin typeface="Times New Roman" panose="02020603050405020304" pitchFamily="18" charset="0"/>
                <a:ea typeface="Arial" pitchFamily="34" charset="-122"/>
                <a:cs typeface="Times New Roman" panose="02020603050405020304" pitchFamily="18" charset="0"/>
              </a:rPr>
              <a:t>16</a:t>
            </a:r>
            <a:endParaRPr lang="en-US" sz="14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1167303" y="1786573"/>
            <a:ext cx="3668584" cy="1477328"/>
          </a:xfrm>
          <a:prstGeom prst="rect">
            <a:avLst/>
          </a:prstGeom>
          <a:noFill/>
        </p:spPr>
        <p:txBody>
          <a:bodyPr wrap="square" rtlCol="0">
            <a:spAutoFit/>
          </a:bodyPr>
          <a:lstStyle/>
          <a:p>
            <a:pPr algn="just"/>
            <a:r>
              <a:rPr lang="en-US" b="1" dirty="0">
                <a:latin typeface="Times New Roman" panose="02020603050405020304" pitchFamily="18" charset="0"/>
                <a:ea typeface="Arial" pitchFamily="34" charset="-122"/>
                <a:cs typeface="Times New Roman" panose="02020603050405020304" pitchFamily="18" charset="0"/>
              </a:rPr>
              <a:t>Minimize: </a:t>
            </a:r>
          </a:p>
          <a:p>
            <a:pPr marL="285744" indent="-285744" algn="just">
              <a:buFont typeface="Arial" panose="020B0604020202020204" pitchFamily="34" charset="0"/>
              <a:buChar char="•"/>
            </a:pPr>
            <a:r>
              <a:rPr lang="en-US" dirty="0">
                <a:latin typeface="Times New Roman" panose="02020603050405020304" pitchFamily="18" charset="0"/>
                <a:ea typeface="Arial" pitchFamily="34" charset="-122"/>
                <a:cs typeface="Times New Roman" panose="02020603050405020304" pitchFamily="18" charset="0"/>
              </a:rPr>
              <a:t>Travel Time </a:t>
            </a:r>
          </a:p>
          <a:p>
            <a:pPr marL="285744" indent="-285744" algn="just">
              <a:buFont typeface="Arial" panose="020B0604020202020204" pitchFamily="34" charset="0"/>
              <a:buChar char="•"/>
            </a:pPr>
            <a:r>
              <a:rPr lang="en-US" dirty="0">
                <a:latin typeface="Times New Roman" panose="02020603050405020304" pitchFamily="18" charset="0"/>
                <a:ea typeface="Arial" pitchFamily="34" charset="-122"/>
                <a:cs typeface="Times New Roman" panose="02020603050405020304" pitchFamily="18" charset="0"/>
              </a:rPr>
              <a:t>Waiting Time </a:t>
            </a:r>
          </a:p>
          <a:p>
            <a:pPr marL="285744" indent="-285744" algn="just">
              <a:buFont typeface="Arial" panose="020B0604020202020204" pitchFamily="34" charset="0"/>
              <a:buChar char="•"/>
            </a:pPr>
            <a:r>
              <a:rPr lang="en-US" dirty="0">
                <a:latin typeface="Times New Roman" panose="02020603050405020304" pitchFamily="18" charset="0"/>
                <a:ea typeface="Arial" pitchFamily="34" charset="-122"/>
                <a:cs typeface="Times New Roman" panose="02020603050405020304" pitchFamily="18" charset="0"/>
              </a:rPr>
              <a:t>Penalty for missing important visits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850900" y="1234440"/>
            <a:ext cx="0" cy="403067"/>
          </a:xfrm>
          <a:prstGeom prst="line">
            <a:avLst/>
          </a:prstGeom>
          <a:noFill/>
          <a:ln w="76200">
            <a:solidFill>
              <a:schemeClr val="accent2"/>
            </a:solidFill>
            <a:prstDash val="solid"/>
          </a:ln>
        </p:spPr>
      </p:sp>
      <p:sp>
        <p:nvSpPr>
          <p:cNvPr id="3" name="Text 1"/>
          <p:cNvSpPr>
            <a:spLocks noGrp="1"/>
          </p:cNvSpPr>
          <p:nvPr>
            <p:ph type="title"/>
          </p:nvPr>
        </p:nvSpPr>
        <p:spPr>
          <a:xfrm>
            <a:off x="1041403" y="1234440"/>
            <a:ext cx="10647935" cy="428467"/>
          </a:xfrm>
          <a:prstGeom prst="rect">
            <a:avLst/>
          </a:prstGeom>
          <a:noFill/>
          <a:ln/>
        </p:spPr>
        <p:txBody>
          <a:bodyPr vert="horz" wrap="square" lIns="0" tIns="0" rIns="0" bIns="0" rtlCol="0" anchor="t">
            <a:normAutofit/>
          </a:bodyPr>
          <a:lstStyle/>
          <a:p>
            <a:pPr>
              <a:lnSpc>
                <a:spcPts val="3171"/>
              </a:lnSpc>
            </a:pPr>
            <a:r>
              <a:rPr lang="en-US" sz="3200" b="1" dirty="0"/>
              <a:t>Algorithms / Techniques Used</a:t>
            </a:r>
          </a:p>
        </p:txBody>
      </p:sp>
      <p:graphicFrame>
        <p:nvGraphicFramePr>
          <p:cNvPr id="4" name="Table 0"/>
          <p:cNvGraphicFramePr>
            <a:graphicFrameLocks noGrp="1"/>
          </p:cNvGraphicFramePr>
          <p:nvPr>
            <p:extLst>
              <p:ext uri="{D42A27DB-BD31-4B8C-83A1-F6EECF244321}">
                <p14:modId xmlns:p14="http://schemas.microsoft.com/office/powerpoint/2010/main" val="415083556"/>
              </p:ext>
            </p:extLst>
          </p:nvPr>
        </p:nvGraphicFramePr>
        <p:xfrm>
          <a:off x="822960" y="1850864"/>
          <a:ext cx="10866378" cy="4572000"/>
        </p:xfrm>
        <a:graphic>
          <a:graphicData uri="http://schemas.openxmlformats.org/drawingml/2006/table">
            <a:tbl>
              <a:tblPr>
                <a:tableStyleId>{69CF1AB2-1976-4502-BF36-3FF5EA218861}</a:tableStyleId>
              </a:tblPr>
              <a:tblGrid>
                <a:gridCol w="5433189">
                  <a:extLst>
                    <a:ext uri="{9D8B030D-6E8A-4147-A177-3AD203B41FA5}">
                      <a16:colId xmlns:a16="http://schemas.microsoft.com/office/drawing/2014/main" val="20000"/>
                    </a:ext>
                  </a:extLst>
                </a:gridCol>
                <a:gridCol w="5433189">
                  <a:extLst>
                    <a:ext uri="{9D8B030D-6E8A-4147-A177-3AD203B41FA5}">
                      <a16:colId xmlns:a16="http://schemas.microsoft.com/office/drawing/2014/main" val="20001"/>
                    </a:ext>
                  </a:extLst>
                </a:gridCol>
              </a:tblGrid>
              <a:tr h="342508">
                <a:tc>
                  <a:txBody>
                    <a:bodyPr/>
                    <a:lstStyle/>
                    <a:p>
                      <a:pPr marL="0" indent="0">
                        <a:lnSpc>
                          <a:spcPts val="1974"/>
                        </a:lnSpc>
                        <a:buNone/>
                      </a:pPr>
                      <a:r>
                        <a:rPr lang="en-US" sz="1800" dirty="0">
                          <a:latin typeface="Times New Roman" panose="02020603050405020304" pitchFamily="18" charset="0"/>
                          <a:cs typeface="Times New Roman" panose="02020603050405020304" pitchFamily="18" charset="0"/>
                        </a:rPr>
                        <a:t>Component</a:t>
                      </a:r>
                      <a:endParaRPr lang="en-US" sz="1800" dirty="0">
                        <a:latin typeface="Times New Roman" panose="02020603050405020304" pitchFamily="18" charset="0"/>
                        <a:ea typeface="Arial" charset="0"/>
                        <a:cs typeface="Times New Roman" panose="02020603050405020304" pitchFamily="18" charset="0"/>
                      </a:endParaRPr>
                    </a:p>
                  </a:txBody>
                  <a:tcPr marL="114300" marR="114300" marT="63500" marB="63500">
                    <a:solidFill>
                      <a:schemeClr val="accent2">
                        <a:lumMod val="75000"/>
                      </a:schemeClr>
                    </a:solidFill>
                  </a:tcPr>
                </a:tc>
                <a:tc>
                  <a:txBody>
                    <a:bodyPr/>
                    <a:lstStyle/>
                    <a:p>
                      <a:pPr marL="0" indent="0">
                        <a:lnSpc>
                          <a:spcPts val="1974"/>
                        </a:lnSpc>
                        <a:buNone/>
                      </a:pPr>
                      <a:r>
                        <a:rPr lang="en-US" sz="1800" dirty="0">
                          <a:latin typeface="Times New Roman" panose="02020603050405020304" pitchFamily="18" charset="0"/>
                          <a:cs typeface="Times New Roman" panose="02020603050405020304" pitchFamily="18" charset="0"/>
                        </a:rPr>
                        <a:t>Technique</a:t>
                      </a:r>
                      <a:endParaRPr lang="en-US" sz="1800" dirty="0">
                        <a:latin typeface="Times New Roman" panose="02020603050405020304" pitchFamily="18" charset="0"/>
                        <a:ea typeface="Arial" charset="0"/>
                        <a:cs typeface="Times New Roman" panose="02020603050405020304" pitchFamily="18" charset="0"/>
                      </a:endParaRPr>
                    </a:p>
                  </a:txBody>
                  <a:tcPr marL="114300" marR="114300" marT="63500" marB="63500">
                    <a:solidFill>
                      <a:schemeClr val="accent2">
                        <a:lumMod val="75000"/>
                      </a:schemeClr>
                    </a:solidFill>
                  </a:tcPr>
                </a:tc>
                <a:extLst>
                  <a:ext uri="{0D108BD9-81ED-4DB2-BD59-A6C34878D82A}">
                    <a16:rowId xmlns:a16="http://schemas.microsoft.com/office/drawing/2014/main" val="10000"/>
                  </a:ext>
                </a:extLst>
              </a:tr>
              <a:tr h="342508">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Data preprocessing</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Cleaning + transformation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1"/>
                  </a:ext>
                </a:extLst>
              </a:tr>
              <a:tr h="342508">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Priority prediction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Random Forest</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2"/>
                  </a:ext>
                </a:extLst>
              </a:tr>
              <a:tr h="342508">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Feature engineering</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Statistical/domain features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3"/>
                  </a:ext>
                </a:extLst>
              </a:tr>
              <a:tr h="342508">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Routing</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Vehicle Routing Problem</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4"/>
                  </a:ext>
                </a:extLst>
              </a:tr>
              <a:tr h="342508">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Time constraints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VRPTW</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5"/>
                  </a:ext>
                </a:extLst>
              </a:tr>
              <a:tr h="342508">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Optimization engine</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Google OR-Tools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6"/>
                  </a:ext>
                </a:extLst>
              </a:tr>
              <a:tr h="342508">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Backend</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FastAPI</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7"/>
                  </a:ext>
                </a:extLst>
              </a:tr>
              <a:tr h="342508">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Database</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MySQL</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8"/>
                  </a:ext>
                </a:extLst>
              </a:tr>
              <a:tr h="342508">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Frontend</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React.js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9"/>
                  </a:ext>
                </a:extLst>
              </a:tr>
              <a:tr h="342508">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Visualization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Charts + maps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10"/>
                  </a:ext>
                </a:extLst>
              </a:tr>
              <a:tr h="342508">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API communication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974"/>
                        </a:lnSpc>
                        <a:buNone/>
                      </a:pPr>
                      <a:r>
                        <a:rPr lang="en-US" sz="1600" dirty="0">
                          <a:latin typeface="Times New Roman" panose="02020603050405020304" pitchFamily="18" charset="0"/>
                          <a:cs typeface="Times New Roman" panose="02020603050405020304" pitchFamily="18" charset="0"/>
                        </a:rPr>
                        <a:t>REST APIs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11"/>
                  </a:ext>
                </a:extLst>
              </a:tr>
            </a:tbl>
          </a:graphicData>
        </a:graphic>
      </p:graphicFrame>
      <p:sp>
        <p:nvSpPr>
          <p:cNvPr id="5" name="Text 2"/>
          <p:cNvSpPr/>
          <p:nvPr/>
        </p:nvSpPr>
        <p:spPr>
          <a:xfrm>
            <a:off x="11209660" y="6837683"/>
            <a:ext cx="220345" cy="238760"/>
          </a:xfrm>
          <a:prstGeom prst="rect">
            <a:avLst/>
          </a:prstGeom>
          <a:noFill/>
          <a:ln/>
        </p:spPr>
        <p:txBody>
          <a:bodyPr wrap="square" lIns="0" tIns="0" rIns="0" bIns="0" rtlCol="0" anchor="t">
            <a:normAutofit/>
          </a:bodyPr>
          <a:lstStyle/>
          <a:p>
            <a:pPr>
              <a:lnSpc>
                <a:spcPts val="1680"/>
              </a:lnSpc>
            </a:pPr>
            <a:r>
              <a:rPr lang="en-US" sz="1200" dirty="0">
                <a:solidFill>
                  <a:srgbClr val="5B6475"/>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850900" y="1190595"/>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190595"/>
            <a:ext cx="10647935" cy="463551"/>
          </a:xfrm>
          <a:prstGeom prst="rect">
            <a:avLst/>
          </a:prstGeom>
          <a:noFill/>
          <a:ln/>
        </p:spPr>
        <p:txBody>
          <a:bodyPr vert="horz" wrap="square" lIns="0" tIns="0" rIns="0" bIns="0" rtlCol="0" anchor="t">
            <a:normAutofit/>
          </a:bodyPr>
          <a:lstStyle/>
          <a:p>
            <a:pPr>
              <a:lnSpc>
                <a:spcPts val="3451"/>
              </a:lnSpc>
            </a:pPr>
            <a:r>
              <a:rPr lang="en-US" sz="3200" b="1" dirty="0">
                <a:latin typeface="Times New Roman" panose="02020603050405020304" pitchFamily="18" charset="0"/>
                <a:cs typeface="Times New Roman" panose="02020603050405020304" pitchFamily="18" charset="0"/>
              </a:rPr>
              <a:t>Module Split-up</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1163221" y="1939296"/>
            <a:ext cx="2520951" cy="1271271"/>
          </a:xfrm>
          <a:prstGeom prst="roundRect">
            <a:avLst>
              <a:gd name="adj" fmla="val 4745"/>
            </a:avLst>
          </a:prstGeom>
          <a:solidFill>
            <a:srgbClr val="FFFFFF"/>
          </a:solidFill>
          <a:ln w="6350">
            <a:solidFill>
              <a:schemeClr val="accent2"/>
            </a:solidFill>
            <a:prstDash val="solid"/>
          </a:ln>
          <a:effectLst>
            <a:outerShdw blurRad="50800" dist="38100" dir="8100000" algn="tr" rotWithShape="0">
              <a:prstClr val="black">
                <a:alpha val="40000"/>
              </a:prstClr>
            </a:outerShdw>
          </a:effectLst>
        </p:spPr>
      </p:sp>
      <p:sp>
        <p:nvSpPr>
          <p:cNvPr id="5" name="Text 3"/>
          <p:cNvSpPr/>
          <p:nvPr/>
        </p:nvSpPr>
        <p:spPr>
          <a:xfrm>
            <a:off x="1317526" y="2093602"/>
            <a:ext cx="2278711" cy="391160"/>
          </a:xfrm>
          <a:prstGeom prst="rect">
            <a:avLst/>
          </a:prstGeom>
          <a:noFill/>
          <a:ln/>
        </p:spPr>
        <p:txBody>
          <a:bodyPr wrap="square" lIns="0" tIns="0" rIns="0" bIns="0" rtlCol="0" anchor="ctr">
            <a:noAutofit/>
          </a:bodyPr>
          <a:lstStyle/>
          <a:p>
            <a:pPr algn="just">
              <a:lnSpc>
                <a:spcPts val="1440"/>
              </a:lnSpc>
            </a:pPr>
            <a:r>
              <a:rPr lang="en-US" sz="1400" b="1" dirty="0">
                <a:solidFill>
                  <a:srgbClr val="1F2A44"/>
                </a:solidFill>
                <a:latin typeface="Times New Roman" panose="02020603050405020304" pitchFamily="18" charset="0"/>
                <a:ea typeface="Arial" pitchFamily="34" charset="-122"/>
                <a:cs typeface="Times New Roman" panose="02020603050405020304" pitchFamily="18" charset="0"/>
              </a:rPr>
              <a:t>Module 1 :— Authentication &amp; Role Management</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1317526" y="2522859"/>
            <a:ext cx="2278711" cy="381000"/>
          </a:xfrm>
          <a:prstGeom prst="rect">
            <a:avLst/>
          </a:prstGeom>
          <a:noFill/>
          <a:ln/>
        </p:spPr>
        <p:txBody>
          <a:bodyPr wrap="square" lIns="0" tIns="0" rIns="0" bIns="0" rtlCol="0" anchor="ctr">
            <a:normAutofit/>
          </a:bodyPr>
          <a:lstStyle/>
          <a:p>
            <a:pPr algn="just">
              <a:lnSpc>
                <a:spcPts val="1400"/>
              </a:lnSpc>
            </a:pPr>
            <a:r>
              <a:rPr lang="en-US" sz="1200" dirty="0">
                <a:solidFill>
                  <a:srgbClr val="1F2A44"/>
                </a:solidFill>
                <a:latin typeface="Times New Roman" panose="02020603050405020304" pitchFamily="18" charset="0"/>
                <a:ea typeface="Arial" pitchFamily="34" charset="-122"/>
                <a:cs typeface="Times New Roman" panose="02020603050405020304" pitchFamily="18" charset="0"/>
              </a:rPr>
              <a:t>Login, MR role, Manager role, Access control</a:t>
            </a:r>
            <a:endParaRPr lang="en-US" sz="1200" dirty="0">
              <a:latin typeface="Times New Roman" panose="02020603050405020304" pitchFamily="18" charset="0"/>
              <a:cs typeface="Times New Roman" panose="02020603050405020304" pitchFamily="18" charset="0"/>
            </a:endParaRPr>
          </a:p>
        </p:txBody>
      </p:sp>
      <p:sp>
        <p:nvSpPr>
          <p:cNvPr id="7" name="Shape 5"/>
          <p:cNvSpPr/>
          <p:nvPr/>
        </p:nvSpPr>
        <p:spPr>
          <a:xfrm>
            <a:off x="3842921" y="1939296"/>
            <a:ext cx="2520951" cy="1271271"/>
          </a:xfrm>
          <a:prstGeom prst="roundRect">
            <a:avLst>
              <a:gd name="adj" fmla="val 4745"/>
            </a:avLst>
          </a:prstGeom>
          <a:solidFill>
            <a:srgbClr val="FFFFFF"/>
          </a:solidFill>
          <a:ln w="6350">
            <a:solidFill>
              <a:schemeClr val="accent2"/>
            </a:solidFill>
            <a:prstDash val="solid"/>
          </a:ln>
          <a:effectLst>
            <a:outerShdw blurRad="50800" dist="38100" dir="8100000" algn="tr" rotWithShape="0">
              <a:prstClr val="black">
                <a:alpha val="40000"/>
              </a:prstClr>
            </a:outerShdw>
          </a:effectLst>
        </p:spPr>
      </p:sp>
      <p:sp>
        <p:nvSpPr>
          <p:cNvPr id="8" name="Text 6"/>
          <p:cNvSpPr/>
          <p:nvPr/>
        </p:nvSpPr>
        <p:spPr>
          <a:xfrm>
            <a:off x="3997226" y="2093602"/>
            <a:ext cx="2278711" cy="391160"/>
          </a:xfrm>
          <a:prstGeom prst="rect">
            <a:avLst/>
          </a:prstGeom>
          <a:noFill/>
          <a:ln/>
        </p:spPr>
        <p:txBody>
          <a:bodyPr wrap="square" lIns="0" tIns="0" rIns="0" bIns="0" rtlCol="0" anchor="ctr">
            <a:normAutofit/>
          </a:bodyPr>
          <a:lstStyle/>
          <a:p>
            <a:pPr algn="just">
              <a:lnSpc>
                <a:spcPts val="1440"/>
              </a:lnSpc>
            </a:pPr>
            <a:r>
              <a:rPr lang="en-US" sz="1400" b="1" dirty="0">
                <a:solidFill>
                  <a:srgbClr val="1F2A44"/>
                </a:solidFill>
                <a:latin typeface="Times New Roman" panose="02020603050405020304" pitchFamily="18" charset="0"/>
                <a:ea typeface="Arial" pitchFamily="34" charset="-122"/>
                <a:cs typeface="Times New Roman" panose="02020603050405020304" pitchFamily="18" charset="0"/>
              </a:rPr>
              <a:t>Module 2 :— Doctor Management</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3997226" y="2522859"/>
            <a:ext cx="2278711" cy="558800"/>
          </a:xfrm>
          <a:prstGeom prst="rect">
            <a:avLst/>
          </a:prstGeom>
          <a:noFill/>
          <a:ln/>
        </p:spPr>
        <p:txBody>
          <a:bodyPr wrap="square" lIns="0" tIns="0" rIns="0" bIns="0" rtlCol="0" anchor="ctr">
            <a:normAutofit/>
          </a:bodyPr>
          <a:lstStyle/>
          <a:p>
            <a:pPr algn="just">
              <a:lnSpc>
                <a:spcPts val="1400"/>
              </a:lnSpc>
            </a:pPr>
            <a:r>
              <a:rPr lang="en-US" sz="1200" dirty="0">
                <a:solidFill>
                  <a:srgbClr val="1F2A44"/>
                </a:solidFill>
                <a:latin typeface="Times New Roman" panose="02020603050405020304" pitchFamily="18" charset="0"/>
                <a:ea typeface="Arial" pitchFamily="34" charset="-122"/>
                <a:cs typeface="Times New Roman" panose="02020603050405020304" pitchFamily="18" charset="0"/>
              </a:rPr>
              <a:t>Doctor master, Location, Specialization, Availability, Visit duration</a:t>
            </a:r>
            <a:endParaRPr lang="en-US" sz="1200" dirty="0">
              <a:latin typeface="Times New Roman" panose="02020603050405020304" pitchFamily="18" charset="0"/>
              <a:cs typeface="Times New Roman" panose="02020603050405020304" pitchFamily="18" charset="0"/>
            </a:endParaRPr>
          </a:p>
        </p:txBody>
      </p:sp>
      <p:sp>
        <p:nvSpPr>
          <p:cNvPr id="10" name="Shape 8"/>
          <p:cNvSpPr/>
          <p:nvPr/>
        </p:nvSpPr>
        <p:spPr>
          <a:xfrm>
            <a:off x="6522621" y="1939296"/>
            <a:ext cx="2520951" cy="1271271"/>
          </a:xfrm>
          <a:prstGeom prst="roundRect">
            <a:avLst>
              <a:gd name="adj" fmla="val 4745"/>
            </a:avLst>
          </a:prstGeom>
          <a:solidFill>
            <a:srgbClr val="FFFFFF"/>
          </a:solidFill>
          <a:ln w="6350">
            <a:solidFill>
              <a:schemeClr val="accent2"/>
            </a:solidFill>
            <a:prstDash val="solid"/>
          </a:ln>
          <a:effectLst>
            <a:outerShdw blurRad="50800" dist="38100" dir="8100000" algn="tr" rotWithShape="0">
              <a:prstClr val="black">
                <a:alpha val="40000"/>
              </a:prstClr>
            </a:outerShdw>
          </a:effectLst>
        </p:spPr>
      </p:sp>
      <p:sp>
        <p:nvSpPr>
          <p:cNvPr id="11" name="Text 9"/>
          <p:cNvSpPr/>
          <p:nvPr/>
        </p:nvSpPr>
        <p:spPr>
          <a:xfrm>
            <a:off x="6676926" y="2093602"/>
            <a:ext cx="2278711" cy="208280"/>
          </a:xfrm>
          <a:prstGeom prst="rect">
            <a:avLst/>
          </a:prstGeom>
          <a:noFill/>
          <a:ln/>
        </p:spPr>
        <p:txBody>
          <a:bodyPr wrap="square" lIns="0" tIns="0" rIns="0" bIns="0" rtlCol="0" anchor="ctr">
            <a:noAutofit/>
          </a:bodyPr>
          <a:lstStyle/>
          <a:p>
            <a:pPr algn="just">
              <a:lnSpc>
                <a:spcPts val="1440"/>
              </a:lnSpc>
            </a:pPr>
            <a:r>
              <a:rPr lang="en-US" sz="1400" b="1" dirty="0">
                <a:solidFill>
                  <a:srgbClr val="1F2A44"/>
                </a:solidFill>
                <a:latin typeface="Times New Roman" panose="02020603050405020304" pitchFamily="18" charset="0"/>
                <a:ea typeface="Arial" pitchFamily="34" charset="-122"/>
                <a:cs typeface="Times New Roman" panose="02020603050405020304" pitchFamily="18" charset="0"/>
              </a:rPr>
              <a:t>Module 3 :— MR Management</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6676926" y="2339975"/>
            <a:ext cx="2278711" cy="381000"/>
          </a:xfrm>
          <a:prstGeom prst="rect">
            <a:avLst/>
          </a:prstGeom>
          <a:noFill/>
          <a:ln/>
        </p:spPr>
        <p:txBody>
          <a:bodyPr wrap="square" lIns="0" tIns="0" rIns="0" bIns="0" rtlCol="0" anchor="ctr">
            <a:normAutofit/>
          </a:bodyPr>
          <a:lstStyle/>
          <a:p>
            <a:pPr algn="just">
              <a:lnSpc>
                <a:spcPts val="1400"/>
              </a:lnSpc>
            </a:pPr>
            <a:r>
              <a:rPr lang="en-US" sz="1200" dirty="0">
                <a:solidFill>
                  <a:srgbClr val="1F2A44"/>
                </a:solidFill>
                <a:latin typeface="Times New Roman" panose="02020603050405020304" pitchFamily="18" charset="0"/>
                <a:ea typeface="Arial" pitchFamily="34" charset="-122"/>
                <a:cs typeface="Times New Roman" panose="02020603050405020304" pitchFamily="18" charset="0"/>
              </a:rPr>
              <a:t>MR profile, Territory, Working hours, Start/end location</a:t>
            </a:r>
            <a:endParaRPr lang="en-US" sz="1200" dirty="0">
              <a:latin typeface="Times New Roman" panose="02020603050405020304" pitchFamily="18" charset="0"/>
              <a:cs typeface="Times New Roman" panose="02020603050405020304" pitchFamily="18" charset="0"/>
            </a:endParaRPr>
          </a:p>
        </p:txBody>
      </p:sp>
      <p:sp>
        <p:nvSpPr>
          <p:cNvPr id="13" name="Shape 11"/>
          <p:cNvSpPr/>
          <p:nvPr/>
        </p:nvSpPr>
        <p:spPr>
          <a:xfrm>
            <a:off x="9202321" y="1939296"/>
            <a:ext cx="2520951" cy="1271271"/>
          </a:xfrm>
          <a:prstGeom prst="roundRect">
            <a:avLst>
              <a:gd name="adj" fmla="val 4745"/>
            </a:avLst>
          </a:prstGeom>
          <a:solidFill>
            <a:srgbClr val="FFFFFF"/>
          </a:solidFill>
          <a:ln w="6350">
            <a:solidFill>
              <a:schemeClr val="accent2"/>
            </a:solidFill>
            <a:prstDash val="solid"/>
          </a:ln>
          <a:effectLst>
            <a:outerShdw blurRad="50800" dist="38100" dir="8100000" algn="tr" rotWithShape="0">
              <a:prstClr val="black">
                <a:alpha val="40000"/>
              </a:prstClr>
            </a:outerShdw>
          </a:effectLst>
        </p:spPr>
      </p:sp>
      <p:sp>
        <p:nvSpPr>
          <p:cNvPr id="14" name="Text 12"/>
          <p:cNvSpPr/>
          <p:nvPr/>
        </p:nvSpPr>
        <p:spPr>
          <a:xfrm>
            <a:off x="9356626" y="2093602"/>
            <a:ext cx="2278711" cy="391160"/>
          </a:xfrm>
          <a:prstGeom prst="rect">
            <a:avLst/>
          </a:prstGeom>
          <a:noFill/>
          <a:ln/>
        </p:spPr>
        <p:txBody>
          <a:bodyPr wrap="square" lIns="0" tIns="0" rIns="0" bIns="0" rtlCol="0" anchor="ctr">
            <a:normAutofit/>
          </a:bodyPr>
          <a:lstStyle/>
          <a:p>
            <a:pPr algn="just">
              <a:lnSpc>
                <a:spcPts val="1440"/>
              </a:lnSpc>
            </a:pPr>
            <a:r>
              <a:rPr lang="en-US" sz="1400" b="1" dirty="0">
                <a:solidFill>
                  <a:srgbClr val="1F2A44"/>
                </a:solidFill>
                <a:latin typeface="Times New Roman" panose="02020603050405020304" pitchFamily="18" charset="0"/>
                <a:ea typeface="Arial" pitchFamily="34" charset="-122"/>
                <a:cs typeface="Times New Roman" panose="02020603050405020304" pitchFamily="18" charset="0"/>
              </a:rPr>
              <a:t>Module 4 :— Visit &amp; Appointment Management</a:t>
            </a:r>
            <a:endParaRPr lang="en-US" sz="1400" dirty="0">
              <a:latin typeface="Times New Roman" panose="02020603050405020304" pitchFamily="18" charset="0"/>
              <a:cs typeface="Times New Roman" panose="02020603050405020304" pitchFamily="18" charset="0"/>
            </a:endParaRPr>
          </a:p>
        </p:txBody>
      </p:sp>
      <p:sp>
        <p:nvSpPr>
          <p:cNvPr id="15" name="Text 13"/>
          <p:cNvSpPr/>
          <p:nvPr/>
        </p:nvSpPr>
        <p:spPr>
          <a:xfrm>
            <a:off x="9356626" y="2522859"/>
            <a:ext cx="2278711" cy="381000"/>
          </a:xfrm>
          <a:prstGeom prst="rect">
            <a:avLst/>
          </a:prstGeom>
          <a:noFill/>
          <a:ln/>
        </p:spPr>
        <p:txBody>
          <a:bodyPr wrap="square" lIns="0" tIns="0" rIns="0" bIns="0" rtlCol="0" anchor="ctr">
            <a:normAutofit/>
          </a:bodyPr>
          <a:lstStyle/>
          <a:p>
            <a:pPr algn="just">
              <a:lnSpc>
                <a:spcPts val="1400"/>
              </a:lnSpc>
            </a:pPr>
            <a:r>
              <a:rPr lang="en-US" sz="1200" dirty="0">
                <a:solidFill>
                  <a:srgbClr val="1F2A44"/>
                </a:solidFill>
                <a:latin typeface="Times New Roman" panose="02020603050405020304" pitchFamily="18" charset="0"/>
                <a:ea typeface="Arial" pitchFamily="34" charset="-122"/>
                <a:cs typeface="Times New Roman" panose="02020603050405020304" pitchFamily="18" charset="0"/>
              </a:rPr>
              <a:t>Create visit, Appointment, Reschedule, Visit status, Follow-up</a:t>
            </a:r>
            <a:endParaRPr lang="en-US" sz="1200" dirty="0">
              <a:latin typeface="Times New Roman" panose="02020603050405020304" pitchFamily="18" charset="0"/>
              <a:cs typeface="Times New Roman" panose="02020603050405020304" pitchFamily="18" charset="0"/>
            </a:endParaRPr>
          </a:p>
        </p:txBody>
      </p:sp>
      <p:sp>
        <p:nvSpPr>
          <p:cNvPr id="16" name="Shape 14"/>
          <p:cNvSpPr/>
          <p:nvPr/>
        </p:nvSpPr>
        <p:spPr>
          <a:xfrm>
            <a:off x="1163221" y="3369322"/>
            <a:ext cx="2520951" cy="1271271"/>
          </a:xfrm>
          <a:prstGeom prst="roundRect">
            <a:avLst>
              <a:gd name="adj" fmla="val 4745"/>
            </a:avLst>
          </a:prstGeom>
          <a:solidFill>
            <a:srgbClr val="FFFFFF"/>
          </a:solidFill>
          <a:ln w="6350">
            <a:solidFill>
              <a:schemeClr val="accent2"/>
            </a:solidFill>
            <a:prstDash val="solid"/>
          </a:ln>
          <a:effectLst>
            <a:outerShdw blurRad="50800" dist="38100" dir="8100000" algn="tr" rotWithShape="0">
              <a:prstClr val="black">
                <a:alpha val="40000"/>
              </a:prstClr>
            </a:outerShdw>
          </a:effectLst>
        </p:spPr>
      </p:sp>
      <p:sp>
        <p:nvSpPr>
          <p:cNvPr id="17" name="Text 15"/>
          <p:cNvSpPr/>
          <p:nvPr/>
        </p:nvSpPr>
        <p:spPr>
          <a:xfrm>
            <a:off x="1317526" y="3523618"/>
            <a:ext cx="2278711" cy="391160"/>
          </a:xfrm>
          <a:prstGeom prst="rect">
            <a:avLst/>
          </a:prstGeom>
          <a:noFill/>
          <a:ln/>
        </p:spPr>
        <p:txBody>
          <a:bodyPr wrap="square" lIns="0" tIns="0" rIns="0" bIns="0" rtlCol="0" anchor="ctr">
            <a:normAutofit/>
          </a:bodyPr>
          <a:lstStyle/>
          <a:p>
            <a:pPr algn="just">
              <a:lnSpc>
                <a:spcPts val="1440"/>
              </a:lnSpc>
            </a:pPr>
            <a:r>
              <a:rPr lang="en-US" sz="1400" b="1" dirty="0">
                <a:solidFill>
                  <a:srgbClr val="1F2A44"/>
                </a:solidFill>
                <a:latin typeface="Times New Roman" panose="02020603050405020304" pitchFamily="18" charset="0"/>
                <a:ea typeface="Arial" pitchFamily="34" charset="-122"/>
                <a:cs typeface="Times New Roman" panose="02020603050405020304" pitchFamily="18" charset="0"/>
              </a:rPr>
              <a:t>Module 5 :— ML Priority Engine</a:t>
            </a:r>
            <a:endParaRPr lang="en-US" sz="1400" dirty="0">
              <a:latin typeface="Times New Roman" panose="02020603050405020304" pitchFamily="18" charset="0"/>
              <a:cs typeface="Times New Roman" panose="02020603050405020304" pitchFamily="18" charset="0"/>
            </a:endParaRPr>
          </a:p>
        </p:txBody>
      </p:sp>
      <p:sp>
        <p:nvSpPr>
          <p:cNvPr id="18" name="Text 16"/>
          <p:cNvSpPr/>
          <p:nvPr/>
        </p:nvSpPr>
        <p:spPr>
          <a:xfrm>
            <a:off x="1317526" y="3952875"/>
            <a:ext cx="2278711" cy="558800"/>
          </a:xfrm>
          <a:prstGeom prst="rect">
            <a:avLst/>
          </a:prstGeom>
          <a:noFill/>
          <a:ln/>
        </p:spPr>
        <p:txBody>
          <a:bodyPr wrap="square" lIns="0" tIns="0" rIns="0" bIns="0" rtlCol="0" anchor="ctr">
            <a:normAutofit/>
          </a:bodyPr>
          <a:lstStyle/>
          <a:p>
            <a:pPr algn="just">
              <a:lnSpc>
                <a:spcPts val="1400"/>
              </a:lnSpc>
            </a:pPr>
            <a:r>
              <a:rPr lang="en-US" sz="1200" dirty="0">
                <a:solidFill>
                  <a:srgbClr val="1F2A44"/>
                </a:solidFill>
                <a:latin typeface="Times New Roman" panose="02020603050405020304" pitchFamily="18" charset="0"/>
                <a:ea typeface="Arial" pitchFamily="34" charset="-122"/>
                <a:cs typeface="Times New Roman" panose="02020603050405020304" pitchFamily="18" charset="0"/>
              </a:rPr>
              <a:t>Data preprocessing, Feature extraction, Model prediction, Priority output</a:t>
            </a:r>
            <a:endParaRPr lang="en-US" sz="1200" dirty="0">
              <a:latin typeface="Times New Roman" panose="02020603050405020304" pitchFamily="18" charset="0"/>
              <a:cs typeface="Times New Roman" panose="02020603050405020304" pitchFamily="18" charset="0"/>
            </a:endParaRPr>
          </a:p>
        </p:txBody>
      </p:sp>
      <p:sp>
        <p:nvSpPr>
          <p:cNvPr id="19" name="Shape 17"/>
          <p:cNvSpPr/>
          <p:nvPr/>
        </p:nvSpPr>
        <p:spPr>
          <a:xfrm>
            <a:off x="3842921" y="3369322"/>
            <a:ext cx="2520951" cy="1271271"/>
          </a:xfrm>
          <a:prstGeom prst="roundRect">
            <a:avLst>
              <a:gd name="adj" fmla="val 4745"/>
            </a:avLst>
          </a:prstGeom>
          <a:solidFill>
            <a:srgbClr val="FFFFFF"/>
          </a:solidFill>
          <a:ln w="6350">
            <a:solidFill>
              <a:schemeClr val="accent2"/>
            </a:solidFill>
            <a:prstDash val="solid"/>
          </a:ln>
          <a:effectLst>
            <a:outerShdw blurRad="50800" dist="38100" dir="8100000" algn="tr" rotWithShape="0">
              <a:prstClr val="black">
                <a:alpha val="40000"/>
              </a:prstClr>
            </a:outerShdw>
          </a:effectLst>
        </p:spPr>
      </p:sp>
      <p:sp>
        <p:nvSpPr>
          <p:cNvPr id="20" name="Text 18"/>
          <p:cNvSpPr/>
          <p:nvPr/>
        </p:nvSpPr>
        <p:spPr>
          <a:xfrm>
            <a:off x="3997226" y="3523618"/>
            <a:ext cx="2278711" cy="391160"/>
          </a:xfrm>
          <a:prstGeom prst="rect">
            <a:avLst/>
          </a:prstGeom>
          <a:noFill/>
          <a:ln/>
        </p:spPr>
        <p:txBody>
          <a:bodyPr wrap="square" lIns="0" tIns="0" rIns="0" bIns="0" rtlCol="0" anchor="ctr">
            <a:normAutofit/>
          </a:bodyPr>
          <a:lstStyle/>
          <a:p>
            <a:pPr algn="just">
              <a:lnSpc>
                <a:spcPts val="1440"/>
              </a:lnSpc>
            </a:pPr>
            <a:r>
              <a:rPr lang="en-US" sz="1400" b="1" dirty="0">
                <a:solidFill>
                  <a:srgbClr val="1F2A44"/>
                </a:solidFill>
                <a:latin typeface="Times New Roman" panose="02020603050405020304" pitchFamily="18" charset="0"/>
                <a:ea typeface="Arial" pitchFamily="34" charset="-122"/>
                <a:cs typeface="Times New Roman" panose="02020603050405020304" pitchFamily="18" charset="0"/>
              </a:rPr>
              <a:t>Module 6 :— Route Optimization</a:t>
            </a:r>
            <a:endParaRPr lang="en-US" sz="1400" dirty="0">
              <a:latin typeface="Times New Roman" panose="02020603050405020304" pitchFamily="18" charset="0"/>
              <a:cs typeface="Times New Roman" panose="02020603050405020304" pitchFamily="18" charset="0"/>
            </a:endParaRPr>
          </a:p>
        </p:txBody>
      </p:sp>
      <p:sp>
        <p:nvSpPr>
          <p:cNvPr id="21" name="Text 19"/>
          <p:cNvSpPr/>
          <p:nvPr/>
        </p:nvSpPr>
        <p:spPr>
          <a:xfrm>
            <a:off x="3997226" y="3952875"/>
            <a:ext cx="2278711" cy="381000"/>
          </a:xfrm>
          <a:prstGeom prst="rect">
            <a:avLst/>
          </a:prstGeom>
          <a:noFill/>
          <a:ln/>
        </p:spPr>
        <p:txBody>
          <a:bodyPr wrap="square" lIns="0" tIns="0" rIns="0" bIns="0" rtlCol="0" anchor="ctr">
            <a:normAutofit/>
          </a:bodyPr>
          <a:lstStyle/>
          <a:p>
            <a:pPr algn="just">
              <a:lnSpc>
                <a:spcPts val="1400"/>
              </a:lnSpc>
            </a:pPr>
            <a:r>
              <a:rPr lang="en-US" sz="1200" dirty="0">
                <a:solidFill>
                  <a:srgbClr val="1F2A44"/>
                </a:solidFill>
                <a:latin typeface="Times New Roman" panose="02020603050405020304" pitchFamily="18" charset="0"/>
                <a:ea typeface="Arial" pitchFamily="34" charset="-122"/>
                <a:cs typeface="Times New Roman" panose="02020603050405020304" pitchFamily="18" charset="0"/>
              </a:rPr>
              <a:t>Travel matrix, Constraints, OR-Tools, Optimized sequence</a:t>
            </a:r>
            <a:endParaRPr lang="en-US" sz="1200" dirty="0">
              <a:latin typeface="Times New Roman" panose="02020603050405020304" pitchFamily="18" charset="0"/>
              <a:cs typeface="Times New Roman" panose="02020603050405020304" pitchFamily="18" charset="0"/>
            </a:endParaRPr>
          </a:p>
        </p:txBody>
      </p:sp>
      <p:sp>
        <p:nvSpPr>
          <p:cNvPr id="22" name="Shape 20"/>
          <p:cNvSpPr/>
          <p:nvPr/>
        </p:nvSpPr>
        <p:spPr>
          <a:xfrm>
            <a:off x="6522621" y="3369322"/>
            <a:ext cx="2520951" cy="1271271"/>
          </a:xfrm>
          <a:prstGeom prst="roundRect">
            <a:avLst>
              <a:gd name="adj" fmla="val 4745"/>
            </a:avLst>
          </a:prstGeom>
          <a:solidFill>
            <a:srgbClr val="FFFFFF"/>
          </a:solidFill>
          <a:ln w="6350">
            <a:solidFill>
              <a:schemeClr val="accent2"/>
            </a:solidFill>
            <a:prstDash val="solid"/>
          </a:ln>
          <a:effectLst>
            <a:outerShdw blurRad="50800" dist="38100" dir="8100000" algn="tr" rotWithShape="0">
              <a:prstClr val="black">
                <a:alpha val="40000"/>
              </a:prstClr>
            </a:outerShdw>
          </a:effectLst>
        </p:spPr>
      </p:sp>
      <p:sp>
        <p:nvSpPr>
          <p:cNvPr id="23" name="Text 21"/>
          <p:cNvSpPr/>
          <p:nvPr/>
        </p:nvSpPr>
        <p:spPr>
          <a:xfrm>
            <a:off x="6676926" y="3523618"/>
            <a:ext cx="2278711" cy="208280"/>
          </a:xfrm>
          <a:prstGeom prst="rect">
            <a:avLst/>
          </a:prstGeom>
          <a:noFill/>
          <a:ln/>
        </p:spPr>
        <p:txBody>
          <a:bodyPr wrap="square" lIns="0" tIns="0" rIns="0" bIns="0" rtlCol="0" anchor="ctr">
            <a:normAutofit fontScale="85000" lnSpcReduction="10000"/>
          </a:bodyPr>
          <a:lstStyle/>
          <a:p>
            <a:pPr algn="just">
              <a:lnSpc>
                <a:spcPts val="1440"/>
              </a:lnSpc>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Module 7 :— MR Dashboard</a:t>
            </a:r>
            <a:endParaRPr lang="en-US" sz="1600" dirty="0">
              <a:latin typeface="Times New Roman" panose="02020603050405020304" pitchFamily="18" charset="0"/>
              <a:cs typeface="Times New Roman" panose="02020603050405020304" pitchFamily="18" charset="0"/>
            </a:endParaRPr>
          </a:p>
        </p:txBody>
      </p:sp>
      <p:sp>
        <p:nvSpPr>
          <p:cNvPr id="24" name="Text 22"/>
          <p:cNvSpPr/>
          <p:nvPr/>
        </p:nvSpPr>
        <p:spPr>
          <a:xfrm>
            <a:off x="6676926" y="3770002"/>
            <a:ext cx="2278711" cy="381000"/>
          </a:xfrm>
          <a:prstGeom prst="rect">
            <a:avLst/>
          </a:prstGeom>
          <a:noFill/>
          <a:ln/>
        </p:spPr>
        <p:txBody>
          <a:bodyPr wrap="square" lIns="0" tIns="0" rIns="0" bIns="0" rtlCol="0" anchor="ctr">
            <a:normAutofit/>
          </a:bodyPr>
          <a:lstStyle/>
          <a:p>
            <a:pPr algn="just">
              <a:lnSpc>
                <a:spcPts val="1400"/>
              </a:lnSpc>
            </a:pPr>
            <a:r>
              <a:rPr lang="en-US" sz="1200" dirty="0">
                <a:solidFill>
                  <a:srgbClr val="1F2A44"/>
                </a:solidFill>
                <a:latin typeface="Times New Roman" panose="02020603050405020304" pitchFamily="18" charset="0"/>
                <a:ea typeface="Arial" pitchFamily="34" charset="-122"/>
                <a:cs typeface="Times New Roman" panose="02020603050405020304" pitchFamily="18" charset="0"/>
              </a:rPr>
              <a:t>Today's visits, Priority, Route, Schedule, Status</a:t>
            </a:r>
            <a:endParaRPr lang="en-US" sz="1200" dirty="0">
              <a:latin typeface="Times New Roman" panose="02020603050405020304" pitchFamily="18" charset="0"/>
              <a:cs typeface="Times New Roman" panose="02020603050405020304" pitchFamily="18" charset="0"/>
            </a:endParaRPr>
          </a:p>
        </p:txBody>
      </p:sp>
      <p:sp>
        <p:nvSpPr>
          <p:cNvPr id="25" name="Shape 23"/>
          <p:cNvSpPr/>
          <p:nvPr/>
        </p:nvSpPr>
        <p:spPr>
          <a:xfrm>
            <a:off x="9202321" y="3369322"/>
            <a:ext cx="2520951" cy="1271271"/>
          </a:xfrm>
          <a:prstGeom prst="roundRect">
            <a:avLst>
              <a:gd name="adj" fmla="val 4745"/>
            </a:avLst>
          </a:prstGeom>
          <a:solidFill>
            <a:srgbClr val="FFFFFF"/>
          </a:solidFill>
          <a:ln w="6350">
            <a:solidFill>
              <a:schemeClr val="accent2"/>
            </a:solidFill>
            <a:prstDash val="solid"/>
          </a:ln>
          <a:effectLst>
            <a:outerShdw blurRad="50800" dist="38100" dir="8100000" algn="tr" rotWithShape="0">
              <a:prstClr val="black">
                <a:alpha val="40000"/>
              </a:prstClr>
            </a:outerShdw>
          </a:effectLst>
        </p:spPr>
      </p:sp>
      <p:sp>
        <p:nvSpPr>
          <p:cNvPr id="26" name="Text 24"/>
          <p:cNvSpPr/>
          <p:nvPr/>
        </p:nvSpPr>
        <p:spPr>
          <a:xfrm>
            <a:off x="9356626" y="3523618"/>
            <a:ext cx="2278711" cy="391160"/>
          </a:xfrm>
          <a:prstGeom prst="rect">
            <a:avLst/>
          </a:prstGeom>
          <a:noFill/>
          <a:ln/>
        </p:spPr>
        <p:txBody>
          <a:bodyPr wrap="square" lIns="0" tIns="0" rIns="0" bIns="0" rtlCol="0" anchor="ctr">
            <a:normAutofit/>
          </a:bodyPr>
          <a:lstStyle/>
          <a:p>
            <a:pPr algn="just">
              <a:lnSpc>
                <a:spcPts val="1440"/>
              </a:lnSpc>
            </a:pPr>
            <a:r>
              <a:rPr lang="en-US" sz="1400" b="1" dirty="0">
                <a:solidFill>
                  <a:srgbClr val="1F2A44"/>
                </a:solidFill>
                <a:latin typeface="Times New Roman" panose="02020603050405020304" pitchFamily="18" charset="0"/>
                <a:ea typeface="Arial" pitchFamily="34" charset="-122"/>
                <a:cs typeface="Times New Roman" panose="02020603050405020304" pitchFamily="18" charset="0"/>
              </a:rPr>
              <a:t>Module 8 :— Manager Dashboard</a:t>
            </a:r>
            <a:endParaRPr lang="en-US" sz="1400" dirty="0">
              <a:latin typeface="Times New Roman" panose="02020603050405020304" pitchFamily="18" charset="0"/>
              <a:cs typeface="Times New Roman" panose="02020603050405020304" pitchFamily="18" charset="0"/>
            </a:endParaRPr>
          </a:p>
        </p:txBody>
      </p:sp>
      <p:sp>
        <p:nvSpPr>
          <p:cNvPr id="27" name="Text 25"/>
          <p:cNvSpPr/>
          <p:nvPr/>
        </p:nvSpPr>
        <p:spPr>
          <a:xfrm>
            <a:off x="9356626" y="3952875"/>
            <a:ext cx="2278711" cy="558800"/>
          </a:xfrm>
          <a:prstGeom prst="rect">
            <a:avLst/>
          </a:prstGeom>
          <a:noFill/>
          <a:ln/>
        </p:spPr>
        <p:txBody>
          <a:bodyPr wrap="square" lIns="0" tIns="0" rIns="0" bIns="0" rtlCol="0" anchor="ctr">
            <a:normAutofit/>
          </a:bodyPr>
          <a:lstStyle/>
          <a:p>
            <a:pPr algn="just">
              <a:lnSpc>
                <a:spcPts val="1400"/>
              </a:lnSpc>
            </a:pPr>
            <a:r>
              <a:rPr lang="en-US" sz="1200" dirty="0">
                <a:solidFill>
                  <a:srgbClr val="1F2A44"/>
                </a:solidFill>
                <a:latin typeface="Times New Roman" panose="02020603050405020304" pitchFamily="18" charset="0"/>
                <a:ea typeface="Arial" pitchFamily="34" charset="-122"/>
                <a:cs typeface="Times New Roman" panose="02020603050405020304" pitchFamily="18" charset="0"/>
              </a:rPr>
              <a:t>MR performance, Planned/completed visits, Priority visits, Route analytics, Reports</a:t>
            </a:r>
            <a:endParaRPr lang="en-US" sz="1200" dirty="0">
              <a:latin typeface="Times New Roman" panose="02020603050405020304" pitchFamily="18" charset="0"/>
              <a:cs typeface="Times New Roman" panose="02020603050405020304" pitchFamily="18" charset="0"/>
            </a:endParaRPr>
          </a:p>
        </p:txBody>
      </p:sp>
      <p:sp>
        <p:nvSpPr>
          <p:cNvPr id="28" name="Text 26"/>
          <p:cNvSpPr/>
          <p:nvPr/>
        </p:nvSpPr>
        <p:spPr>
          <a:xfrm>
            <a:off x="11209660" y="6793835"/>
            <a:ext cx="220345" cy="238760"/>
          </a:xfrm>
          <a:prstGeom prst="rect">
            <a:avLst/>
          </a:prstGeom>
          <a:noFill/>
          <a:ln/>
        </p:spPr>
        <p:txBody>
          <a:bodyPr wrap="square" lIns="0" tIns="0" rIns="0" bIns="0" rtlCol="0" anchor="t">
            <a:normAutofit/>
          </a:bodyPr>
          <a:lstStyle/>
          <a:p>
            <a:pPr>
              <a:lnSpc>
                <a:spcPts val="1680"/>
              </a:lnSpc>
            </a:pPr>
            <a:r>
              <a:rPr lang="en-US" sz="1600" dirty="0">
                <a:solidFill>
                  <a:srgbClr val="5B6475"/>
                </a:solidFill>
                <a:latin typeface="Times New Roman" panose="02020603050405020304" pitchFamily="18" charset="0"/>
                <a:ea typeface="Arial" pitchFamily="34" charset="-122"/>
                <a:cs typeface="Times New Roman" panose="02020603050405020304" pitchFamily="18" charset="0"/>
              </a:rPr>
              <a:t>18</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850900" y="1190592"/>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190592"/>
            <a:ext cx="10647935" cy="463551"/>
          </a:xfrm>
          <a:prstGeom prst="rect">
            <a:avLst/>
          </a:prstGeom>
          <a:noFill/>
          <a:ln/>
        </p:spPr>
        <p:txBody>
          <a:bodyPr vert="horz" wrap="square" lIns="0" tIns="0" rIns="0" bIns="0" rtlCol="0" anchor="t">
            <a:normAutofit/>
          </a:bodyPr>
          <a:lstStyle/>
          <a:p>
            <a:pPr>
              <a:lnSpc>
                <a:spcPts val="3451"/>
              </a:lnSpc>
            </a:pPr>
            <a:r>
              <a:rPr lang="en-US" sz="3200" b="1" dirty="0">
                <a:latin typeface="Times New Roman" panose="02020603050405020304" pitchFamily="18" charset="0"/>
                <a:cs typeface="Times New Roman" panose="02020603050405020304" pitchFamily="18" charset="0"/>
              </a:rPr>
              <a:t>Proposed System UI</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1174792" y="1939289"/>
            <a:ext cx="3414157" cy="1440519"/>
          </a:xfrm>
          <a:prstGeom prst="roundRect">
            <a:avLst>
              <a:gd name="adj" fmla="val 4661"/>
            </a:avLst>
          </a:prstGeom>
          <a:solidFill>
            <a:srgbClr val="FFFFFF"/>
          </a:solidFill>
          <a:ln w="6350">
            <a:solidFill>
              <a:schemeClr val="accent2"/>
            </a:solidFill>
            <a:prstDash val="solid"/>
          </a:ln>
          <a:effectLst>
            <a:outerShdw blurRad="50800" dist="38100" dir="8100000" algn="tr" rotWithShape="0">
              <a:prstClr val="black">
                <a:alpha val="40000"/>
              </a:prstClr>
            </a:outerShdw>
          </a:effectLst>
        </p:spPr>
      </p:sp>
      <p:sp>
        <p:nvSpPr>
          <p:cNvPr id="5" name="Text 3"/>
          <p:cNvSpPr/>
          <p:nvPr/>
        </p:nvSpPr>
        <p:spPr>
          <a:xfrm>
            <a:off x="1329100" y="2093599"/>
            <a:ext cx="3198713" cy="254000"/>
          </a:xfrm>
          <a:prstGeom prst="rect">
            <a:avLst/>
          </a:prstGeom>
          <a:noFill/>
          <a:ln/>
        </p:spPr>
        <p:txBody>
          <a:bodyPr wrap="square" lIns="0" tIns="0" rIns="0" bIns="0" rtlCol="0" anchor="t">
            <a:normAutofit/>
          </a:bodyPr>
          <a:lstStyle/>
          <a:p>
            <a:pPr algn="just">
              <a:lnSpc>
                <a:spcPts val="1800"/>
              </a:lnSpc>
            </a:pPr>
            <a:r>
              <a:rPr lang="en-US" sz="2000" b="1" dirty="0">
                <a:solidFill>
                  <a:srgbClr val="1F2A44"/>
                </a:solidFill>
                <a:latin typeface="Times New Roman" panose="02020603050405020304" pitchFamily="18" charset="0"/>
                <a:ea typeface="Arial" pitchFamily="34" charset="-122"/>
                <a:cs typeface="Times New Roman" panose="02020603050405020304" pitchFamily="18" charset="0"/>
              </a:rPr>
              <a:t>Login</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1329100" y="2385702"/>
            <a:ext cx="3198713" cy="256540"/>
          </a:xfrm>
          <a:prstGeom prst="rect">
            <a:avLst/>
          </a:prstGeom>
          <a:noFill/>
          <a:ln/>
        </p:spPr>
        <p:txBody>
          <a:bodyPr wrap="square" lIns="0" tIns="0" rIns="0" bIns="0" rtlCol="0" anchor="t">
            <a:normAutofit fontScale="85000" lnSpcReduction="10000"/>
          </a:bodyPr>
          <a:lstStyle/>
          <a:p>
            <a:pPr algn="just">
              <a:lnSpc>
                <a:spcPts val="1820"/>
              </a:lnSpc>
            </a:pPr>
            <a:r>
              <a:rPr lang="en-US" dirty="0">
                <a:solidFill>
                  <a:srgbClr val="1F2A44"/>
                </a:solidFill>
                <a:latin typeface="Times New Roman" panose="02020603050405020304" pitchFamily="18" charset="0"/>
                <a:ea typeface="Arial" pitchFamily="34" charset="-122"/>
                <a:cs typeface="Times New Roman" panose="02020603050405020304" pitchFamily="18" charset="0"/>
              </a:rPr>
              <a:t>Email / Username, Password → Login</a:t>
            </a:r>
            <a:endParaRPr lang="en-US" dirty="0">
              <a:latin typeface="Times New Roman" panose="02020603050405020304" pitchFamily="18" charset="0"/>
              <a:cs typeface="Times New Roman" panose="02020603050405020304" pitchFamily="18" charset="0"/>
            </a:endParaRPr>
          </a:p>
        </p:txBody>
      </p:sp>
      <p:sp>
        <p:nvSpPr>
          <p:cNvPr id="7" name="Shape 5"/>
          <p:cNvSpPr/>
          <p:nvPr/>
        </p:nvSpPr>
        <p:spPr>
          <a:xfrm>
            <a:off x="4747700" y="1939289"/>
            <a:ext cx="3414157" cy="1440519"/>
          </a:xfrm>
          <a:prstGeom prst="roundRect">
            <a:avLst>
              <a:gd name="adj" fmla="val 4661"/>
            </a:avLst>
          </a:prstGeom>
          <a:solidFill>
            <a:srgbClr val="FFFFFF"/>
          </a:solidFill>
          <a:ln w="6350">
            <a:solidFill>
              <a:schemeClr val="accent2"/>
            </a:solidFill>
            <a:prstDash val="solid"/>
          </a:ln>
          <a:effectLst>
            <a:outerShdw blurRad="50800" dist="38100" dir="8100000" algn="tr" rotWithShape="0">
              <a:prstClr val="black">
                <a:alpha val="40000"/>
              </a:prstClr>
            </a:outerShdw>
          </a:effectLst>
        </p:spPr>
      </p:sp>
      <p:sp>
        <p:nvSpPr>
          <p:cNvPr id="8" name="Text 6"/>
          <p:cNvSpPr/>
          <p:nvPr/>
        </p:nvSpPr>
        <p:spPr>
          <a:xfrm>
            <a:off x="4902009" y="2093599"/>
            <a:ext cx="3198713" cy="254000"/>
          </a:xfrm>
          <a:prstGeom prst="rect">
            <a:avLst/>
          </a:prstGeom>
          <a:noFill/>
          <a:ln/>
        </p:spPr>
        <p:txBody>
          <a:bodyPr wrap="square" lIns="0" tIns="0" rIns="0" bIns="0" rtlCol="0" anchor="t">
            <a:normAutofit/>
          </a:bodyPr>
          <a:lstStyle/>
          <a:p>
            <a:pPr algn="just">
              <a:lnSpc>
                <a:spcPts val="1800"/>
              </a:lnSpc>
            </a:pPr>
            <a:r>
              <a:rPr lang="en-US" sz="2000" b="1" dirty="0">
                <a:solidFill>
                  <a:srgbClr val="1F2A44"/>
                </a:solidFill>
                <a:latin typeface="Times New Roman" panose="02020603050405020304" pitchFamily="18" charset="0"/>
                <a:ea typeface="Arial" pitchFamily="34" charset="-122"/>
                <a:cs typeface="Times New Roman" panose="02020603050405020304" pitchFamily="18" charset="0"/>
              </a:rPr>
              <a:t>MR Dashboard</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4902009" y="2385699"/>
            <a:ext cx="3198713" cy="487680"/>
          </a:xfrm>
          <a:prstGeom prst="rect">
            <a:avLst/>
          </a:prstGeom>
          <a:noFill/>
          <a:ln/>
        </p:spPr>
        <p:txBody>
          <a:bodyPr wrap="square" lIns="0" tIns="0" rIns="0" bIns="0" rtlCol="0" anchor="t">
            <a:normAutofit fontScale="92500"/>
          </a:bodyPr>
          <a:lstStyle/>
          <a:p>
            <a:pPr algn="just">
              <a:lnSpc>
                <a:spcPts val="1820"/>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Total visits, Completed, Pending, High-priority visits, Today's route, Map</a:t>
            </a:r>
            <a:endParaRPr lang="en-US" sz="1600" dirty="0">
              <a:latin typeface="Times New Roman" panose="02020603050405020304" pitchFamily="18" charset="0"/>
              <a:cs typeface="Times New Roman" panose="02020603050405020304" pitchFamily="18" charset="0"/>
            </a:endParaRPr>
          </a:p>
        </p:txBody>
      </p:sp>
      <p:sp>
        <p:nvSpPr>
          <p:cNvPr id="10" name="Shape 8"/>
          <p:cNvSpPr/>
          <p:nvPr/>
        </p:nvSpPr>
        <p:spPr>
          <a:xfrm>
            <a:off x="8320608" y="1939289"/>
            <a:ext cx="3414157" cy="1440519"/>
          </a:xfrm>
          <a:prstGeom prst="roundRect">
            <a:avLst>
              <a:gd name="adj" fmla="val 4661"/>
            </a:avLst>
          </a:prstGeom>
          <a:solidFill>
            <a:srgbClr val="FFFFFF"/>
          </a:solidFill>
          <a:ln w="6350">
            <a:solidFill>
              <a:schemeClr val="accent2"/>
            </a:solidFill>
            <a:prstDash val="solid"/>
          </a:ln>
          <a:effectLst>
            <a:outerShdw blurRad="50800" dist="38100" dir="8100000" algn="tr" rotWithShape="0">
              <a:prstClr val="black">
                <a:alpha val="40000"/>
              </a:prstClr>
            </a:outerShdw>
          </a:effectLst>
        </p:spPr>
      </p:sp>
      <p:sp>
        <p:nvSpPr>
          <p:cNvPr id="11" name="Text 9"/>
          <p:cNvSpPr/>
          <p:nvPr/>
        </p:nvSpPr>
        <p:spPr>
          <a:xfrm>
            <a:off x="8474916" y="2093599"/>
            <a:ext cx="3198713" cy="254000"/>
          </a:xfrm>
          <a:prstGeom prst="rect">
            <a:avLst/>
          </a:prstGeom>
          <a:noFill/>
          <a:ln/>
        </p:spPr>
        <p:txBody>
          <a:bodyPr wrap="square" lIns="0" tIns="0" rIns="0" bIns="0" rtlCol="0" anchor="t">
            <a:normAutofit/>
          </a:bodyPr>
          <a:lstStyle/>
          <a:p>
            <a:pPr algn="just">
              <a:lnSpc>
                <a:spcPts val="1800"/>
              </a:lnSpc>
            </a:pPr>
            <a:r>
              <a:rPr lang="en-US" sz="2000" b="1" dirty="0">
                <a:solidFill>
                  <a:srgbClr val="1F2A44"/>
                </a:solidFill>
                <a:latin typeface="Times New Roman" panose="02020603050405020304" pitchFamily="18" charset="0"/>
                <a:ea typeface="Arial" pitchFamily="34" charset="-122"/>
                <a:cs typeface="Times New Roman" panose="02020603050405020304" pitchFamily="18" charset="0"/>
              </a:rPr>
              <a:t>Manager Dashboard</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8474916" y="2385702"/>
            <a:ext cx="3198713" cy="718820"/>
          </a:xfrm>
          <a:prstGeom prst="rect">
            <a:avLst/>
          </a:prstGeom>
          <a:noFill/>
          <a:ln/>
        </p:spPr>
        <p:txBody>
          <a:bodyPr wrap="square" lIns="0" tIns="0" rIns="0" bIns="0" rtlCol="0" anchor="t">
            <a:noAutofit/>
          </a:bodyPr>
          <a:lstStyle/>
          <a:p>
            <a:pPr algn="just">
              <a:lnSpc>
                <a:spcPts val="1820"/>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Total MRs, Total planned visits, Completion rate, High-priority visits, MR-wise performance, Route efficiency</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11209660" y="6793832"/>
            <a:ext cx="220345" cy="238760"/>
          </a:xfrm>
          <a:prstGeom prst="rect">
            <a:avLst/>
          </a:prstGeom>
          <a:noFill/>
          <a:ln/>
        </p:spPr>
        <p:txBody>
          <a:bodyPr wrap="square" lIns="0" tIns="0" rIns="0" bIns="0" rtlCol="0" anchor="t">
            <a:normAutofit/>
          </a:bodyPr>
          <a:lstStyle/>
          <a:p>
            <a:pPr>
              <a:lnSpc>
                <a:spcPts val="1680"/>
              </a:lnSpc>
            </a:pPr>
            <a:r>
              <a:rPr lang="en-US" sz="1600" dirty="0">
                <a:solidFill>
                  <a:srgbClr val="5B6475"/>
                </a:solidFill>
                <a:latin typeface="Times New Roman" panose="02020603050405020304" pitchFamily="18" charset="0"/>
                <a:ea typeface="Arial" pitchFamily="34" charset="-122"/>
                <a:cs typeface="Times New Roman" panose="02020603050405020304" pitchFamily="18" charset="0"/>
              </a:rPr>
              <a:t>19</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850900" y="1202165"/>
            <a:ext cx="0" cy="438151"/>
          </a:xfrm>
          <a:prstGeom prst="line">
            <a:avLst/>
          </a:prstGeom>
          <a:noFill/>
          <a:ln w="76200">
            <a:solidFill>
              <a:schemeClr val="accent2"/>
            </a:solidFill>
            <a:prstDash val="solid"/>
          </a:ln>
        </p:spPr>
      </p:sp>
      <p:sp>
        <p:nvSpPr>
          <p:cNvPr id="3" name="Text 1"/>
          <p:cNvSpPr>
            <a:spLocks noGrp="1"/>
          </p:cNvSpPr>
          <p:nvPr>
            <p:ph type="title"/>
          </p:nvPr>
        </p:nvSpPr>
        <p:spPr>
          <a:xfrm>
            <a:off x="1041403" y="1202165"/>
            <a:ext cx="10647935" cy="463551"/>
          </a:xfrm>
          <a:prstGeom prst="rect">
            <a:avLst/>
          </a:prstGeom>
          <a:noFill/>
          <a:ln/>
        </p:spPr>
        <p:txBody>
          <a:bodyPr vert="horz" wrap="square" lIns="0" tIns="0" rIns="0" bIns="0" rtlCol="0" anchor="t">
            <a:normAutofit/>
          </a:bodyPr>
          <a:lstStyle/>
          <a:p>
            <a:pPr algn="just">
              <a:lnSpc>
                <a:spcPts val="3451"/>
              </a:lnSpc>
            </a:pPr>
            <a:r>
              <a:rPr lang="en-US" sz="3200" b="1" dirty="0">
                <a:latin typeface="Times New Roman" panose="02020603050405020304" pitchFamily="18" charset="0"/>
                <a:cs typeface="Times New Roman" panose="02020603050405020304" pitchFamily="18" charset="0"/>
              </a:rPr>
              <a:t>Working Module: MR</a:t>
            </a:r>
            <a:endParaRPr lang="en-US" sz="3200" dirty="0">
              <a:latin typeface="Times New Roman" panose="02020603050405020304" pitchFamily="18" charset="0"/>
              <a:cs typeface="Times New Roman" panose="02020603050405020304" pitchFamily="18" charset="0"/>
            </a:endParaRPr>
          </a:p>
        </p:txBody>
      </p:sp>
      <p:sp>
        <p:nvSpPr>
          <p:cNvPr id="4" name="Text 2"/>
          <p:cNvSpPr/>
          <p:nvPr/>
        </p:nvSpPr>
        <p:spPr>
          <a:xfrm>
            <a:off x="1183191" y="2075011"/>
            <a:ext cx="1094661" cy="398780"/>
          </a:xfrm>
          <a:prstGeom prst="roundRect">
            <a:avLst>
              <a:gd name="adj" fmla="val 15924"/>
            </a:avLst>
          </a:prstGeom>
          <a:solidFill>
            <a:srgbClr val="2F6F6D"/>
          </a:solidFill>
          <a:ln>
            <a:solidFill>
              <a:schemeClr val="accent2"/>
            </a:solidFill>
          </a:ln>
          <a:effectLst>
            <a:reflection blurRad="6350" stA="52000" endA="300" endPos="35000" dir="5400000" sy="-100000" algn="bl" rotWithShape="0"/>
          </a:effectLst>
        </p:spPr>
        <p:txBody>
          <a:bodyPr wrap="none" lIns="0" tIns="0" rIns="0" bIns="0" rtlCol="0" anchor="ctr">
            <a:normAutofit/>
          </a:bodyPr>
          <a:lstStyle/>
          <a:p>
            <a:pPr algn="just">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1. MR logs in</a:t>
            </a:r>
            <a:endParaRPr lang="en-US" sz="1400" dirty="0">
              <a:latin typeface="Times New Roman" panose="02020603050405020304" pitchFamily="18" charset="0"/>
              <a:cs typeface="Times New Roman" panose="02020603050405020304" pitchFamily="18" charset="0"/>
            </a:endParaRPr>
          </a:p>
        </p:txBody>
      </p:sp>
      <p:sp>
        <p:nvSpPr>
          <p:cNvPr id="5" name="Text 3"/>
          <p:cNvSpPr/>
          <p:nvPr/>
        </p:nvSpPr>
        <p:spPr>
          <a:xfrm>
            <a:off x="2366752" y="2132157"/>
            <a:ext cx="254000" cy="309880"/>
          </a:xfrm>
          <a:prstGeom prst="rect">
            <a:avLst/>
          </a:prstGeom>
          <a:noFill/>
          <a:ln>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2658859" y="2075011"/>
            <a:ext cx="2488009" cy="398780"/>
          </a:xfrm>
          <a:prstGeom prst="roundRect">
            <a:avLst>
              <a:gd name="adj" fmla="val 15924"/>
            </a:avLst>
          </a:prstGeom>
          <a:solidFill>
            <a:srgbClr val="2F6F6D"/>
          </a:solidFill>
          <a:ln>
            <a:solidFill>
              <a:schemeClr val="accent2"/>
            </a:solidFill>
          </a:ln>
          <a:effectLst>
            <a:reflection blurRad="6350" stA="52000" endA="300" endPos="35000" dir="5400000" sy="-100000" algn="bl" rotWithShape="0"/>
          </a:effectLst>
        </p:spPr>
        <p:txBody>
          <a:bodyPr wrap="none" lIns="0" tIns="0" rIns="0" bIns="0" rtlCol="0" anchor="ctr">
            <a:normAutofit/>
          </a:bodyPr>
          <a:lstStyle/>
          <a:p>
            <a:pPr algn="just">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2. Dashboard displays today's visits</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5235762" y="2132157"/>
            <a:ext cx="254000" cy="309880"/>
          </a:xfrm>
          <a:prstGeom prst="rect">
            <a:avLst/>
          </a:prstGeom>
          <a:noFill/>
          <a:ln>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5527862" y="2075011"/>
            <a:ext cx="3020536" cy="398780"/>
          </a:xfrm>
          <a:prstGeom prst="roundRect">
            <a:avLst>
              <a:gd name="adj" fmla="val 15924"/>
            </a:avLst>
          </a:prstGeom>
          <a:solidFill>
            <a:srgbClr val="2F6F6D"/>
          </a:solidFill>
          <a:ln>
            <a:solidFill>
              <a:schemeClr val="accent2"/>
            </a:solidFill>
          </a:ln>
          <a:effectLst>
            <a:reflection blurRad="6350" stA="52000" endA="300" endPos="35000" dir="5400000" sy="-100000" algn="bl" rotWithShape="0"/>
          </a:effectLst>
        </p:spPr>
        <p:txBody>
          <a:bodyPr wrap="none" lIns="0" tIns="0" rIns="0" bIns="0" rtlCol="0" anchor="ctr">
            <a:normAutofit/>
          </a:bodyPr>
          <a:lstStyle/>
          <a:p>
            <a:pPr algn="just">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3. System retrieves doctor/appointment data</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8637298" y="2132157"/>
            <a:ext cx="254000" cy="309880"/>
          </a:xfrm>
          <a:prstGeom prst="rect">
            <a:avLst/>
          </a:prstGeom>
          <a:noFill/>
          <a:ln>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8929398" y="2075011"/>
            <a:ext cx="2161064" cy="398780"/>
          </a:xfrm>
          <a:prstGeom prst="roundRect">
            <a:avLst>
              <a:gd name="adj" fmla="val 15924"/>
            </a:avLst>
          </a:prstGeom>
          <a:solidFill>
            <a:srgbClr val="2F6F6D"/>
          </a:solidFill>
          <a:ln>
            <a:solidFill>
              <a:schemeClr val="accent2"/>
            </a:solidFill>
          </a:ln>
          <a:effectLst>
            <a:reflection blurRad="6350" stA="52000" endA="300" endPos="35000" dir="5400000" sy="-100000" algn="bl" rotWithShape="0"/>
          </a:effectLst>
        </p:spPr>
        <p:txBody>
          <a:bodyPr wrap="none" lIns="0" tIns="0" rIns="0" bIns="0" rtlCol="0" anchor="ctr">
            <a:normAutofit/>
          </a:bodyPr>
          <a:lstStyle/>
          <a:p>
            <a:pPr algn="just">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4. ML model generates priority</a:t>
            </a: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11179362" y="2132157"/>
            <a:ext cx="254000" cy="309880"/>
          </a:xfrm>
          <a:prstGeom prst="rect">
            <a:avLst/>
          </a:prstGeom>
          <a:noFill/>
          <a:ln>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1183191" y="2562695"/>
            <a:ext cx="2771696" cy="398780"/>
          </a:xfrm>
          <a:prstGeom prst="roundRect">
            <a:avLst>
              <a:gd name="adj" fmla="val 15924"/>
            </a:avLst>
          </a:prstGeom>
          <a:solidFill>
            <a:srgbClr val="2F6F6D"/>
          </a:solidFill>
          <a:ln>
            <a:solidFill>
              <a:schemeClr val="accent2"/>
            </a:solidFill>
          </a:ln>
          <a:effectLst>
            <a:reflection blurRad="6350" stA="52000" endA="300" endPos="35000" dir="5400000" sy="-100000" algn="bl" rotWithShape="0"/>
          </a:effectLst>
        </p:spPr>
        <p:txBody>
          <a:bodyPr wrap="none" lIns="0" tIns="0" rIns="0" bIns="0" rtlCol="0" anchor="ctr">
            <a:normAutofit/>
          </a:bodyPr>
          <a:lstStyle/>
          <a:p>
            <a:pPr algn="just">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5. MR clicks: Generate Optimized Route</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4043787" y="2619842"/>
            <a:ext cx="254000" cy="309880"/>
          </a:xfrm>
          <a:prstGeom prst="rect">
            <a:avLst/>
          </a:prstGeom>
          <a:noFill/>
          <a:ln>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4" name="Text 12"/>
          <p:cNvSpPr/>
          <p:nvPr/>
        </p:nvSpPr>
        <p:spPr>
          <a:xfrm>
            <a:off x="4335887" y="2562695"/>
            <a:ext cx="1692435" cy="398780"/>
          </a:xfrm>
          <a:prstGeom prst="roundRect">
            <a:avLst>
              <a:gd name="adj" fmla="val 15924"/>
            </a:avLst>
          </a:prstGeom>
          <a:solidFill>
            <a:srgbClr val="2F6F6D"/>
          </a:solidFill>
          <a:ln>
            <a:solidFill>
              <a:schemeClr val="accent2"/>
            </a:solidFill>
          </a:ln>
          <a:effectLst>
            <a:reflection blurRad="6350" stA="52000" endA="300" endPos="35000" dir="5400000" sy="-100000" algn="bl" rotWithShape="0"/>
          </a:effectLst>
        </p:spPr>
        <p:txBody>
          <a:bodyPr wrap="none" lIns="0" tIns="0" rIns="0" bIns="0" rtlCol="0" anchor="ctr">
            <a:normAutofit/>
          </a:bodyPr>
          <a:lstStyle/>
          <a:p>
            <a:pPr algn="just">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6. OR-Tools processes</a:t>
            </a:r>
            <a:endParaRPr lang="en-US" sz="1400" dirty="0">
              <a:latin typeface="Times New Roman" panose="02020603050405020304" pitchFamily="18" charset="0"/>
              <a:cs typeface="Times New Roman" panose="02020603050405020304" pitchFamily="18" charset="0"/>
            </a:endParaRPr>
          </a:p>
        </p:txBody>
      </p:sp>
      <p:sp>
        <p:nvSpPr>
          <p:cNvPr id="15" name="Text 13"/>
          <p:cNvSpPr/>
          <p:nvPr/>
        </p:nvSpPr>
        <p:spPr>
          <a:xfrm>
            <a:off x="6117220" y="2619842"/>
            <a:ext cx="254000" cy="309880"/>
          </a:xfrm>
          <a:prstGeom prst="rect">
            <a:avLst/>
          </a:prstGeom>
          <a:noFill/>
          <a:ln>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6" name="Text 14"/>
          <p:cNvSpPr/>
          <p:nvPr/>
        </p:nvSpPr>
        <p:spPr>
          <a:xfrm>
            <a:off x="6409320" y="2562695"/>
            <a:ext cx="1871267" cy="398780"/>
          </a:xfrm>
          <a:prstGeom prst="roundRect">
            <a:avLst>
              <a:gd name="adj" fmla="val 15924"/>
            </a:avLst>
          </a:prstGeom>
          <a:solidFill>
            <a:srgbClr val="2F6F6D"/>
          </a:solidFill>
          <a:ln>
            <a:solidFill>
              <a:schemeClr val="accent2"/>
            </a:solidFill>
          </a:ln>
          <a:effectLst>
            <a:reflection blurRad="6350" stA="52000" endA="300" endPos="35000" dir="5400000" sy="-100000" algn="bl" rotWithShape="0"/>
          </a:effectLst>
        </p:spPr>
        <p:txBody>
          <a:bodyPr wrap="none" lIns="0" tIns="0" rIns="0" bIns="0" rtlCol="0" anchor="ctr">
            <a:normAutofit/>
          </a:bodyPr>
          <a:lstStyle/>
          <a:p>
            <a:pPr algn="just">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7. System produces route</a:t>
            </a:r>
            <a:endParaRPr lang="en-US" sz="1400" dirty="0">
              <a:latin typeface="Times New Roman" panose="02020603050405020304" pitchFamily="18" charset="0"/>
              <a:cs typeface="Times New Roman" panose="02020603050405020304" pitchFamily="18" charset="0"/>
            </a:endParaRPr>
          </a:p>
        </p:txBody>
      </p:sp>
      <p:graphicFrame>
        <p:nvGraphicFramePr>
          <p:cNvPr id="17" name="Table 0"/>
          <p:cNvGraphicFramePr>
            <a:graphicFrameLocks noGrp="1"/>
          </p:cNvGraphicFramePr>
          <p:nvPr>
            <p:extLst>
              <p:ext uri="{D42A27DB-BD31-4B8C-83A1-F6EECF244321}">
                <p14:modId xmlns:p14="http://schemas.microsoft.com/office/powerpoint/2010/main" val="1845609697"/>
              </p:ext>
            </p:extLst>
          </p:nvPr>
        </p:nvGraphicFramePr>
        <p:xfrm>
          <a:off x="1193351" y="3174825"/>
          <a:ext cx="5120640" cy="2263565"/>
        </p:xfrm>
        <a:graphic>
          <a:graphicData uri="http://schemas.openxmlformats.org/drawingml/2006/table">
            <a:tbl>
              <a:tblPr>
                <a:tableStyleId>{69CF1AB2-1976-4502-BF36-3FF5EA218861}</a:tableStyleId>
              </a:tblPr>
              <a:tblGrid>
                <a:gridCol w="25603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452713">
                <a:tc>
                  <a:txBody>
                    <a:bodyPr/>
                    <a:lstStyle/>
                    <a:p>
                      <a:pPr marL="0" indent="0">
                        <a:lnSpc>
                          <a:spcPts val="2240"/>
                        </a:lnSpc>
                        <a:buNone/>
                      </a:pPr>
                      <a:r>
                        <a:rPr lang="en-US" sz="1600" dirty="0"/>
                        <a:t>Doctor</a:t>
                      </a:r>
                      <a:endParaRPr lang="en-US" sz="1600" dirty="0">
                        <a:solidFill>
                          <a:schemeClr val="tx1"/>
                        </a:solidFill>
                        <a:latin typeface="Times New Roman" panose="02020603050405020304" pitchFamily="18" charset="0"/>
                        <a:ea typeface="Arial" charset="0"/>
                        <a:cs typeface="Times New Roman" panose="02020603050405020304" pitchFamily="18" charset="0"/>
                      </a:endParaRPr>
                    </a:p>
                  </a:txBody>
                  <a:tcPr marL="114300" marR="114300" marT="63500" marB="63500">
                    <a:solidFill>
                      <a:schemeClr val="accent2">
                        <a:lumMod val="75000"/>
                      </a:schemeClr>
                    </a:solidFill>
                  </a:tcPr>
                </a:tc>
                <a:tc>
                  <a:txBody>
                    <a:bodyPr/>
                    <a:lstStyle/>
                    <a:p>
                      <a:pPr marL="0" indent="0">
                        <a:lnSpc>
                          <a:spcPts val="2240"/>
                        </a:lnSpc>
                        <a:buNone/>
                      </a:pPr>
                      <a:r>
                        <a:rPr lang="en-US" sz="1600" dirty="0"/>
                        <a:t>Priority</a:t>
                      </a:r>
                      <a:endParaRPr lang="en-US" sz="1600" dirty="0">
                        <a:solidFill>
                          <a:schemeClr val="tx1"/>
                        </a:solidFill>
                        <a:latin typeface="Times New Roman" panose="02020603050405020304" pitchFamily="18" charset="0"/>
                        <a:ea typeface="Arial" charset="0"/>
                        <a:cs typeface="Times New Roman" panose="02020603050405020304" pitchFamily="18" charset="0"/>
                      </a:endParaRPr>
                    </a:p>
                  </a:txBody>
                  <a:tcPr marL="114300" marR="114300" marT="63500" marB="63500">
                    <a:solidFill>
                      <a:schemeClr val="accent2">
                        <a:lumMod val="75000"/>
                      </a:schemeClr>
                    </a:solidFill>
                  </a:tcPr>
                </a:tc>
                <a:extLst>
                  <a:ext uri="{0D108BD9-81ED-4DB2-BD59-A6C34878D82A}">
                    <a16:rowId xmlns:a16="http://schemas.microsoft.com/office/drawing/2014/main" val="10000"/>
                  </a:ext>
                </a:extLst>
              </a:tr>
              <a:tr h="452713">
                <a:tc>
                  <a:txBody>
                    <a:bodyPr/>
                    <a:lstStyle/>
                    <a:p>
                      <a:pPr marL="0" indent="0">
                        <a:lnSpc>
                          <a:spcPts val="2240"/>
                        </a:lnSpc>
                        <a:buNone/>
                      </a:pPr>
                      <a:r>
                        <a:rPr lang="en-US" sz="1600" dirty="0"/>
                        <a:t>Doctor A</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240"/>
                        </a:lnSpc>
                        <a:buNone/>
                      </a:pPr>
                      <a:r>
                        <a:rPr lang="en-US" sz="1600" dirty="0"/>
                        <a:t>High</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1"/>
                  </a:ext>
                </a:extLst>
              </a:tr>
              <a:tr h="452713">
                <a:tc>
                  <a:txBody>
                    <a:bodyPr/>
                    <a:lstStyle/>
                    <a:p>
                      <a:pPr marL="0" indent="0">
                        <a:lnSpc>
                          <a:spcPts val="2240"/>
                        </a:lnSpc>
                        <a:buNone/>
                      </a:pPr>
                      <a:r>
                        <a:rPr lang="en-US" sz="1600" dirty="0"/>
                        <a:t>Doctor B</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240"/>
                        </a:lnSpc>
                        <a:buNone/>
                      </a:pPr>
                      <a:r>
                        <a:rPr lang="en-US" sz="1600" dirty="0"/>
                        <a:t>High</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2"/>
                  </a:ext>
                </a:extLst>
              </a:tr>
              <a:tr h="452713">
                <a:tc>
                  <a:txBody>
                    <a:bodyPr/>
                    <a:lstStyle/>
                    <a:p>
                      <a:pPr marL="0" indent="0">
                        <a:lnSpc>
                          <a:spcPts val="2240"/>
                        </a:lnSpc>
                        <a:buNone/>
                      </a:pPr>
                      <a:r>
                        <a:rPr lang="en-US" sz="1600" dirty="0"/>
                        <a:t>Doctor C</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240"/>
                        </a:lnSpc>
                        <a:buNone/>
                      </a:pPr>
                      <a:r>
                        <a:rPr lang="en-US" sz="1600" dirty="0"/>
                        <a:t>Medium</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3"/>
                  </a:ext>
                </a:extLst>
              </a:tr>
              <a:tr h="452713">
                <a:tc>
                  <a:txBody>
                    <a:bodyPr/>
                    <a:lstStyle/>
                    <a:p>
                      <a:pPr marL="0" indent="0">
                        <a:lnSpc>
                          <a:spcPts val="2240"/>
                        </a:lnSpc>
                        <a:buNone/>
                      </a:pPr>
                      <a:r>
                        <a:rPr lang="en-US" sz="1600" dirty="0"/>
                        <a:t>Doctor D</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2240"/>
                        </a:lnSpc>
                        <a:buNone/>
                      </a:pPr>
                      <a:r>
                        <a:rPr lang="en-US" sz="1600" dirty="0"/>
                        <a:t>Low</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4"/>
                  </a:ext>
                </a:extLst>
              </a:tr>
            </a:tbl>
          </a:graphicData>
        </a:graphic>
      </p:graphicFrame>
      <p:sp>
        <p:nvSpPr>
          <p:cNvPr id="18" name="Text 15"/>
          <p:cNvSpPr/>
          <p:nvPr/>
        </p:nvSpPr>
        <p:spPr>
          <a:xfrm>
            <a:off x="6618791" y="3164668"/>
            <a:ext cx="5130800" cy="382271"/>
          </a:xfrm>
          <a:prstGeom prst="roundRect">
            <a:avLst>
              <a:gd name="adj" fmla="val 16611"/>
            </a:avLst>
          </a:prstGeom>
          <a:solidFill>
            <a:srgbClr val="1F2A44"/>
          </a:solidFill>
          <a:ln>
            <a:solidFill>
              <a:schemeClr val="accent2"/>
            </a:solidFill>
          </a:ln>
          <a:effectLst>
            <a:reflection blurRad="6350" stA="52000" endA="300" endPos="35000" dir="5400000" sy="-100000" algn="bl" rotWithShape="0"/>
          </a:effectLst>
        </p:spPr>
        <p:txBody>
          <a:bodyPr wrap="square" lIns="48331" tIns="70301" rIns="48331" bIns="44901" rtlCol="0" anchor="ctr">
            <a:normAutofit fontScale="92500"/>
          </a:bodyPr>
          <a:lstStyle/>
          <a:p>
            <a:pPr algn="just">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Priority + Location + Time windows + Visit duration + MR working hours</a:t>
            </a:r>
            <a:endParaRPr lang="en-US" sz="1400" dirty="0">
              <a:latin typeface="Times New Roman" panose="02020603050405020304" pitchFamily="18" charset="0"/>
              <a:cs typeface="Times New Roman" panose="02020603050405020304" pitchFamily="18" charset="0"/>
            </a:endParaRPr>
          </a:p>
        </p:txBody>
      </p:sp>
      <p:sp>
        <p:nvSpPr>
          <p:cNvPr id="19" name="Text 16"/>
          <p:cNvSpPr/>
          <p:nvPr/>
        </p:nvSpPr>
        <p:spPr>
          <a:xfrm>
            <a:off x="9184191" y="3568984"/>
            <a:ext cx="310380" cy="362295"/>
          </a:xfrm>
          <a:prstGeom prst="rect">
            <a:avLst/>
          </a:prstGeom>
          <a:noFill/>
          <a:ln>
            <a:noFill/>
          </a:ln>
          <a:effectLst>
            <a:reflection blurRad="6350" stA="52000" endA="300" endPos="35000" dir="5400000" sy="-100000" algn="bl" rotWithShape="0"/>
          </a:effectLst>
        </p:spPr>
        <p:txBody>
          <a:bodyPr wrap="square" lIns="0" tIns="0" rIns="0" bIns="0" rtlCol="0" anchor="ctr">
            <a:normAutofit/>
          </a:bodyPr>
          <a:lstStyle/>
          <a:p>
            <a:pPr algn="just">
              <a:lnSpc>
                <a:spcPts val="2025"/>
              </a:lnSpc>
            </a:pPr>
            <a:r>
              <a:rPr lang="en-US"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0" name="Text 17"/>
          <p:cNvSpPr/>
          <p:nvPr/>
        </p:nvSpPr>
        <p:spPr>
          <a:xfrm>
            <a:off x="6618791" y="3931120"/>
            <a:ext cx="5130800" cy="586740"/>
          </a:xfrm>
          <a:prstGeom prst="roundRect">
            <a:avLst>
              <a:gd name="adj" fmla="val 10823"/>
            </a:avLst>
          </a:prstGeom>
          <a:solidFill>
            <a:srgbClr val="1F2A44"/>
          </a:solidFill>
          <a:ln>
            <a:solidFill>
              <a:schemeClr val="accent2"/>
            </a:solidFill>
          </a:ln>
          <a:effectLst>
            <a:reflection blurRad="6350" stA="52000" endA="300" endPos="35000" dir="5400000" sy="-100000" algn="bl" rotWithShape="0"/>
          </a:effectLst>
        </p:spPr>
        <p:txBody>
          <a:bodyPr wrap="square" lIns="48331" tIns="70301" rIns="48331" bIns="44901" rtlCol="0" anchor="ctr">
            <a:normAutofit/>
          </a:bodyPr>
          <a:lstStyle/>
          <a:p>
            <a:pPr algn="just">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1 → Doctor A, 2 → Doctor B, 3 → Doctor C, 4 → Doctor D (with appointment times)</a:t>
            </a:r>
            <a:endParaRPr lang="en-US" sz="1400" dirty="0">
              <a:latin typeface="Times New Roman" panose="02020603050405020304" pitchFamily="18" charset="0"/>
              <a:cs typeface="Times New Roman" panose="02020603050405020304" pitchFamily="18" charset="0"/>
            </a:endParaRPr>
          </a:p>
        </p:txBody>
      </p:sp>
      <p:sp>
        <p:nvSpPr>
          <p:cNvPr id="21" name="Text 18"/>
          <p:cNvSpPr/>
          <p:nvPr/>
        </p:nvSpPr>
        <p:spPr>
          <a:xfrm>
            <a:off x="11209660" y="6805405"/>
            <a:ext cx="220345" cy="238760"/>
          </a:xfrm>
          <a:prstGeom prst="rect">
            <a:avLst/>
          </a:prstGeom>
          <a:noFill/>
          <a:ln/>
        </p:spPr>
        <p:txBody>
          <a:bodyPr wrap="square" lIns="0" tIns="0" rIns="0" bIns="0" rtlCol="0" anchor="t">
            <a:normAutofit/>
          </a:bodyPr>
          <a:lstStyle/>
          <a:p>
            <a:pPr algn="just">
              <a:lnSpc>
                <a:spcPts val="1680"/>
              </a:lnSpc>
            </a:pPr>
            <a:r>
              <a:rPr lang="en-US" sz="1400" dirty="0">
                <a:solidFill>
                  <a:srgbClr val="5B6475"/>
                </a:solidFill>
                <a:latin typeface="Times New Roman" panose="02020603050405020304" pitchFamily="18" charset="0"/>
                <a:ea typeface="Arial" pitchFamily="34" charset="-122"/>
                <a:cs typeface="Times New Roman" panose="02020603050405020304" pitchFamily="18" charset="0"/>
              </a:rPr>
              <a:t>20</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850900" y="1179013"/>
            <a:ext cx="0" cy="445279"/>
          </a:xfrm>
          <a:prstGeom prst="line">
            <a:avLst/>
          </a:prstGeom>
          <a:noFill/>
          <a:ln w="76200">
            <a:solidFill>
              <a:schemeClr val="accent1"/>
            </a:solidFill>
            <a:prstDash val="solid"/>
          </a:ln>
        </p:spPr>
      </p:sp>
      <p:sp>
        <p:nvSpPr>
          <p:cNvPr id="3" name="Text 1"/>
          <p:cNvSpPr>
            <a:spLocks noGrp="1"/>
          </p:cNvSpPr>
          <p:nvPr>
            <p:ph type="title"/>
          </p:nvPr>
        </p:nvSpPr>
        <p:spPr>
          <a:xfrm>
            <a:off x="1041403" y="1179013"/>
            <a:ext cx="10647935" cy="471092"/>
          </a:xfrm>
          <a:prstGeom prst="rect">
            <a:avLst/>
          </a:prstGeom>
          <a:noFill/>
          <a:ln/>
        </p:spPr>
        <p:txBody>
          <a:bodyPr vert="horz" wrap="square" lIns="0" tIns="0" rIns="0" bIns="0" rtlCol="0" anchor="ctr">
            <a:normAutofit/>
          </a:bodyPr>
          <a:lstStyle/>
          <a:p>
            <a:pPr algn="just">
              <a:lnSpc>
                <a:spcPts val="3451"/>
              </a:lnSpc>
            </a:pPr>
            <a:r>
              <a:rPr lang="en-US" sz="3200" b="1" dirty="0">
                <a:latin typeface="Times New Roman" panose="02020603050405020304" pitchFamily="18" charset="0"/>
                <a:cs typeface="Times New Roman" panose="02020603050405020304" pitchFamily="18" charset="0"/>
              </a:rPr>
              <a:t>Working Module: Manager</a:t>
            </a:r>
            <a:endParaRPr lang="en-US" sz="3200" dirty="0">
              <a:latin typeface="Times New Roman" panose="02020603050405020304" pitchFamily="18" charset="0"/>
              <a:cs typeface="Times New Roman" panose="02020603050405020304" pitchFamily="18" charset="0"/>
            </a:endParaRPr>
          </a:p>
        </p:txBody>
      </p:sp>
      <p:graphicFrame>
        <p:nvGraphicFramePr>
          <p:cNvPr id="4" name="Table 0"/>
          <p:cNvGraphicFramePr>
            <a:graphicFrameLocks noGrp="1"/>
          </p:cNvGraphicFramePr>
          <p:nvPr>
            <p:extLst>
              <p:ext uri="{D42A27DB-BD31-4B8C-83A1-F6EECF244321}">
                <p14:modId xmlns:p14="http://schemas.microsoft.com/office/powerpoint/2010/main" val="3314350696"/>
              </p:ext>
            </p:extLst>
          </p:nvPr>
        </p:nvGraphicFramePr>
        <p:xfrm>
          <a:off x="1130935" y="2189336"/>
          <a:ext cx="5120640" cy="3599140"/>
        </p:xfrm>
        <a:graphic>
          <a:graphicData uri="http://schemas.openxmlformats.org/drawingml/2006/table">
            <a:tbl>
              <a:tblPr>
                <a:tableStyleId>{69CF1AB2-1976-4502-BF36-3FF5EA218861}</a:tableStyleId>
              </a:tblPr>
              <a:tblGrid>
                <a:gridCol w="25603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838672">
                <a:tc>
                  <a:txBody>
                    <a:bodyPr/>
                    <a:lstStyle/>
                    <a:p>
                      <a:pPr marL="0" indent="0">
                        <a:lnSpc>
                          <a:spcPts val="2240"/>
                        </a:lnSpc>
                        <a:buNone/>
                      </a:pPr>
                      <a:r>
                        <a:rPr lang="en-US" sz="1600" dirty="0"/>
                        <a:t>MANAGER DASHBOARD</a:t>
                      </a:r>
                      <a:endParaRPr lang="en-US" sz="1600" dirty="0">
                        <a:latin typeface="Arial" charset="0"/>
                        <a:ea typeface="Arial" charset="0"/>
                        <a:cs typeface="Arial" charset="0"/>
                      </a:endParaRPr>
                    </a:p>
                  </a:txBody>
                  <a:tcPr marL="114300" marR="114300" marT="63500" marB="63500">
                    <a:solidFill>
                      <a:schemeClr val="accent2">
                        <a:lumMod val="75000"/>
                      </a:schemeClr>
                    </a:solidFill>
                  </a:tcPr>
                </a:tc>
                <a:tc>
                  <a:txBody>
                    <a:bodyPr/>
                    <a:lstStyle/>
                    <a:p>
                      <a:pPr marL="0" indent="0">
                        <a:lnSpc>
                          <a:spcPts val="2240"/>
                        </a:lnSpc>
                        <a:buNone/>
                      </a:pPr>
                      <a:endParaRPr lang="en-US" sz="1600" dirty="0">
                        <a:latin typeface="Arial" charset="0"/>
                        <a:ea typeface="Arial" charset="0"/>
                        <a:cs typeface="Arial" charset="0"/>
                      </a:endParaRPr>
                    </a:p>
                  </a:txBody>
                  <a:tcPr marL="114300" marR="114300" marT="63500" marB="63500">
                    <a:solidFill>
                      <a:schemeClr val="accent2">
                        <a:lumMod val="75000"/>
                      </a:schemeClr>
                    </a:solidFill>
                  </a:tcPr>
                </a:tc>
                <a:extLst>
                  <a:ext uri="{0D108BD9-81ED-4DB2-BD59-A6C34878D82A}">
                    <a16:rowId xmlns:a16="http://schemas.microsoft.com/office/drawing/2014/main" val="10000"/>
                  </a:ext>
                </a:extLst>
              </a:tr>
              <a:tr h="460078">
                <a:tc>
                  <a:txBody>
                    <a:bodyPr/>
                    <a:lstStyle/>
                    <a:p>
                      <a:pPr marL="0" indent="0">
                        <a:lnSpc>
                          <a:spcPts val="2240"/>
                        </a:lnSpc>
                        <a:buNone/>
                      </a:pPr>
                      <a:r>
                        <a:rPr lang="en-US" sz="1600" dirty="0"/>
                        <a:t>Total MRs</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12</a:t>
                      </a:r>
                      <a:endParaRPr lang="en-US" sz="1600" dirty="0">
                        <a:latin typeface="Arial" charset="0"/>
                        <a:ea typeface="Arial" charset="0"/>
                        <a:cs typeface="Arial" charset="0"/>
                      </a:endParaRPr>
                    </a:p>
                  </a:txBody>
                  <a:tcPr marL="114300" marR="114300" marT="63500" marB="63500"/>
                </a:tc>
                <a:extLst>
                  <a:ext uri="{0D108BD9-81ED-4DB2-BD59-A6C34878D82A}">
                    <a16:rowId xmlns:a16="http://schemas.microsoft.com/office/drawing/2014/main" val="10001"/>
                  </a:ext>
                </a:extLst>
              </a:tr>
              <a:tr h="460078">
                <a:tc>
                  <a:txBody>
                    <a:bodyPr/>
                    <a:lstStyle/>
                    <a:p>
                      <a:pPr marL="0" indent="0">
                        <a:lnSpc>
                          <a:spcPts val="2240"/>
                        </a:lnSpc>
                        <a:buNone/>
                      </a:pPr>
                      <a:r>
                        <a:rPr lang="en-US" sz="1600" dirty="0"/>
                        <a:t>Today's Planned</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82</a:t>
                      </a:r>
                      <a:endParaRPr lang="en-US" sz="1600" dirty="0">
                        <a:latin typeface="Arial" charset="0"/>
                        <a:ea typeface="Arial" charset="0"/>
                        <a:cs typeface="Arial" charset="0"/>
                      </a:endParaRPr>
                    </a:p>
                  </a:txBody>
                  <a:tcPr marL="114300" marR="114300" marT="63500" marB="63500"/>
                </a:tc>
                <a:extLst>
                  <a:ext uri="{0D108BD9-81ED-4DB2-BD59-A6C34878D82A}">
                    <a16:rowId xmlns:a16="http://schemas.microsoft.com/office/drawing/2014/main" val="10002"/>
                  </a:ext>
                </a:extLst>
              </a:tr>
              <a:tr h="460078">
                <a:tc>
                  <a:txBody>
                    <a:bodyPr/>
                    <a:lstStyle/>
                    <a:p>
                      <a:pPr marL="0" indent="0">
                        <a:lnSpc>
                          <a:spcPts val="2240"/>
                        </a:lnSpc>
                        <a:buNone/>
                      </a:pPr>
                      <a:r>
                        <a:rPr lang="en-US" sz="1600" dirty="0"/>
                        <a:t>Completed</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61</a:t>
                      </a:r>
                      <a:endParaRPr lang="en-US" sz="1600" dirty="0">
                        <a:latin typeface="Arial" charset="0"/>
                        <a:ea typeface="Arial" charset="0"/>
                        <a:cs typeface="Arial" charset="0"/>
                      </a:endParaRPr>
                    </a:p>
                  </a:txBody>
                  <a:tcPr marL="114300" marR="114300" marT="63500" marB="63500"/>
                </a:tc>
                <a:extLst>
                  <a:ext uri="{0D108BD9-81ED-4DB2-BD59-A6C34878D82A}">
                    <a16:rowId xmlns:a16="http://schemas.microsoft.com/office/drawing/2014/main" val="10003"/>
                  </a:ext>
                </a:extLst>
              </a:tr>
              <a:tr h="460078">
                <a:tc>
                  <a:txBody>
                    <a:bodyPr/>
                    <a:lstStyle/>
                    <a:p>
                      <a:pPr marL="0" indent="0">
                        <a:lnSpc>
                          <a:spcPts val="2240"/>
                        </a:lnSpc>
                        <a:buNone/>
                      </a:pPr>
                      <a:r>
                        <a:rPr lang="en-US" sz="1600" dirty="0"/>
                        <a:t>Pending</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21</a:t>
                      </a:r>
                      <a:endParaRPr lang="en-US" sz="1600" dirty="0">
                        <a:latin typeface="Arial" charset="0"/>
                        <a:ea typeface="Arial" charset="0"/>
                        <a:cs typeface="Arial" charset="0"/>
                      </a:endParaRPr>
                    </a:p>
                  </a:txBody>
                  <a:tcPr marL="114300" marR="114300" marT="63500" marB="63500"/>
                </a:tc>
                <a:extLst>
                  <a:ext uri="{0D108BD9-81ED-4DB2-BD59-A6C34878D82A}">
                    <a16:rowId xmlns:a16="http://schemas.microsoft.com/office/drawing/2014/main" val="10004"/>
                  </a:ext>
                </a:extLst>
              </a:tr>
              <a:tr h="460078">
                <a:tc>
                  <a:txBody>
                    <a:bodyPr/>
                    <a:lstStyle/>
                    <a:p>
                      <a:pPr marL="0" indent="0">
                        <a:lnSpc>
                          <a:spcPts val="2240"/>
                        </a:lnSpc>
                        <a:buNone/>
                      </a:pPr>
                      <a:r>
                        <a:rPr lang="en-US" sz="1600" dirty="0"/>
                        <a:t>High Priority</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19</a:t>
                      </a:r>
                      <a:endParaRPr lang="en-US" sz="1600" dirty="0">
                        <a:latin typeface="Arial" charset="0"/>
                        <a:ea typeface="Arial" charset="0"/>
                        <a:cs typeface="Arial" charset="0"/>
                      </a:endParaRPr>
                    </a:p>
                  </a:txBody>
                  <a:tcPr marL="114300" marR="114300" marT="63500" marB="63500"/>
                </a:tc>
                <a:extLst>
                  <a:ext uri="{0D108BD9-81ED-4DB2-BD59-A6C34878D82A}">
                    <a16:rowId xmlns:a16="http://schemas.microsoft.com/office/drawing/2014/main" val="10005"/>
                  </a:ext>
                </a:extLst>
              </a:tr>
              <a:tr h="460078">
                <a:tc>
                  <a:txBody>
                    <a:bodyPr/>
                    <a:lstStyle/>
                    <a:p>
                      <a:pPr marL="0" indent="0">
                        <a:lnSpc>
                          <a:spcPts val="2240"/>
                        </a:lnSpc>
                        <a:buNone/>
                      </a:pPr>
                      <a:r>
                        <a:rPr lang="en-US" sz="1600" dirty="0"/>
                        <a:t>Completion Rate</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XX%</a:t>
                      </a:r>
                      <a:endParaRPr lang="en-US" sz="1600" dirty="0">
                        <a:latin typeface="Arial" charset="0"/>
                        <a:ea typeface="Arial" charset="0"/>
                        <a:cs typeface="Arial" charset="0"/>
                      </a:endParaRPr>
                    </a:p>
                  </a:txBody>
                  <a:tcPr marL="114300" marR="114300" marT="63500" marB="63500"/>
                </a:tc>
                <a:extLst>
                  <a:ext uri="{0D108BD9-81ED-4DB2-BD59-A6C34878D82A}">
                    <a16:rowId xmlns:a16="http://schemas.microsoft.com/office/drawing/2014/main" val="10006"/>
                  </a:ext>
                </a:extLst>
              </a:tr>
            </a:tbl>
          </a:graphicData>
        </a:graphic>
      </p:graphicFrame>
      <p:sp>
        <p:nvSpPr>
          <p:cNvPr id="5" name="Shape 2"/>
          <p:cNvSpPr/>
          <p:nvPr/>
        </p:nvSpPr>
        <p:spPr>
          <a:xfrm>
            <a:off x="6251575" y="1823535"/>
            <a:ext cx="5124451" cy="3292475"/>
          </a:xfrm>
          <a:prstGeom prst="roundRect">
            <a:avLst>
              <a:gd name="adj" fmla="val 1862"/>
            </a:avLst>
          </a:prstGeom>
          <a:solidFill>
            <a:srgbClr val="FFFFFF"/>
          </a:solidFill>
          <a:ln w="6350">
            <a:noFill/>
            <a:prstDash val="solid"/>
          </a:ln>
        </p:spPr>
      </p:sp>
      <p:sp>
        <p:nvSpPr>
          <p:cNvPr id="6" name="Text 3"/>
          <p:cNvSpPr/>
          <p:nvPr/>
        </p:nvSpPr>
        <p:spPr>
          <a:xfrm>
            <a:off x="6405883" y="2417687"/>
            <a:ext cx="4960315" cy="265876"/>
          </a:xfrm>
          <a:prstGeom prst="rect">
            <a:avLst/>
          </a:prstGeom>
          <a:noFill/>
          <a:ln/>
        </p:spPr>
        <p:txBody>
          <a:bodyPr wrap="square" lIns="0" tIns="0" rIns="0" bIns="0" rtlCol="0" anchor="ctr">
            <a:normAutofit/>
          </a:bodyPr>
          <a:lstStyle/>
          <a:p>
            <a:pPr algn="just">
              <a:lnSpc>
                <a:spcPts val="186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Manager can see</a:t>
            </a:r>
            <a:endParaRPr lang="en-US" dirty="0">
              <a:latin typeface="Times New Roman" panose="02020603050405020304" pitchFamily="18" charset="0"/>
              <a:cs typeface="Times New Roman" panose="02020603050405020304" pitchFamily="18" charset="0"/>
            </a:endParaRPr>
          </a:p>
        </p:txBody>
      </p:sp>
      <p:sp>
        <p:nvSpPr>
          <p:cNvPr id="7" name="Text 4"/>
          <p:cNvSpPr/>
          <p:nvPr/>
        </p:nvSpPr>
        <p:spPr>
          <a:xfrm>
            <a:off x="6405883" y="2717402"/>
            <a:ext cx="4960315" cy="513683"/>
          </a:xfrm>
          <a:prstGeom prst="rect">
            <a:avLst/>
          </a:prstGeom>
          <a:noFill/>
          <a:ln/>
        </p:spPr>
        <p:txBody>
          <a:bodyPr wrap="square" lIns="0" tIns="0" rIns="0" bIns="0" rtlCol="0" anchor="ctr">
            <a:normAutofit/>
          </a:bodyPr>
          <a:lstStyle/>
          <a:p>
            <a:pPr algn="just">
              <a:lnSpc>
                <a:spcPts val="1891"/>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MR-wise activity · Doctor visit status · High-priority visits · Completed/pending visits · Route information · Reports</a:t>
            </a:r>
            <a:endParaRPr lang="en-US" sz="1600" dirty="0">
              <a:latin typeface="Times New Roman" panose="02020603050405020304" pitchFamily="18" charset="0"/>
              <a:cs typeface="Times New Roman" panose="02020603050405020304" pitchFamily="18" charset="0"/>
            </a:endParaRPr>
          </a:p>
        </p:txBody>
      </p:sp>
      <p:sp>
        <p:nvSpPr>
          <p:cNvPr id="8" name="Text 5"/>
          <p:cNvSpPr/>
          <p:nvPr/>
        </p:nvSpPr>
        <p:spPr>
          <a:xfrm>
            <a:off x="11209660" y="6782253"/>
            <a:ext cx="220345" cy="242644"/>
          </a:xfrm>
          <a:prstGeom prst="rect">
            <a:avLst/>
          </a:prstGeom>
          <a:noFill/>
          <a:ln/>
        </p:spPr>
        <p:txBody>
          <a:bodyPr wrap="square" lIns="0" tIns="0" rIns="0" bIns="0" rtlCol="0" anchor="ctr">
            <a:normAutofit/>
          </a:bodyPr>
          <a:lstStyle/>
          <a:p>
            <a:pPr algn="just">
              <a:lnSpc>
                <a:spcPts val="1680"/>
              </a:lnSpc>
            </a:pPr>
            <a:r>
              <a:rPr lang="en-US" sz="1200" dirty="0">
                <a:solidFill>
                  <a:srgbClr val="5B6475"/>
                </a:solidFill>
                <a:latin typeface="Times New Roman" panose="02020603050405020304" pitchFamily="18" charset="0"/>
                <a:ea typeface="Arial" pitchFamily="34" charset="-122"/>
                <a:cs typeface="Times New Roman" panose="02020603050405020304" pitchFamily="18" charset="0"/>
              </a:rPr>
              <a:t>21</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850900" y="1225313"/>
            <a:ext cx="0" cy="438151"/>
          </a:xfrm>
          <a:prstGeom prst="line">
            <a:avLst/>
          </a:prstGeom>
          <a:noFill/>
          <a:ln w="76200">
            <a:solidFill>
              <a:schemeClr val="accent1"/>
            </a:solidFill>
            <a:prstDash val="solid"/>
          </a:ln>
          <a:effectLst>
            <a:reflection blurRad="6350" stA="52000" endA="300" endPos="35000" dir="5400000" sy="-100000" algn="bl" rotWithShape="0"/>
          </a:effectLst>
        </p:spPr>
      </p:sp>
      <p:sp>
        <p:nvSpPr>
          <p:cNvPr id="3" name="Text 1"/>
          <p:cNvSpPr>
            <a:spLocks noGrp="1"/>
          </p:cNvSpPr>
          <p:nvPr>
            <p:ph type="title"/>
          </p:nvPr>
        </p:nvSpPr>
        <p:spPr>
          <a:xfrm>
            <a:off x="1041403" y="1225313"/>
            <a:ext cx="10647935" cy="463551"/>
          </a:xfrm>
          <a:prstGeom prst="rect">
            <a:avLst/>
          </a:prstGeom>
          <a:noFill/>
          <a:ln/>
          <a:effectLst>
            <a:reflection blurRad="6350" stA="52000" endA="300" endPos="35000" dir="5400000" sy="-100000" algn="bl" rotWithShape="0"/>
          </a:effectLst>
        </p:spPr>
        <p:txBody>
          <a:bodyPr vert="horz" wrap="square" lIns="0" tIns="0" rIns="0" bIns="0" rtlCol="0" anchor="ctr">
            <a:normAutofit/>
          </a:bodyPr>
          <a:lstStyle/>
          <a:p>
            <a:pPr algn="just">
              <a:lnSpc>
                <a:spcPts val="3451"/>
              </a:lnSpc>
            </a:pPr>
            <a:r>
              <a:rPr lang="en-US" sz="3200" b="1" dirty="0">
                <a:latin typeface="Times New Roman" panose="02020603050405020304" pitchFamily="18" charset="0"/>
                <a:cs typeface="Times New Roman" panose="02020603050405020304" pitchFamily="18" charset="0"/>
              </a:rPr>
              <a:t>Complete Working Flow</a:t>
            </a:r>
            <a:endParaRPr lang="en-US" sz="3200" dirty="0">
              <a:latin typeface="Times New Roman" panose="02020603050405020304" pitchFamily="18" charset="0"/>
              <a:cs typeface="Times New Roman" panose="02020603050405020304" pitchFamily="18" charset="0"/>
            </a:endParaRPr>
          </a:p>
        </p:txBody>
      </p:sp>
      <p:sp>
        <p:nvSpPr>
          <p:cNvPr id="4" name="Text 2"/>
          <p:cNvSpPr/>
          <p:nvPr/>
        </p:nvSpPr>
        <p:spPr>
          <a:xfrm>
            <a:off x="1171622" y="2179182"/>
            <a:ext cx="714137" cy="398780"/>
          </a:xfrm>
          <a:prstGeom prst="roundRect">
            <a:avLst>
              <a:gd name="adj" fmla="val 15924"/>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just">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LOGIN</a:t>
            </a:r>
            <a:endParaRPr lang="en-US" sz="1400" dirty="0">
              <a:latin typeface="Times New Roman" panose="02020603050405020304" pitchFamily="18" charset="0"/>
              <a:cs typeface="Times New Roman" panose="02020603050405020304" pitchFamily="18" charset="0"/>
            </a:endParaRPr>
          </a:p>
        </p:txBody>
      </p:sp>
      <p:sp>
        <p:nvSpPr>
          <p:cNvPr id="5" name="Text 3"/>
          <p:cNvSpPr/>
          <p:nvPr/>
        </p:nvSpPr>
        <p:spPr>
          <a:xfrm>
            <a:off x="1974656" y="2259481"/>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2266759" y="2179182"/>
            <a:ext cx="1620044" cy="398780"/>
          </a:xfrm>
          <a:prstGeom prst="roundRect">
            <a:avLst>
              <a:gd name="adj" fmla="val 15924"/>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just">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Select Date / Territory</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3975700" y="2259481"/>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4267806" y="2179182"/>
            <a:ext cx="1148953" cy="398780"/>
          </a:xfrm>
          <a:prstGeom prst="roundRect">
            <a:avLst>
              <a:gd name="adj" fmla="val 15924"/>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just">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Fetch Doctors</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5505654" y="2259481"/>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5797755" y="2179182"/>
            <a:ext cx="1778239" cy="398780"/>
          </a:xfrm>
          <a:prstGeom prst="roundRect">
            <a:avLst>
              <a:gd name="adj" fmla="val 15924"/>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just">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Fetch Appointment Data</a:t>
            </a: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7664891" y="2259481"/>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7956996" y="2179182"/>
            <a:ext cx="1376601" cy="398780"/>
          </a:xfrm>
          <a:prstGeom prst="roundRect">
            <a:avLst>
              <a:gd name="adj" fmla="val 15924"/>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just">
              <a:lnSpc>
                <a:spcPts val="154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DATA CLEANING</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1171619" y="2804316"/>
            <a:ext cx="5130800" cy="604520"/>
          </a:xfrm>
          <a:prstGeom prst="roundRect">
            <a:avLst>
              <a:gd name="adj" fmla="val 10504"/>
            </a:avLst>
          </a:prstGeom>
          <a:solidFill>
            <a:schemeClr val="accent1"/>
          </a:solidFill>
          <a:ln/>
          <a:effectLst>
            <a:reflection blurRad="6350" stA="52000" endA="300" endPos="35000" dir="5400000" sy="-100000" algn="bl" rotWithShape="0"/>
          </a:effectLst>
        </p:spPr>
        <p:txBody>
          <a:bodyPr wrap="square" lIns="48331" tIns="70301" rIns="48331" bIns="70301" rtlCol="0" anchor="ctr">
            <a:normAutofit/>
          </a:bodyPr>
          <a:lstStyle/>
          <a:p>
            <a:pPr algn="just">
              <a:lnSpc>
                <a:spcPts val="1680"/>
              </a:lnSpc>
            </a:pPr>
            <a:r>
              <a:rPr lang="en-US" sz="1600" dirty="0">
                <a:solidFill>
                  <a:srgbClr val="F7F6F2"/>
                </a:solidFill>
                <a:latin typeface="Times New Roman" panose="02020603050405020304" pitchFamily="18" charset="0"/>
                <a:ea typeface="Arial" pitchFamily="34" charset="-122"/>
                <a:cs typeface="Times New Roman" panose="02020603050405020304" pitchFamily="18" charset="0"/>
              </a:rPr>
              <a:t>ML PRIORITY MODEL → Priority Level</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6607219" y="2804316"/>
            <a:ext cx="5130800" cy="604520"/>
          </a:xfrm>
          <a:prstGeom prst="roundRect">
            <a:avLst>
              <a:gd name="adj" fmla="val 10504"/>
            </a:avLst>
          </a:prstGeom>
          <a:solidFill>
            <a:schemeClr val="accent1"/>
          </a:solidFill>
          <a:ln/>
          <a:effectLst>
            <a:reflection blurRad="6350" stA="52000" endA="300" endPos="35000" dir="5400000" sy="-100000" algn="bl" rotWithShape="0"/>
          </a:effectLst>
        </p:spPr>
        <p:txBody>
          <a:bodyPr wrap="square" lIns="48331" tIns="70301" rIns="48331" bIns="44901" rtlCol="0" anchor="ctr">
            <a:normAutofit/>
          </a:bodyPr>
          <a:lstStyle/>
          <a:p>
            <a:pPr algn="just">
              <a:lnSpc>
                <a:spcPts val="1680"/>
              </a:lnSpc>
            </a:pPr>
            <a:r>
              <a:rPr lang="en-US" sz="1600" dirty="0">
                <a:solidFill>
                  <a:srgbClr val="F7F6F2"/>
                </a:solidFill>
                <a:latin typeface="Times New Roman" panose="02020603050405020304" pitchFamily="18" charset="0"/>
                <a:ea typeface="Arial" pitchFamily="34" charset="-122"/>
                <a:cs typeface="Times New Roman" panose="02020603050405020304" pitchFamily="18" charset="0"/>
              </a:rPr>
              <a:t>CONSTRAINTS ENGINE → Availability, Time Window, Visit Duration, Location</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1171619" y="3612032"/>
            <a:ext cx="1072595" cy="416560"/>
          </a:xfrm>
          <a:prstGeom prst="roundRect">
            <a:avLst>
              <a:gd name="adj" fmla="val 15244"/>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just">
              <a:lnSpc>
                <a:spcPts val="1680"/>
              </a:lnSpc>
            </a:pPr>
            <a:r>
              <a:rPr lang="en-US" sz="1600" dirty="0">
                <a:solidFill>
                  <a:srgbClr val="F7F6F2"/>
                </a:solidFill>
                <a:latin typeface="Times New Roman" panose="02020603050405020304" pitchFamily="18" charset="0"/>
                <a:ea typeface="Arial" pitchFamily="34" charset="-122"/>
                <a:cs typeface="Times New Roman" panose="02020603050405020304" pitchFamily="18" charset="0"/>
              </a:rPr>
              <a:t>OR-TOOLS</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2333114" y="3678073"/>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7" name="Text 15"/>
          <p:cNvSpPr/>
          <p:nvPr/>
        </p:nvSpPr>
        <p:spPr>
          <a:xfrm>
            <a:off x="2625215" y="3612032"/>
            <a:ext cx="1981509" cy="416560"/>
          </a:xfrm>
          <a:prstGeom prst="roundRect">
            <a:avLst>
              <a:gd name="adj" fmla="val 15244"/>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just">
              <a:lnSpc>
                <a:spcPts val="1680"/>
              </a:lnSpc>
            </a:pPr>
            <a:r>
              <a:rPr lang="en-US" sz="1600" dirty="0">
                <a:solidFill>
                  <a:srgbClr val="F7F6F2"/>
                </a:solidFill>
                <a:latin typeface="Times New Roman" panose="02020603050405020304" pitchFamily="18" charset="0"/>
                <a:ea typeface="Arial" pitchFamily="34" charset="-122"/>
                <a:cs typeface="Times New Roman" panose="02020603050405020304" pitchFamily="18" charset="0"/>
              </a:rPr>
              <a:t>OPTIMIZED ROUTE</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1171619" y="4231789"/>
            <a:ext cx="5130800" cy="391160"/>
          </a:xfrm>
          <a:prstGeom prst="roundRect">
            <a:avLst>
              <a:gd name="adj" fmla="val 16234"/>
            </a:avLst>
          </a:prstGeom>
          <a:solidFill>
            <a:srgbClr val="2F6F6D"/>
          </a:solidFill>
          <a:ln/>
          <a:effectLst>
            <a:reflection blurRad="6350" stA="52000" endA="300" endPos="35000" dir="5400000" sy="-100000" algn="bl" rotWithShape="0"/>
          </a:effectLst>
        </p:spPr>
        <p:txBody>
          <a:bodyPr wrap="square" lIns="48331" tIns="70301" rIns="48331" bIns="44901" rtlCol="0" anchor="ctr">
            <a:normAutofit/>
          </a:bodyPr>
          <a:lstStyle/>
          <a:p>
            <a:pPr algn="just">
              <a:lnSpc>
                <a:spcPts val="1680"/>
              </a:lnSpc>
            </a:pPr>
            <a:r>
              <a:rPr lang="en-US" sz="1600" dirty="0">
                <a:solidFill>
                  <a:srgbClr val="F7F6F2"/>
                </a:solidFill>
                <a:latin typeface="Times New Roman" panose="02020603050405020304" pitchFamily="18" charset="0"/>
                <a:ea typeface="Arial" pitchFamily="34" charset="-122"/>
                <a:cs typeface="Times New Roman" panose="02020603050405020304" pitchFamily="18" charset="0"/>
              </a:rPr>
              <a:t>MR DASHBOARD → Visit Status</a:t>
            </a:r>
            <a:endParaRPr lang="en-US" sz="1600" dirty="0">
              <a:latin typeface="Times New Roman" panose="02020603050405020304" pitchFamily="18" charset="0"/>
              <a:cs typeface="Times New Roman" panose="02020603050405020304" pitchFamily="18" charset="0"/>
            </a:endParaRPr>
          </a:p>
        </p:txBody>
      </p:sp>
      <p:sp>
        <p:nvSpPr>
          <p:cNvPr id="19" name="Text 17"/>
          <p:cNvSpPr/>
          <p:nvPr/>
        </p:nvSpPr>
        <p:spPr>
          <a:xfrm>
            <a:off x="6607219" y="4231789"/>
            <a:ext cx="5130800" cy="391160"/>
          </a:xfrm>
          <a:prstGeom prst="roundRect">
            <a:avLst>
              <a:gd name="adj" fmla="val 16234"/>
            </a:avLst>
          </a:prstGeom>
          <a:solidFill>
            <a:srgbClr val="2F6F6D"/>
          </a:solidFill>
          <a:ln/>
          <a:effectLst>
            <a:reflection blurRad="6350" stA="52000" endA="300" endPos="35000" dir="5400000" sy="-100000" algn="bl" rotWithShape="0"/>
          </a:effectLst>
        </p:spPr>
        <p:txBody>
          <a:bodyPr wrap="square" lIns="48331" tIns="70301" rIns="48331" bIns="44901" rtlCol="0" anchor="ctr">
            <a:normAutofit/>
          </a:bodyPr>
          <a:lstStyle/>
          <a:p>
            <a:pPr algn="just">
              <a:lnSpc>
                <a:spcPts val="1680"/>
              </a:lnSpc>
            </a:pPr>
            <a:r>
              <a:rPr lang="en-US" sz="1600" dirty="0">
                <a:solidFill>
                  <a:srgbClr val="F7F6F2"/>
                </a:solidFill>
                <a:latin typeface="Times New Roman" panose="02020603050405020304" pitchFamily="18" charset="0"/>
                <a:ea typeface="Arial" pitchFamily="34" charset="-122"/>
                <a:cs typeface="Times New Roman" panose="02020603050405020304" pitchFamily="18" charset="0"/>
              </a:rPr>
              <a:t>MANAGER DASHBOARD → Analytics</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11209660" y="6828553"/>
            <a:ext cx="220345" cy="23876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1680"/>
              </a:lnSpc>
            </a:pPr>
            <a:r>
              <a:rPr lang="en-US" sz="1600" dirty="0">
                <a:solidFill>
                  <a:srgbClr val="5B6475"/>
                </a:solidFill>
                <a:latin typeface="Times New Roman" panose="02020603050405020304" pitchFamily="18" charset="0"/>
                <a:ea typeface="Arial" pitchFamily="34" charset="-122"/>
                <a:cs typeface="Times New Roman" panose="02020603050405020304" pitchFamily="18" charset="0"/>
              </a:rPr>
              <a:t>22</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850900" y="1225309"/>
            <a:ext cx="0" cy="438151"/>
          </a:xfrm>
          <a:prstGeom prst="line">
            <a:avLst/>
          </a:prstGeom>
          <a:noFill/>
          <a:ln w="76200">
            <a:solidFill>
              <a:schemeClr val="accent1"/>
            </a:solidFill>
            <a:prstDash val="solid"/>
          </a:ln>
        </p:spPr>
      </p:sp>
      <p:sp>
        <p:nvSpPr>
          <p:cNvPr id="3" name="Text 1"/>
          <p:cNvSpPr>
            <a:spLocks noGrp="1"/>
          </p:cNvSpPr>
          <p:nvPr>
            <p:ph type="title"/>
          </p:nvPr>
        </p:nvSpPr>
        <p:spPr>
          <a:xfrm>
            <a:off x="1041403" y="1225309"/>
            <a:ext cx="10647935" cy="463551"/>
          </a:xfrm>
          <a:prstGeom prst="rect">
            <a:avLst/>
          </a:prstGeom>
          <a:noFill/>
          <a:ln/>
        </p:spPr>
        <p:txBody>
          <a:bodyPr vert="horz" wrap="square" lIns="0" tIns="0" rIns="0" bIns="0" rtlCol="0" anchor="t">
            <a:normAutofit/>
          </a:bodyPr>
          <a:lstStyle/>
          <a:p>
            <a:pPr algn="just">
              <a:lnSpc>
                <a:spcPts val="3451"/>
              </a:lnSpc>
            </a:pPr>
            <a:r>
              <a:rPr lang="en-US" sz="3200" b="1" dirty="0">
                <a:latin typeface="Times New Roman" panose="02020603050405020304" pitchFamily="18" charset="0"/>
                <a:cs typeface="Times New Roman" panose="02020603050405020304" pitchFamily="18" charset="0"/>
              </a:rPr>
              <a:t>Technology Stack</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1140071" y="2147629"/>
            <a:ext cx="3414157" cy="1191260"/>
          </a:xfrm>
          <a:prstGeom prst="roundRect">
            <a:avLst>
              <a:gd name="adj" fmla="val 5064"/>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5" name="Text 3"/>
          <p:cNvSpPr/>
          <p:nvPr/>
        </p:nvSpPr>
        <p:spPr>
          <a:xfrm>
            <a:off x="1294379" y="2301938"/>
            <a:ext cx="3198713" cy="231140"/>
          </a:xfrm>
          <a:prstGeom prst="rect">
            <a:avLst/>
          </a:prstGeom>
          <a:noFill/>
          <a:ln/>
        </p:spPr>
        <p:txBody>
          <a:bodyPr wrap="square" lIns="0" tIns="0" rIns="0" bIns="0" rtlCol="0" anchor="t">
            <a:normAutofit/>
          </a:bodyPr>
          <a:lstStyle/>
          <a:p>
            <a:pPr algn="ctr">
              <a:lnSpc>
                <a:spcPts val="162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Frontend</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1247791" y="2687387"/>
            <a:ext cx="3198713" cy="434340"/>
          </a:xfrm>
          <a:prstGeom prst="rect">
            <a:avLst/>
          </a:prstGeom>
          <a:noFill/>
          <a:ln/>
        </p:spPr>
        <p:txBody>
          <a:bodyPr wrap="square" lIns="0" tIns="0" rIns="0" bIns="0" rtlCol="0" anchor="t">
            <a:normAutofit/>
          </a:bodyPr>
          <a:lstStyle/>
          <a:p>
            <a:pPr algn="ctr">
              <a:lnSpc>
                <a:spcPts val="1611"/>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React.js - Dashboards, forms, tables, route visualization, user interaction</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4712979" y="2147629"/>
            <a:ext cx="3414157" cy="1191260"/>
          </a:xfrm>
          <a:prstGeom prst="roundRect">
            <a:avLst>
              <a:gd name="adj" fmla="val 5064"/>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8" name="Text 6"/>
          <p:cNvSpPr/>
          <p:nvPr/>
        </p:nvSpPr>
        <p:spPr>
          <a:xfrm>
            <a:off x="4867288" y="2301938"/>
            <a:ext cx="3198713" cy="231140"/>
          </a:xfrm>
          <a:prstGeom prst="rect">
            <a:avLst/>
          </a:prstGeom>
          <a:noFill/>
          <a:ln/>
        </p:spPr>
        <p:txBody>
          <a:bodyPr wrap="square" lIns="0" tIns="0" rIns="0" bIns="0" rtlCol="0" anchor="t">
            <a:normAutofit/>
          </a:bodyPr>
          <a:lstStyle/>
          <a:p>
            <a:pPr algn="ctr">
              <a:lnSpc>
                <a:spcPts val="162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Backend</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4820700" y="2585151"/>
            <a:ext cx="3198713" cy="638811"/>
          </a:xfrm>
          <a:prstGeom prst="rect">
            <a:avLst/>
          </a:prstGeom>
          <a:noFill/>
          <a:ln/>
        </p:spPr>
        <p:txBody>
          <a:bodyPr wrap="square" lIns="0" tIns="0" rIns="0" bIns="0" rtlCol="0" anchor="t">
            <a:normAutofit/>
          </a:bodyPr>
          <a:lstStyle/>
          <a:p>
            <a:pPr algn="ctr">
              <a:lnSpc>
                <a:spcPts val="1611"/>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FastAPI / Python - APIs, authentication, ML inference, route optimization, database communication</a:t>
            </a:r>
            <a:endParaRPr lang="en-US" sz="1600" dirty="0">
              <a:latin typeface="Times New Roman" panose="02020603050405020304" pitchFamily="18" charset="0"/>
              <a:cs typeface="Times New Roman" panose="02020603050405020304" pitchFamily="18" charset="0"/>
            </a:endParaRPr>
          </a:p>
        </p:txBody>
      </p:sp>
      <p:sp>
        <p:nvSpPr>
          <p:cNvPr id="10" name="Shape 8"/>
          <p:cNvSpPr/>
          <p:nvPr/>
        </p:nvSpPr>
        <p:spPr>
          <a:xfrm>
            <a:off x="8285887" y="2147629"/>
            <a:ext cx="3414157" cy="1191260"/>
          </a:xfrm>
          <a:prstGeom prst="roundRect">
            <a:avLst>
              <a:gd name="adj" fmla="val 5064"/>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11" name="Text 9"/>
          <p:cNvSpPr/>
          <p:nvPr/>
        </p:nvSpPr>
        <p:spPr>
          <a:xfrm>
            <a:off x="8440195" y="2301938"/>
            <a:ext cx="3198713" cy="231140"/>
          </a:xfrm>
          <a:prstGeom prst="rect">
            <a:avLst/>
          </a:prstGeom>
          <a:noFill/>
          <a:ln/>
        </p:spPr>
        <p:txBody>
          <a:bodyPr wrap="square" lIns="0" tIns="0" rIns="0" bIns="0" rtlCol="0" anchor="t">
            <a:normAutofit/>
          </a:bodyPr>
          <a:lstStyle/>
          <a:p>
            <a:pPr algn="ctr">
              <a:lnSpc>
                <a:spcPts val="162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Machine Learning</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8393608" y="2687386"/>
            <a:ext cx="3198713" cy="434340"/>
          </a:xfrm>
          <a:prstGeom prst="rect">
            <a:avLst/>
          </a:prstGeom>
          <a:noFill/>
          <a:ln/>
        </p:spPr>
        <p:txBody>
          <a:bodyPr wrap="square" lIns="0" tIns="0" rIns="0" bIns="0" rtlCol="0" anchor="t">
            <a:normAutofit/>
          </a:bodyPr>
          <a:lstStyle/>
          <a:p>
            <a:pPr algn="ctr">
              <a:lnSpc>
                <a:spcPts val="1611"/>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Python + </a:t>
            </a:r>
            <a:r>
              <a:rPr lang="en-US" sz="1600" dirty="0" err="1">
                <a:solidFill>
                  <a:srgbClr val="1F2A44"/>
                </a:solidFill>
                <a:latin typeface="Times New Roman" panose="02020603050405020304" pitchFamily="18" charset="0"/>
                <a:ea typeface="Arial" pitchFamily="34" charset="-122"/>
                <a:cs typeface="Times New Roman" panose="02020603050405020304" pitchFamily="18" charset="0"/>
              </a:rPr>
              <a:t>scikit</a:t>
            </a: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-learn - Random Forest, preprocessing, evaluation</a:t>
            </a:r>
            <a:endParaRPr lang="en-US" sz="1600" dirty="0">
              <a:latin typeface="Times New Roman" panose="02020603050405020304" pitchFamily="18" charset="0"/>
              <a:cs typeface="Times New Roman" panose="02020603050405020304" pitchFamily="18" charset="0"/>
            </a:endParaRPr>
          </a:p>
        </p:txBody>
      </p:sp>
      <p:sp>
        <p:nvSpPr>
          <p:cNvPr id="13" name="Shape 11"/>
          <p:cNvSpPr/>
          <p:nvPr/>
        </p:nvSpPr>
        <p:spPr>
          <a:xfrm>
            <a:off x="1140071" y="3497637"/>
            <a:ext cx="3414157" cy="1132236"/>
          </a:xfrm>
          <a:prstGeom prst="roundRect">
            <a:avLst>
              <a:gd name="adj" fmla="val 6113"/>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14" name="Text 12"/>
          <p:cNvSpPr/>
          <p:nvPr/>
        </p:nvSpPr>
        <p:spPr>
          <a:xfrm>
            <a:off x="1294379" y="3651946"/>
            <a:ext cx="3198713" cy="231140"/>
          </a:xfrm>
          <a:prstGeom prst="rect">
            <a:avLst/>
          </a:prstGeom>
          <a:noFill/>
          <a:ln/>
        </p:spPr>
        <p:txBody>
          <a:bodyPr wrap="square" lIns="0" tIns="0" rIns="0" bIns="0" rtlCol="0" anchor="t">
            <a:normAutofit/>
          </a:bodyPr>
          <a:lstStyle/>
          <a:p>
            <a:pPr algn="ctr">
              <a:lnSpc>
                <a:spcPts val="162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Optimization</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1247792" y="4019014"/>
            <a:ext cx="3198713" cy="434340"/>
          </a:xfrm>
          <a:prstGeom prst="rect">
            <a:avLst/>
          </a:prstGeom>
          <a:noFill/>
          <a:ln/>
        </p:spPr>
        <p:txBody>
          <a:bodyPr wrap="square" lIns="0" tIns="0" rIns="0" bIns="0" rtlCol="0" anchor="t">
            <a:normAutofit/>
          </a:bodyPr>
          <a:lstStyle/>
          <a:p>
            <a:pPr algn="ctr">
              <a:lnSpc>
                <a:spcPts val="1611"/>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Google OR-Tools - VRP, VRPTW, route constraints</a:t>
            </a:r>
            <a:endParaRPr lang="en-US" sz="1600" dirty="0">
              <a:latin typeface="Times New Roman" panose="02020603050405020304" pitchFamily="18" charset="0"/>
              <a:cs typeface="Times New Roman" panose="02020603050405020304" pitchFamily="18" charset="0"/>
            </a:endParaRPr>
          </a:p>
        </p:txBody>
      </p:sp>
      <p:sp>
        <p:nvSpPr>
          <p:cNvPr id="16" name="Shape 14"/>
          <p:cNvSpPr/>
          <p:nvPr/>
        </p:nvSpPr>
        <p:spPr>
          <a:xfrm>
            <a:off x="4712979" y="3497637"/>
            <a:ext cx="3414157" cy="1132236"/>
          </a:xfrm>
          <a:prstGeom prst="roundRect">
            <a:avLst>
              <a:gd name="adj" fmla="val 6113"/>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17" name="Text 15"/>
          <p:cNvSpPr/>
          <p:nvPr/>
        </p:nvSpPr>
        <p:spPr>
          <a:xfrm>
            <a:off x="4867288" y="3651946"/>
            <a:ext cx="3198713" cy="231140"/>
          </a:xfrm>
          <a:prstGeom prst="rect">
            <a:avLst/>
          </a:prstGeom>
          <a:noFill/>
          <a:ln/>
        </p:spPr>
        <p:txBody>
          <a:bodyPr wrap="square" lIns="0" tIns="0" rIns="0" bIns="0" rtlCol="0" anchor="t">
            <a:normAutofit/>
          </a:bodyPr>
          <a:lstStyle/>
          <a:p>
            <a:pPr algn="ctr">
              <a:lnSpc>
                <a:spcPts val="162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Database</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4820700" y="4019014"/>
            <a:ext cx="3198713" cy="229871"/>
          </a:xfrm>
          <a:prstGeom prst="rect">
            <a:avLst/>
          </a:prstGeom>
          <a:noFill/>
          <a:ln/>
        </p:spPr>
        <p:txBody>
          <a:bodyPr wrap="square" lIns="0" tIns="0" rIns="0" bIns="0" rtlCol="0" anchor="t">
            <a:normAutofit/>
          </a:bodyPr>
          <a:lstStyle/>
          <a:p>
            <a:pPr algn="ctr">
              <a:lnSpc>
                <a:spcPts val="1611"/>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MySQL</a:t>
            </a:r>
            <a:endParaRPr lang="en-US" sz="1600" dirty="0">
              <a:latin typeface="Times New Roman" panose="02020603050405020304" pitchFamily="18" charset="0"/>
              <a:cs typeface="Times New Roman" panose="02020603050405020304" pitchFamily="18" charset="0"/>
            </a:endParaRPr>
          </a:p>
        </p:txBody>
      </p:sp>
      <p:sp>
        <p:nvSpPr>
          <p:cNvPr id="19" name="Shape 17"/>
          <p:cNvSpPr/>
          <p:nvPr/>
        </p:nvSpPr>
        <p:spPr>
          <a:xfrm>
            <a:off x="8285887" y="3497637"/>
            <a:ext cx="3414157" cy="1132236"/>
          </a:xfrm>
          <a:prstGeom prst="roundRect">
            <a:avLst>
              <a:gd name="adj" fmla="val 6113"/>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20" name="Text 18"/>
          <p:cNvSpPr/>
          <p:nvPr/>
        </p:nvSpPr>
        <p:spPr>
          <a:xfrm>
            <a:off x="8440195" y="3651946"/>
            <a:ext cx="3198713" cy="231140"/>
          </a:xfrm>
          <a:prstGeom prst="rect">
            <a:avLst/>
          </a:prstGeom>
          <a:noFill/>
          <a:ln/>
        </p:spPr>
        <p:txBody>
          <a:bodyPr wrap="square" lIns="0" tIns="0" rIns="0" bIns="0" rtlCol="0" anchor="t">
            <a:normAutofit/>
          </a:bodyPr>
          <a:lstStyle/>
          <a:p>
            <a:pPr algn="ctr">
              <a:lnSpc>
                <a:spcPts val="162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Maps / travel information</a:t>
            </a:r>
            <a:endParaRPr lang="en-US" dirty="0">
              <a:latin typeface="Times New Roman" panose="02020603050405020304" pitchFamily="18" charset="0"/>
              <a:cs typeface="Times New Roman" panose="02020603050405020304" pitchFamily="18" charset="0"/>
            </a:endParaRPr>
          </a:p>
        </p:txBody>
      </p:sp>
      <p:sp>
        <p:nvSpPr>
          <p:cNvPr id="21" name="Text 19"/>
          <p:cNvSpPr/>
          <p:nvPr/>
        </p:nvSpPr>
        <p:spPr>
          <a:xfrm>
            <a:off x="8393608" y="3933890"/>
            <a:ext cx="3198713" cy="434340"/>
          </a:xfrm>
          <a:prstGeom prst="rect">
            <a:avLst/>
          </a:prstGeom>
          <a:noFill/>
          <a:ln/>
        </p:spPr>
        <p:txBody>
          <a:bodyPr wrap="square" lIns="0" tIns="0" rIns="0" bIns="0" rtlCol="0" anchor="t">
            <a:noAutofit/>
          </a:bodyPr>
          <a:lstStyle/>
          <a:p>
            <a:pPr algn="ctr">
              <a:lnSpc>
                <a:spcPts val="1611"/>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An appropriate mapping/routing service or approved/precomputed travel matrix</a:t>
            </a:r>
            <a:endParaRPr lang="en-US" sz="1600" dirty="0">
              <a:latin typeface="Times New Roman" panose="02020603050405020304" pitchFamily="18" charset="0"/>
              <a:cs typeface="Times New Roman" panose="02020603050405020304" pitchFamily="18" charset="0"/>
            </a:endParaRPr>
          </a:p>
        </p:txBody>
      </p:sp>
      <p:sp>
        <p:nvSpPr>
          <p:cNvPr id="22" name="Text 20"/>
          <p:cNvSpPr/>
          <p:nvPr/>
        </p:nvSpPr>
        <p:spPr>
          <a:xfrm>
            <a:off x="11209660" y="6828549"/>
            <a:ext cx="220345" cy="238760"/>
          </a:xfrm>
          <a:prstGeom prst="rect">
            <a:avLst/>
          </a:prstGeom>
          <a:noFill/>
          <a:ln/>
        </p:spPr>
        <p:txBody>
          <a:bodyPr wrap="square" lIns="0" tIns="0" rIns="0" bIns="0" rtlCol="0" anchor="t">
            <a:noAutofit/>
          </a:bodyPr>
          <a:lstStyle/>
          <a:p>
            <a:pPr algn="just">
              <a:lnSpc>
                <a:spcPts val="1680"/>
              </a:lnSpc>
            </a:pPr>
            <a:r>
              <a:rPr lang="en-US" sz="1600" dirty="0">
                <a:solidFill>
                  <a:srgbClr val="5B6475"/>
                </a:solidFill>
                <a:latin typeface="Times New Roman" panose="02020603050405020304" pitchFamily="18" charset="0"/>
                <a:ea typeface="Arial" pitchFamily="34" charset="-122"/>
                <a:cs typeface="Times New Roman" panose="02020603050405020304" pitchFamily="18" charset="0"/>
              </a:rPr>
              <a:t>23</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850900" y="1283182"/>
            <a:ext cx="0" cy="438151"/>
          </a:xfrm>
          <a:prstGeom prst="line">
            <a:avLst/>
          </a:prstGeom>
          <a:noFill/>
          <a:ln w="76200">
            <a:solidFill>
              <a:schemeClr val="accent1"/>
            </a:solidFill>
            <a:prstDash val="solid"/>
          </a:ln>
        </p:spPr>
      </p:sp>
      <p:sp>
        <p:nvSpPr>
          <p:cNvPr id="3" name="Text 1"/>
          <p:cNvSpPr>
            <a:spLocks noGrp="1"/>
          </p:cNvSpPr>
          <p:nvPr>
            <p:ph type="title"/>
          </p:nvPr>
        </p:nvSpPr>
        <p:spPr>
          <a:xfrm>
            <a:off x="1041403" y="1283182"/>
            <a:ext cx="10647935" cy="463551"/>
          </a:xfrm>
          <a:prstGeom prst="rect">
            <a:avLst/>
          </a:prstGeom>
          <a:noFill/>
          <a:ln/>
        </p:spPr>
        <p:txBody>
          <a:bodyPr vert="horz" wrap="square" lIns="0" tIns="0" rIns="0" bIns="0" rtlCol="0" anchor="t">
            <a:normAutofit/>
          </a:bodyPr>
          <a:lstStyle/>
          <a:p>
            <a:pPr>
              <a:lnSpc>
                <a:spcPts val="3451"/>
              </a:lnSpc>
            </a:pPr>
            <a:r>
              <a:rPr lang="en-US" sz="3200" b="1" dirty="0">
                <a:latin typeface="Times New Roman" panose="02020603050405020304" pitchFamily="18" charset="0"/>
                <a:cs typeface="Times New Roman" panose="02020603050405020304" pitchFamily="18" charset="0"/>
              </a:rPr>
              <a:t>Database Design</a:t>
            </a:r>
            <a:endParaRPr lang="en-US" sz="3200" dirty="0">
              <a:latin typeface="Times New Roman" panose="02020603050405020304" pitchFamily="18" charset="0"/>
              <a:cs typeface="Times New Roman" panose="02020603050405020304" pitchFamily="18" charset="0"/>
            </a:endParaRPr>
          </a:p>
        </p:txBody>
      </p:sp>
      <p:grpSp>
        <p:nvGrpSpPr>
          <p:cNvPr id="28" name="Group 27">
            <a:extLst>
              <a:ext uri="{FF2B5EF4-FFF2-40B4-BE49-F238E27FC236}">
                <a16:creationId xmlns:a16="http://schemas.microsoft.com/office/drawing/2014/main" id="{D36C4D34-D520-24C6-8AE0-B9B5AA0BC1A3}"/>
              </a:ext>
            </a:extLst>
          </p:cNvPr>
          <p:cNvGrpSpPr/>
          <p:nvPr/>
        </p:nvGrpSpPr>
        <p:grpSpPr>
          <a:xfrm>
            <a:off x="938283" y="2877577"/>
            <a:ext cx="10324780" cy="407671"/>
            <a:chOff x="1148473" y="2156026"/>
            <a:chExt cx="10324780" cy="407671"/>
          </a:xfrm>
        </p:grpSpPr>
        <p:sp>
          <p:nvSpPr>
            <p:cNvPr id="4" name="Text 2"/>
            <p:cNvSpPr/>
            <p:nvPr/>
          </p:nvSpPr>
          <p:spPr>
            <a:xfrm>
              <a:off x="1148473" y="2156026"/>
              <a:ext cx="685244" cy="407671"/>
            </a:xfrm>
            <a:prstGeom prst="roundRect">
              <a:avLst>
                <a:gd name="adj" fmla="val 15576"/>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USER</a:t>
              </a:r>
              <a:endParaRPr lang="en-US" sz="1400" dirty="0">
                <a:latin typeface="Times New Roman" panose="02020603050405020304" pitchFamily="18" charset="0"/>
                <a:cs typeface="Times New Roman" panose="02020603050405020304" pitchFamily="18" charset="0"/>
              </a:endParaRPr>
            </a:p>
          </p:txBody>
        </p:sp>
        <p:sp>
          <p:nvSpPr>
            <p:cNvPr id="5" name="Text 3"/>
            <p:cNvSpPr/>
            <p:nvPr/>
          </p:nvSpPr>
          <p:spPr>
            <a:xfrm>
              <a:off x="1922614" y="2217625"/>
              <a:ext cx="254000" cy="309880"/>
            </a:xfrm>
            <a:prstGeom prst="rect">
              <a:avLst/>
            </a:prstGeom>
            <a:noFill/>
            <a:ln/>
            <a:effectLst>
              <a:reflection blurRad="6350" stA="52000" endA="300" endPos="35000" dir="5400000" sy="-100000" algn="bl" rotWithShape="0"/>
            </a:effectLst>
          </p:spPr>
          <p:txBody>
            <a:bodyPr wrap="square" lIns="0" tIns="0" rIns="0" bIns="0" rtlCol="0" anchor="t">
              <a:normAutofit/>
            </a:bodyPr>
            <a:lstStyle/>
            <a:p>
              <a:pP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2214717" y="2156026"/>
              <a:ext cx="1366759" cy="407671"/>
            </a:xfrm>
            <a:prstGeom prst="roundRect">
              <a:avLst>
                <a:gd name="adj" fmla="val 15576"/>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MR / MANAGER</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3670373" y="2217625"/>
              <a:ext cx="254000" cy="309880"/>
            </a:xfrm>
            <a:prstGeom prst="rect">
              <a:avLst/>
            </a:prstGeom>
            <a:noFill/>
            <a:ln/>
            <a:effectLst>
              <a:reflection blurRad="6350" stA="52000" endA="300" endPos="35000" dir="5400000" sy="-100000" algn="bl" rotWithShape="0"/>
            </a:effectLst>
          </p:spPr>
          <p:txBody>
            <a:bodyPr wrap="square" lIns="0" tIns="0" rIns="0" bIns="0" rtlCol="0" anchor="t">
              <a:normAutofit/>
            </a:bodyPr>
            <a:lstStyle/>
            <a:p>
              <a:pP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3962473" y="2156026"/>
              <a:ext cx="1499395" cy="407671"/>
            </a:xfrm>
            <a:prstGeom prst="roundRect">
              <a:avLst>
                <a:gd name="adj" fmla="val 15576"/>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VISIT ↔ DOCTOR</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5550766" y="2217625"/>
              <a:ext cx="254000" cy="309880"/>
            </a:xfrm>
            <a:prstGeom prst="rect">
              <a:avLst/>
            </a:prstGeom>
            <a:noFill/>
            <a:ln/>
            <a:effectLst>
              <a:reflection blurRad="6350" stA="52000" endA="300" endPos="35000" dir="5400000" sy="-100000" algn="bl" rotWithShape="0"/>
            </a:effectLst>
          </p:spPr>
          <p:txBody>
            <a:bodyPr wrap="square" lIns="0" tIns="0" rIns="0" bIns="0" rtlCol="0" anchor="t">
              <a:normAutofit/>
            </a:bodyPr>
            <a:lstStyle/>
            <a:p>
              <a:pP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5842869" y="2156026"/>
              <a:ext cx="1334295" cy="407671"/>
            </a:xfrm>
            <a:prstGeom prst="roundRect">
              <a:avLst>
                <a:gd name="adj" fmla="val 15576"/>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APPOINTMENT</a:t>
              </a: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7266061" y="2217625"/>
              <a:ext cx="254000" cy="309880"/>
            </a:xfrm>
            <a:prstGeom prst="rect">
              <a:avLst/>
            </a:prstGeom>
            <a:noFill/>
            <a:ln/>
            <a:effectLst>
              <a:reflection blurRad="6350" stA="52000" endA="300" endPos="35000" dir="5400000" sy="-100000" algn="bl" rotWithShape="0"/>
            </a:effectLst>
          </p:spPr>
          <p:txBody>
            <a:bodyPr wrap="square" lIns="0" tIns="0" rIns="0" bIns="0" rtlCol="0" anchor="t">
              <a:normAutofit/>
            </a:bodyPr>
            <a:lstStyle/>
            <a:p>
              <a:pP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7558159" y="2156026"/>
              <a:ext cx="1907779" cy="407671"/>
            </a:xfrm>
            <a:prstGeom prst="roundRect">
              <a:avLst>
                <a:gd name="adj" fmla="val 15576"/>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PRIORITY PREDICTION</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9554838" y="2217625"/>
              <a:ext cx="254000" cy="309880"/>
            </a:xfrm>
            <a:prstGeom prst="rect">
              <a:avLst/>
            </a:prstGeom>
            <a:noFill/>
            <a:ln/>
            <a:effectLst>
              <a:reflection blurRad="6350" stA="52000" endA="300" endPos="35000" dir="5400000" sy="-100000" algn="bl" rotWithShape="0"/>
            </a:effectLst>
          </p:spPr>
          <p:txBody>
            <a:bodyPr wrap="square" lIns="0" tIns="0" rIns="0" bIns="0" rtlCol="0" anchor="t">
              <a:normAutofit/>
            </a:bodyPr>
            <a:lstStyle/>
            <a:p>
              <a:pPr>
                <a:lnSpc>
                  <a:spcPts val="2240"/>
                </a:lnSpc>
              </a:pPr>
              <a:r>
                <a:rPr lang="en-US" sz="2000"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4" name="Text 12"/>
            <p:cNvSpPr/>
            <p:nvPr/>
          </p:nvSpPr>
          <p:spPr>
            <a:xfrm>
              <a:off x="9846938" y="2156026"/>
              <a:ext cx="1626315" cy="407671"/>
            </a:xfrm>
            <a:prstGeom prst="roundRect">
              <a:avLst>
                <a:gd name="adj" fmla="val 15576"/>
              </a:avLst>
            </a:prstGeom>
            <a:solidFill>
              <a:srgbClr val="1F2A44"/>
            </a:solidFill>
            <a:ln/>
            <a:effectLst>
              <a:reflection blurRad="6350" stA="52000" endA="300" endPos="35000" dir="5400000" sy="-100000" algn="bl" rotWithShape="0"/>
            </a:effectLst>
          </p:spPr>
          <p:txBody>
            <a:bodyPr wrap="none" lIns="0" tIns="0" rIns="0" bIns="0" rtlCol="0" anchor="ctr">
              <a:normAutofit/>
            </a:bodyPr>
            <a:lstStyle/>
            <a:p>
              <a:pPr algn="ctr">
                <a:lnSpc>
                  <a:spcPts val="1611"/>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OPTIMIZED ROUTE</a:t>
              </a:r>
              <a:endParaRPr lang="en-US" sz="1400" dirty="0">
                <a:latin typeface="Times New Roman" panose="02020603050405020304" pitchFamily="18" charset="0"/>
                <a:cs typeface="Times New Roman" panose="02020603050405020304" pitchFamily="18" charset="0"/>
              </a:endParaRPr>
            </a:p>
          </p:txBody>
        </p:sp>
      </p:grpSp>
      <p:sp>
        <p:nvSpPr>
          <p:cNvPr id="15" name="Shape 13"/>
          <p:cNvSpPr/>
          <p:nvPr/>
        </p:nvSpPr>
        <p:spPr>
          <a:xfrm>
            <a:off x="938283" y="4312437"/>
            <a:ext cx="2520951" cy="798831"/>
          </a:xfrm>
          <a:prstGeom prst="roundRect">
            <a:avLst>
              <a:gd name="adj" fmla="val 7552"/>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16" name="Text 14"/>
          <p:cNvSpPr/>
          <p:nvPr/>
        </p:nvSpPr>
        <p:spPr>
          <a:xfrm>
            <a:off x="1092588" y="4466732"/>
            <a:ext cx="2278711" cy="238760"/>
          </a:xfrm>
          <a:prstGeom prst="rect">
            <a:avLst/>
          </a:prstGeom>
          <a:noFill/>
          <a:ln/>
        </p:spPr>
        <p:txBody>
          <a:bodyPr wrap="square" lIns="0" tIns="0" rIns="0" bIns="0" rtlCol="0" anchor="t">
            <a:normAutofit/>
          </a:bodyPr>
          <a:lstStyle/>
          <a:p>
            <a:pPr algn="ctr">
              <a:lnSpc>
                <a:spcPts val="168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MR</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1092588" y="4743591"/>
            <a:ext cx="2278711" cy="238760"/>
          </a:xfrm>
          <a:prstGeom prst="rect">
            <a:avLst/>
          </a:prstGeom>
          <a:noFill/>
          <a:ln/>
        </p:spPr>
        <p:txBody>
          <a:bodyPr wrap="square" lIns="0" tIns="0" rIns="0" bIns="0" rtlCol="0" anchor="t">
            <a:normAutofit/>
          </a:bodyPr>
          <a:lstStyle/>
          <a:p>
            <a:pPr algn="ctr">
              <a:lnSpc>
                <a:spcPts val="1680"/>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visits, appointments, routes</a:t>
            </a:r>
            <a:endParaRPr lang="en-US" sz="1600" dirty="0">
              <a:latin typeface="Times New Roman" panose="02020603050405020304" pitchFamily="18" charset="0"/>
              <a:cs typeface="Times New Roman" panose="02020603050405020304" pitchFamily="18" charset="0"/>
            </a:endParaRPr>
          </a:p>
        </p:txBody>
      </p:sp>
      <p:sp>
        <p:nvSpPr>
          <p:cNvPr id="18" name="Shape 16"/>
          <p:cNvSpPr/>
          <p:nvPr/>
        </p:nvSpPr>
        <p:spPr>
          <a:xfrm>
            <a:off x="3617983" y="4312437"/>
            <a:ext cx="2520951" cy="798831"/>
          </a:xfrm>
          <a:prstGeom prst="roundRect">
            <a:avLst>
              <a:gd name="adj" fmla="val 7552"/>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19" name="Text 17"/>
          <p:cNvSpPr/>
          <p:nvPr/>
        </p:nvSpPr>
        <p:spPr>
          <a:xfrm>
            <a:off x="3772288" y="4466732"/>
            <a:ext cx="2278711" cy="238760"/>
          </a:xfrm>
          <a:prstGeom prst="rect">
            <a:avLst/>
          </a:prstGeom>
          <a:noFill/>
          <a:ln/>
        </p:spPr>
        <p:txBody>
          <a:bodyPr wrap="square" lIns="0" tIns="0" rIns="0" bIns="0" rtlCol="0" anchor="t">
            <a:normAutofit/>
          </a:bodyPr>
          <a:lstStyle/>
          <a:p>
            <a:pPr algn="ctr">
              <a:lnSpc>
                <a:spcPts val="168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Doctor</a:t>
            </a:r>
            <a:endParaRPr lang="en-US" dirty="0">
              <a:latin typeface="Times New Roman" panose="02020603050405020304" pitchFamily="18" charset="0"/>
              <a:cs typeface="Times New Roman" panose="02020603050405020304" pitchFamily="18" charset="0"/>
            </a:endParaRPr>
          </a:p>
        </p:txBody>
      </p:sp>
      <p:sp>
        <p:nvSpPr>
          <p:cNvPr id="20" name="Text 18"/>
          <p:cNvSpPr/>
          <p:nvPr/>
        </p:nvSpPr>
        <p:spPr>
          <a:xfrm>
            <a:off x="3772288" y="4743591"/>
            <a:ext cx="2278711" cy="238760"/>
          </a:xfrm>
          <a:prstGeom prst="rect">
            <a:avLst/>
          </a:prstGeom>
          <a:noFill/>
          <a:ln/>
        </p:spPr>
        <p:txBody>
          <a:bodyPr wrap="square" lIns="0" tIns="0" rIns="0" bIns="0" rtlCol="0" anchor="t">
            <a:normAutofit fontScale="92500"/>
          </a:bodyPr>
          <a:lstStyle/>
          <a:p>
            <a:pPr algn="ctr">
              <a:lnSpc>
                <a:spcPts val="1680"/>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visits, appointments, location</a:t>
            </a:r>
            <a:endParaRPr lang="en-US" sz="1600" dirty="0">
              <a:latin typeface="Times New Roman" panose="02020603050405020304" pitchFamily="18" charset="0"/>
              <a:cs typeface="Times New Roman" panose="02020603050405020304" pitchFamily="18" charset="0"/>
            </a:endParaRPr>
          </a:p>
        </p:txBody>
      </p:sp>
      <p:sp>
        <p:nvSpPr>
          <p:cNvPr id="21" name="Shape 19"/>
          <p:cNvSpPr/>
          <p:nvPr/>
        </p:nvSpPr>
        <p:spPr>
          <a:xfrm>
            <a:off x="6297683" y="4312437"/>
            <a:ext cx="2520951" cy="798831"/>
          </a:xfrm>
          <a:prstGeom prst="roundRect">
            <a:avLst>
              <a:gd name="adj" fmla="val 7552"/>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22" name="Text 20"/>
          <p:cNvSpPr/>
          <p:nvPr/>
        </p:nvSpPr>
        <p:spPr>
          <a:xfrm>
            <a:off x="6451988" y="4466732"/>
            <a:ext cx="2278711" cy="238760"/>
          </a:xfrm>
          <a:prstGeom prst="rect">
            <a:avLst/>
          </a:prstGeom>
          <a:noFill/>
          <a:ln/>
        </p:spPr>
        <p:txBody>
          <a:bodyPr wrap="square" lIns="0" tIns="0" rIns="0" bIns="0" rtlCol="0" anchor="t">
            <a:normAutofit/>
          </a:bodyPr>
          <a:lstStyle/>
          <a:p>
            <a:pPr algn="ctr">
              <a:lnSpc>
                <a:spcPts val="168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Visit</a:t>
            </a:r>
            <a:endParaRPr lang="en-US" dirty="0">
              <a:latin typeface="Times New Roman" panose="02020603050405020304" pitchFamily="18" charset="0"/>
              <a:cs typeface="Times New Roman" panose="02020603050405020304" pitchFamily="18" charset="0"/>
            </a:endParaRPr>
          </a:p>
        </p:txBody>
      </p:sp>
      <p:sp>
        <p:nvSpPr>
          <p:cNvPr id="23" name="Text 21"/>
          <p:cNvSpPr/>
          <p:nvPr/>
        </p:nvSpPr>
        <p:spPr>
          <a:xfrm>
            <a:off x="6451988" y="4743591"/>
            <a:ext cx="2278711" cy="238760"/>
          </a:xfrm>
          <a:prstGeom prst="rect">
            <a:avLst/>
          </a:prstGeom>
          <a:noFill/>
          <a:ln/>
        </p:spPr>
        <p:txBody>
          <a:bodyPr wrap="square" lIns="0" tIns="0" rIns="0" bIns="0" rtlCol="0" anchor="t">
            <a:normAutofit/>
          </a:bodyPr>
          <a:lstStyle/>
          <a:p>
            <a:pPr algn="ctr">
              <a:lnSpc>
                <a:spcPts val="1680"/>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priority_prediction</a:t>
            </a:r>
            <a:endParaRPr lang="en-US" sz="1600" dirty="0">
              <a:latin typeface="Times New Roman" panose="02020603050405020304" pitchFamily="18" charset="0"/>
              <a:cs typeface="Times New Roman" panose="02020603050405020304" pitchFamily="18" charset="0"/>
            </a:endParaRPr>
          </a:p>
        </p:txBody>
      </p:sp>
      <p:sp>
        <p:nvSpPr>
          <p:cNvPr id="24" name="Shape 22"/>
          <p:cNvSpPr/>
          <p:nvPr/>
        </p:nvSpPr>
        <p:spPr>
          <a:xfrm>
            <a:off x="8977383" y="4312437"/>
            <a:ext cx="2520951" cy="798831"/>
          </a:xfrm>
          <a:prstGeom prst="roundRect">
            <a:avLst>
              <a:gd name="adj" fmla="val 7552"/>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25" name="Text 23"/>
          <p:cNvSpPr/>
          <p:nvPr/>
        </p:nvSpPr>
        <p:spPr>
          <a:xfrm>
            <a:off x="9131688" y="4466732"/>
            <a:ext cx="2278711" cy="238760"/>
          </a:xfrm>
          <a:prstGeom prst="rect">
            <a:avLst/>
          </a:prstGeom>
          <a:noFill/>
          <a:ln/>
        </p:spPr>
        <p:txBody>
          <a:bodyPr wrap="square" lIns="0" tIns="0" rIns="0" bIns="0" rtlCol="0" anchor="t">
            <a:normAutofit/>
          </a:bodyPr>
          <a:lstStyle/>
          <a:p>
            <a:pPr algn="ctr">
              <a:lnSpc>
                <a:spcPts val="168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Route</a:t>
            </a:r>
            <a:endParaRPr lang="en-US" dirty="0">
              <a:latin typeface="Times New Roman" panose="02020603050405020304" pitchFamily="18" charset="0"/>
              <a:cs typeface="Times New Roman" panose="02020603050405020304" pitchFamily="18" charset="0"/>
            </a:endParaRPr>
          </a:p>
        </p:txBody>
      </p:sp>
      <p:sp>
        <p:nvSpPr>
          <p:cNvPr id="26" name="Text 24"/>
          <p:cNvSpPr/>
          <p:nvPr/>
        </p:nvSpPr>
        <p:spPr>
          <a:xfrm>
            <a:off x="9131688" y="4743591"/>
            <a:ext cx="2278711" cy="238760"/>
          </a:xfrm>
          <a:prstGeom prst="rect">
            <a:avLst/>
          </a:prstGeom>
          <a:noFill/>
          <a:ln/>
        </p:spPr>
        <p:txBody>
          <a:bodyPr wrap="square" lIns="0" tIns="0" rIns="0" bIns="0" rtlCol="0" anchor="t">
            <a:normAutofit/>
          </a:bodyPr>
          <a:lstStyle/>
          <a:p>
            <a:pPr algn="ctr">
              <a:lnSpc>
                <a:spcPts val="1680"/>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route_stops</a:t>
            </a:r>
            <a:endParaRPr lang="en-US" sz="1600" dirty="0">
              <a:latin typeface="Times New Roman" panose="02020603050405020304" pitchFamily="18" charset="0"/>
              <a:cs typeface="Times New Roman" panose="02020603050405020304" pitchFamily="18" charset="0"/>
            </a:endParaRPr>
          </a:p>
        </p:txBody>
      </p:sp>
      <p:sp>
        <p:nvSpPr>
          <p:cNvPr id="27" name="Text 25"/>
          <p:cNvSpPr/>
          <p:nvPr/>
        </p:nvSpPr>
        <p:spPr>
          <a:xfrm>
            <a:off x="11209660" y="6886422"/>
            <a:ext cx="220345" cy="238760"/>
          </a:xfrm>
          <a:prstGeom prst="rect">
            <a:avLst/>
          </a:prstGeom>
          <a:noFill/>
          <a:ln/>
        </p:spPr>
        <p:txBody>
          <a:bodyPr wrap="square" lIns="0" tIns="0" rIns="0" bIns="0" rtlCol="0" anchor="t">
            <a:normAutofit/>
          </a:bodyPr>
          <a:lstStyle/>
          <a:p>
            <a:pPr>
              <a:lnSpc>
                <a:spcPts val="1680"/>
              </a:lnSpc>
            </a:pPr>
            <a:r>
              <a:rPr lang="en-US" sz="1600" dirty="0">
                <a:solidFill>
                  <a:srgbClr val="5B6475"/>
                </a:solidFill>
                <a:latin typeface="Times New Roman" panose="02020603050405020304" pitchFamily="18" charset="0"/>
                <a:ea typeface="Arial" pitchFamily="34" charset="-122"/>
                <a:cs typeface="Times New Roman" panose="02020603050405020304" pitchFamily="18" charset="0"/>
              </a:rPr>
              <a:t>24</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850900" y="1202163"/>
            <a:ext cx="0" cy="438151"/>
          </a:xfrm>
          <a:prstGeom prst="line">
            <a:avLst/>
          </a:prstGeom>
          <a:noFill/>
          <a:ln w="76200">
            <a:solidFill>
              <a:schemeClr val="accent1"/>
            </a:solidFill>
            <a:prstDash val="solid"/>
          </a:ln>
        </p:spPr>
      </p:sp>
      <p:sp>
        <p:nvSpPr>
          <p:cNvPr id="3" name="Text 1"/>
          <p:cNvSpPr>
            <a:spLocks noGrp="1"/>
          </p:cNvSpPr>
          <p:nvPr>
            <p:ph type="title"/>
          </p:nvPr>
        </p:nvSpPr>
        <p:spPr>
          <a:xfrm>
            <a:off x="1041403" y="1202163"/>
            <a:ext cx="10647935" cy="463551"/>
          </a:xfrm>
          <a:prstGeom prst="rect">
            <a:avLst/>
          </a:prstGeom>
          <a:noFill/>
          <a:ln/>
        </p:spPr>
        <p:txBody>
          <a:bodyPr vert="horz" wrap="square" lIns="0" tIns="0" rIns="0" bIns="0" rtlCol="0" anchor="t">
            <a:normAutofit/>
          </a:bodyPr>
          <a:lstStyle/>
          <a:p>
            <a:pPr>
              <a:lnSpc>
                <a:spcPts val="3451"/>
              </a:lnSpc>
            </a:pPr>
            <a:r>
              <a:rPr lang="en-US" sz="3200" b="1" dirty="0">
                <a:latin typeface="Times New Roman" panose="02020603050405020304" pitchFamily="18" charset="0"/>
                <a:cs typeface="Times New Roman" panose="02020603050405020304" pitchFamily="18" charset="0"/>
              </a:rPr>
              <a:t>Evaluation</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1197942" y="2031885"/>
            <a:ext cx="5124451" cy="2885348"/>
          </a:xfrm>
          <a:prstGeom prst="roundRect">
            <a:avLst>
              <a:gd name="adj" fmla="val 4192"/>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5" name="Text 3"/>
          <p:cNvSpPr/>
          <p:nvPr/>
        </p:nvSpPr>
        <p:spPr>
          <a:xfrm>
            <a:off x="1352248" y="2186191"/>
            <a:ext cx="4960315" cy="238760"/>
          </a:xfrm>
          <a:prstGeom prst="rect">
            <a:avLst/>
          </a:prstGeom>
          <a:noFill/>
          <a:ln>
            <a:noFill/>
          </a:ln>
          <a:effectLst>
            <a:outerShdw blurRad="50800" dist="38100" dir="8100000" algn="tr" rotWithShape="0">
              <a:prstClr val="black">
                <a:alpha val="40000"/>
              </a:prstClr>
            </a:outerShdw>
          </a:effectLst>
        </p:spPr>
        <p:txBody>
          <a:bodyPr wrap="square" lIns="0" tIns="0" rIns="0" bIns="0" rtlCol="0" anchor="ctr">
            <a:normAutofit/>
          </a:bodyPr>
          <a:lstStyle/>
          <a:p>
            <a:pPr algn="just">
              <a:lnSpc>
                <a:spcPts val="1680"/>
              </a:lnSpc>
            </a:pPr>
            <a:r>
              <a:rPr lang="en-US" sz="2000" b="1" dirty="0">
                <a:solidFill>
                  <a:srgbClr val="1F2A44"/>
                </a:solidFill>
                <a:latin typeface="Times New Roman" panose="02020603050405020304" pitchFamily="18" charset="0"/>
                <a:ea typeface="Arial" pitchFamily="34" charset="-122"/>
                <a:cs typeface="Times New Roman" panose="02020603050405020304" pitchFamily="18" charset="0"/>
              </a:rPr>
              <a:t>ML evaluation (classification)</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1352249" y="2463048"/>
            <a:ext cx="4833948" cy="2267572"/>
          </a:xfrm>
          <a:prstGeom prst="rect">
            <a:avLst/>
          </a:prstGeom>
          <a:noFill/>
          <a:ln>
            <a:noFill/>
          </a:ln>
          <a:effectLst/>
        </p:spPr>
        <p:txBody>
          <a:bodyPr wrap="square" lIns="0" tIns="0" rIns="0" bIns="0" rtlCol="0" anchor="ctr">
            <a:normAutofit/>
          </a:bodyPr>
          <a:lstStyle/>
          <a:p>
            <a:pPr algn="just">
              <a:lnSpc>
                <a:spcPts val="1680"/>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Accuracy, Precision, Recall, F1-score, Confusion matrix,</a:t>
            </a:r>
          </a:p>
          <a:p>
            <a:pPr algn="just">
              <a:lnSpc>
                <a:spcPts val="1680"/>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ROC-AUC where appropriate.</a:t>
            </a:r>
          </a:p>
          <a:p>
            <a:pPr algn="just">
              <a:lnSpc>
                <a:spcPts val="1680"/>
              </a:lnSpc>
            </a:pPr>
            <a:endParaRPr lang="en-US" sz="1600" dirty="0">
              <a:solidFill>
                <a:srgbClr val="1F2A44"/>
              </a:solidFill>
              <a:latin typeface="Times New Roman" panose="02020603050405020304" pitchFamily="18" charset="0"/>
              <a:ea typeface="Arial" pitchFamily="34" charset="-122"/>
              <a:cs typeface="Times New Roman" panose="02020603050405020304" pitchFamily="18" charset="0"/>
            </a:endParaRPr>
          </a:p>
          <a:p>
            <a:pPr algn="just">
              <a:lnSpc>
                <a:spcPts val="1680"/>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F1/precision/recall can be more informative than accuracy alone, depending on class balance.</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6633542" y="2031885"/>
            <a:ext cx="5124451" cy="2885348"/>
          </a:xfrm>
          <a:prstGeom prst="roundRect">
            <a:avLst>
              <a:gd name="adj" fmla="val 4192"/>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8" name="Text 6"/>
          <p:cNvSpPr/>
          <p:nvPr/>
        </p:nvSpPr>
        <p:spPr>
          <a:xfrm>
            <a:off x="6787850" y="2186191"/>
            <a:ext cx="4960315" cy="238760"/>
          </a:xfrm>
          <a:prstGeom prst="rect">
            <a:avLst/>
          </a:prstGeom>
          <a:noFill/>
          <a:ln>
            <a:noFill/>
          </a:ln>
          <a:effectLst>
            <a:outerShdw blurRad="50800" dist="38100" dir="8100000" algn="tr" rotWithShape="0">
              <a:prstClr val="black">
                <a:alpha val="40000"/>
              </a:prstClr>
            </a:outerShdw>
          </a:effectLst>
        </p:spPr>
        <p:txBody>
          <a:bodyPr wrap="square" lIns="0" tIns="0" rIns="0" bIns="0" rtlCol="0" anchor="ctr">
            <a:normAutofit/>
          </a:bodyPr>
          <a:lstStyle/>
          <a:p>
            <a:pPr algn="just">
              <a:lnSpc>
                <a:spcPts val="1680"/>
              </a:lnSpc>
            </a:pPr>
            <a:r>
              <a:rPr lang="en-US" sz="2000" b="1" dirty="0">
                <a:solidFill>
                  <a:srgbClr val="1F2A44"/>
                </a:solidFill>
                <a:latin typeface="Times New Roman" panose="02020603050405020304" pitchFamily="18" charset="0"/>
                <a:ea typeface="Arial" pitchFamily="34" charset="-122"/>
                <a:cs typeface="Times New Roman" panose="02020603050405020304" pitchFamily="18" charset="0"/>
              </a:rPr>
              <a:t>Route evaluation</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6787851" y="2463048"/>
            <a:ext cx="4828762" cy="2267572"/>
          </a:xfrm>
          <a:prstGeom prst="rect">
            <a:avLst/>
          </a:prstGeom>
          <a:noFill/>
          <a:ln>
            <a:noFill/>
          </a:ln>
          <a:effectLst/>
        </p:spPr>
        <p:txBody>
          <a:bodyPr wrap="square" lIns="0" tIns="0" rIns="0" bIns="0" rtlCol="0" anchor="ctr">
            <a:noAutofit/>
          </a:bodyPr>
          <a:lstStyle/>
          <a:p>
            <a:pPr algn="just">
              <a:lnSpc>
                <a:spcPts val="1680"/>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Baseline (Manual / nearest-neighbour / simple ordering) versus Proposed (ML + OR-Tools).</a:t>
            </a:r>
          </a:p>
          <a:p>
            <a:pPr algn="just">
              <a:lnSpc>
                <a:spcPts val="1680"/>
              </a:lnSpc>
            </a:pPr>
            <a:endParaRPr lang="en-US" sz="1600" dirty="0">
              <a:solidFill>
                <a:srgbClr val="1F2A44"/>
              </a:solidFill>
              <a:latin typeface="Times New Roman" panose="02020603050405020304" pitchFamily="18" charset="0"/>
              <a:ea typeface="Arial" pitchFamily="34" charset="-122"/>
              <a:cs typeface="Times New Roman" panose="02020603050405020304" pitchFamily="18" charset="0"/>
            </a:endParaRPr>
          </a:p>
          <a:p>
            <a:pPr algn="just">
              <a:lnSpc>
                <a:spcPts val="1680"/>
              </a:lnSpc>
            </a:pPr>
            <a:r>
              <a:rPr lang="en-US" sz="1600" dirty="0">
                <a:solidFill>
                  <a:srgbClr val="1F2A44"/>
                </a:solidFill>
                <a:latin typeface="Times New Roman" panose="02020603050405020304" pitchFamily="18" charset="0"/>
                <a:ea typeface="Arial" pitchFamily="34" charset="-122"/>
                <a:cs typeface="Times New Roman" panose="02020603050405020304" pitchFamily="18" charset="0"/>
              </a:rPr>
              <a:t>Metrics: Total distance, Total travel time, Number of visits completed, Time-window violations, Waiting time, Unserved visits, Route computation time.</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11209660" y="6805403"/>
            <a:ext cx="220345" cy="238760"/>
          </a:xfrm>
          <a:prstGeom prst="rect">
            <a:avLst/>
          </a:prstGeom>
          <a:noFill/>
          <a:ln/>
        </p:spPr>
        <p:txBody>
          <a:bodyPr wrap="square" lIns="0" tIns="0" rIns="0" bIns="0" rtlCol="0" anchor="t">
            <a:normAutofit/>
          </a:bodyPr>
          <a:lstStyle/>
          <a:p>
            <a:pPr>
              <a:lnSpc>
                <a:spcPts val="1680"/>
              </a:lnSpc>
            </a:pPr>
            <a:r>
              <a:rPr lang="en-US" sz="1600" dirty="0">
                <a:solidFill>
                  <a:srgbClr val="5B6475"/>
                </a:solidFill>
                <a:latin typeface="Times New Roman" panose="02020603050405020304" pitchFamily="18" charset="0"/>
                <a:ea typeface="Arial" pitchFamily="34" charset="-122"/>
                <a:cs typeface="Times New Roman" panose="02020603050405020304" pitchFamily="18" charset="0"/>
              </a:rPr>
              <a:t>25</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850900" y="1179019"/>
            <a:ext cx="0" cy="438151"/>
          </a:xfrm>
          <a:prstGeom prst="line">
            <a:avLst/>
          </a:prstGeom>
          <a:noFill/>
          <a:ln w="76200">
            <a:solidFill>
              <a:schemeClr val="accent1"/>
            </a:solidFill>
            <a:prstDash val="solid"/>
          </a:ln>
        </p:spPr>
      </p:sp>
      <p:sp>
        <p:nvSpPr>
          <p:cNvPr id="3" name="Text 1"/>
          <p:cNvSpPr>
            <a:spLocks noGrp="1"/>
          </p:cNvSpPr>
          <p:nvPr>
            <p:ph type="title"/>
          </p:nvPr>
        </p:nvSpPr>
        <p:spPr>
          <a:xfrm>
            <a:off x="1041403" y="1179019"/>
            <a:ext cx="10647935" cy="463551"/>
          </a:xfrm>
          <a:prstGeom prst="rect">
            <a:avLst/>
          </a:prstGeom>
          <a:noFill/>
          <a:ln/>
        </p:spPr>
        <p:txBody>
          <a:bodyPr vert="horz" wrap="square" lIns="0" tIns="0" rIns="0" bIns="0" rtlCol="0" anchor="t">
            <a:normAutofit/>
          </a:bodyPr>
          <a:lstStyle/>
          <a:p>
            <a:pPr>
              <a:lnSpc>
                <a:spcPts val="3451"/>
              </a:lnSpc>
            </a:pPr>
            <a:r>
              <a:rPr lang="en-US" sz="3200" b="1" dirty="0">
                <a:latin typeface="Times New Roman" panose="02020603050405020304" pitchFamily="18" charset="0"/>
                <a:cs typeface="Times New Roman" panose="02020603050405020304" pitchFamily="18" charset="0"/>
              </a:rPr>
              <a:t>Baseline</a:t>
            </a:r>
            <a:endParaRPr lang="en-US" sz="3200" dirty="0">
              <a:latin typeface="Times New Roman" panose="02020603050405020304" pitchFamily="18" charset="0"/>
              <a:cs typeface="Times New Roman" panose="02020603050405020304" pitchFamily="18" charset="0"/>
            </a:endParaRPr>
          </a:p>
        </p:txBody>
      </p:sp>
      <p:sp>
        <p:nvSpPr>
          <p:cNvPr id="5" name="Text 3"/>
          <p:cNvSpPr/>
          <p:nvPr/>
        </p:nvSpPr>
        <p:spPr>
          <a:xfrm>
            <a:off x="1125317" y="2087377"/>
            <a:ext cx="1210867" cy="416560"/>
          </a:xfrm>
          <a:prstGeom prst="roundRect">
            <a:avLst>
              <a:gd name="adj" fmla="val 1524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68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SAME INPUT</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2425084" y="2153409"/>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2944419" y="2087377"/>
            <a:ext cx="4028847" cy="416560"/>
          </a:xfrm>
          <a:prstGeom prst="roundRect">
            <a:avLst>
              <a:gd name="adj" fmla="val 1524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68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BASELINE PLAN | PROPOSED SYSTEM</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7216362" y="2142116"/>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7713458" y="2100069"/>
            <a:ext cx="770493" cy="416560"/>
          </a:xfrm>
          <a:prstGeom prst="roundRect">
            <a:avLst>
              <a:gd name="adj" fmla="val 1524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68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Metrics</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9142015" y="2140717"/>
            <a:ext cx="254000" cy="309880"/>
          </a:xfrm>
          <a:prstGeom prst="rect">
            <a:avLst/>
          </a:prstGeom>
          <a:noFill/>
          <a:ln/>
          <a:effectLst>
            <a:reflection blurRad="6350" stA="52000" endA="300" endPos="35000" dir="5400000" sy="-100000" algn="bl" rotWithShape="0"/>
          </a:effectLst>
        </p:spPr>
        <p:txBody>
          <a:bodyPr wrap="square" lIns="0" tIns="0" rIns="0" bIns="0" rtlCol="0" anchor="ctr">
            <a:normAutofit/>
          </a:bodyPr>
          <a:lstStyle/>
          <a:p>
            <a:pPr algn="just">
              <a:lnSpc>
                <a:spcPts val="2240"/>
              </a:lnSpc>
            </a:pPr>
            <a:r>
              <a:rPr lang="en-US" b="1" dirty="0">
                <a:solidFill>
                  <a:srgbClr val="C8553D"/>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9602067" y="2100069"/>
            <a:ext cx="1309608" cy="416560"/>
          </a:xfrm>
          <a:prstGeom prst="roundRect">
            <a:avLst>
              <a:gd name="adj" fmla="val 15244"/>
            </a:avLst>
          </a:prstGeom>
          <a:solidFill>
            <a:srgbClr val="2F6F6D"/>
          </a:solidFill>
          <a:ln/>
          <a:effectLst>
            <a:reflection blurRad="6350" stA="52000" endA="300" endPos="35000" dir="5400000" sy="-100000" algn="bl" rotWithShape="0"/>
          </a:effectLst>
        </p:spPr>
        <p:txBody>
          <a:bodyPr wrap="none" lIns="0" tIns="0" rIns="0" bIns="0" rtlCol="0" anchor="ctr">
            <a:normAutofit/>
          </a:bodyPr>
          <a:lstStyle/>
          <a:p>
            <a:pPr algn="ctr">
              <a:lnSpc>
                <a:spcPts val="1680"/>
              </a:lnSpc>
            </a:pPr>
            <a:r>
              <a:rPr lang="en-US" sz="1400" dirty="0">
                <a:solidFill>
                  <a:srgbClr val="F7F6F2"/>
                </a:solidFill>
                <a:latin typeface="Times New Roman" panose="02020603050405020304" pitchFamily="18" charset="0"/>
                <a:ea typeface="Arial" pitchFamily="34" charset="-122"/>
                <a:cs typeface="Times New Roman" panose="02020603050405020304" pitchFamily="18" charset="0"/>
              </a:rPr>
              <a:t>COMPARISON</a:t>
            </a:r>
            <a:endParaRPr lang="en-US" sz="1400" dirty="0">
              <a:latin typeface="Times New Roman" panose="02020603050405020304" pitchFamily="18" charset="0"/>
              <a:cs typeface="Times New Roman" panose="02020603050405020304" pitchFamily="18" charset="0"/>
            </a:endParaRPr>
          </a:p>
        </p:txBody>
      </p:sp>
      <p:graphicFrame>
        <p:nvGraphicFramePr>
          <p:cNvPr id="12" name="Table 0"/>
          <p:cNvGraphicFramePr>
            <a:graphicFrameLocks noGrp="1"/>
          </p:cNvGraphicFramePr>
          <p:nvPr>
            <p:extLst>
              <p:ext uri="{D42A27DB-BD31-4B8C-83A1-F6EECF244321}">
                <p14:modId xmlns:p14="http://schemas.microsoft.com/office/powerpoint/2010/main" val="3465412290"/>
              </p:ext>
            </p:extLst>
          </p:nvPr>
        </p:nvGraphicFramePr>
        <p:xfrm>
          <a:off x="1135477" y="2717295"/>
          <a:ext cx="10556240" cy="2263565"/>
        </p:xfrm>
        <a:graphic>
          <a:graphicData uri="http://schemas.openxmlformats.org/drawingml/2006/table">
            <a:tbl>
              <a:tblPr>
                <a:tableStyleId>{69CF1AB2-1976-4502-BF36-3FF5EA218861}</a:tableStyleId>
              </a:tblPr>
              <a:tblGrid>
                <a:gridCol w="2639060">
                  <a:extLst>
                    <a:ext uri="{9D8B030D-6E8A-4147-A177-3AD203B41FA5}">
                      <a16:colId xmlns:a16="http://schemas.microsoft.com/office/drawing/2014/main" val="20000"/>
                    </a:ext>
                  </a:extLst>
                </a:gridCol>
                <a:gridCol w="2639060">
                  <a:extLst>
                    <a:ext uri="{9D8B030D-6E8A-4147-A177-3AD203B41FA5}">
                      <a16:colId xmlns:a16="http://schemas.microsoft.com/office/drawing/2014/main" val="20001"/>
                    </a:ext>
                  </a:extLst>
                </a:gridCol>
                <a:gridCol w="2639060">
                  <a:extLst>
                    <a:ext uri="{9D8B030D-6E8A-4147-A177-3AD203B41FA5}">
                      <a16:colId xmlns:a16="http://schemas.microsoft.com/office/drawing/2014/main" val="20002"/>
                    </a:ext>
                  </a:extLst>
                </a:gridCol>
                <a:gridCol w="2639060">
                  <a:extLst>
                    <a:ext uri="{9D8B030D-6E8A-4147-A177-3AD203B41FA5}">
                      <a16:colId xmlns:a16="http://schemas.microsoft.com/office/drawing/2014/main" val="20003"/>
                    </a:ext>
                  </a:extLst>
                </a:gridCol>
              </a:tblGrid>
              <a:tr h="452713">
                <a:tc>
                  <a:txBody>
                    <a:bodyPr/>
                    <a:lstStyle/>
                    <a:p>
                      <a:pPr marL="0" indent="0">
                        <a:lnSpc>
                          <a:spcPts val="2240"/>
                        </a:lnSpc>
                        <a:buNone/>
                      </a:pPr>
                      <a:r>
                        <a:rPr lang="en-US" sz="1600" dirty="0"/>
                        <a:t>Metric</a:t>
                      </a:r>
                      <a:endParaRPr lang="en-US" sz="1600" dirty="0">
                        <a:latin typeface="Arial" charset="0"/>
                        <a:ea typeface="Arial" charset="0"/>
                        <a:cs typeface="Arial" charset="0"/>
                      </a:endParaRPr>
                    </a:p>
                  </a:txBody>
                  <a:tcPr marL="114300" marR="114300" marT="63500" marB="63500">
                    <a:solidFill>
                      <a:schemeClr val="accent1"/>
                    </a:solidFill>
                  </a:tcPr>
                </a:tc>
                <a:tc>
                  <a:txBody>
                    <a:bodyPr/>
                    <a:lstStyle/>
                    <a:p>
                      <a:pPr marL="0" indent="0">
                        <a:lnSpc>
                          <a:spcPts val="2240"/>
                        </a:lnSpc>
                        <a:buNone/>
                      </a:pPr>
                      <a:r>
                        <a:rPr lang="en-US" sz="1600" dirty="0"/>
                        <a:t>Baseline</a:t>
                      </a:r>
                      <a:endParaRPr lang="en-US" sz="1600" dirty="0">
                        <a:latin typeface="Arial" charset="0"/>
                        <a:ea typeface="Arial" charset="0"/>
                        <a:cs typeface="Arial" charset="0"/>
                      </a:endParaRPr>
                    </a:p>
                  </a:txBody>
                  <a:tcPr marL="114300" marR="114300" marT="63500" marB="63500">
                    <a:solidFill>
                      <a:schemeClr val="accent1"/>
                    </a:solidFill>
                  </a:tcPr>
                </a:tc>
                <a:tc>
                  <a:txBody>
                    <a:bodyPr/>
                    <a:lstStyle/>
                    <a:p>
                      <a:pPr marL="0" indent="0">
                        <a:lnSpc>
                          <a:spcPts val="2240"/>
                        </a:lnSpc>
                        <a:buNone/>
                      </a:pPr>
                      <a:r>
                        <a:rPr lang="en-US" sz="1600" dirty="0"/>
                        <a:t>Proposed</a:t>
                      </a:r>
                      <a:endParaRPr lang="en-US" sz="1600" dirty="0">
                        <a:latin typeface="Arial" charset="0"/>
                        <a:ea typeface="Arial" charset="0"/>
                        <a:cs typeface="Arial" charset="0"/>
                      </a:endParaRPr>
                    </a:p>
                  </a:txBody>
                  <a:tcPr marL="114300" marR="114300" marT="63500" marB="63500">
                    <a:solidFill>
                      <a:schemeClr val="accent1"/>
                    </a:solidFill>
                  </a:tcPr>
                </a:tc>
                <a:tc>
                  <a:txBody>
                    <a:bodyPr/>
                    <a:lstStyle/>
                    <a:p>
                      <a:pPr marL="0" indent="0">
                        <a:lnSpc>
                          <a:spcPts val="2240"/>
                        </a:lnSpc>
                        <a:buNone/>
                      </a:pPr>
                      <a:r>
                        <a:rPr lang="en-US" sz="1600" dirty="0"/>
                        <a:t>Improvement</a:t>
                      </a:r>
                      <a:endParaRPr lang="en-US" sz="1600" dirty="0">
                        <a:latin typeface="Arial" charset="0"/>
                        <a:ea typeface="Arial" charset="0"/>
                        <a:cs typeface="Arial" charset="0"/>
                      </a:endParaRPr>
                    </a:p>
                  </a:txBody>
                  <a:tcPr marL="114300" marR="114300" marT="63500" marB="63500">
                    <a:solidFill>
                      <a:schemeClr val="accent1"/>
                    </a:solidFill>
                  </a:tcPr>
                </a:tc>
                <a:extLst>
                  <a:ext uri="{0D108BD9-81ED-4DB2-BD59-A6C34878D82A}">
                    <a16:rowId xmlns:a16="http://schemas.microsoft.com/office/drawing/2014/main" val="10000"/>
                  </a:ext>
                </a:extLst>
              </a:tr>
              <a:tr h="452713">
                <a:tc>
                  <a:txBody>
                    <a:bodyPr/>
                    <a:lstStyle/>
                    <a:p>
                      <a:pPr marL="0" indent="0">
                        <a:lnSpc>
                          <a:spcPts val="2240"/>
                        </a:lnSpc>
                        <a:buNone/>
                      </a:pPr>
                      <a:r>
                        <a:rPr lang="en-US" sz="1600" dirty="0"/>
                        <a:t>Distance</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X</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Y</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calculated</a:t>
                      </a:r>
                      <a:endParaRPr lang="en-US" sz="1600" dirty="0">
                        <a:latin typeface="Arial" charset="0"/>
                        <a:ea typeface="Arial" charset="0"/>
                        <a:cs typeface="Arial" charset="0"/>
                      </a:endParaRPr>
                    </a:p>
                  </a:txBody>
                  <a:tcPr marL="114300" marR="114300" marT="63500" marB="63500"/>
                </a:tc>
                <a:extLst>
                  <a:ext uri="{0D108BD9-81ED-4DB2-BD59-A6C34878D82A}">
                    <a16:rowId xmlns:a16="http://schemas.microsoft.com/office/drawing/2014/main" val="10001"/>
                  </a:ext>
                </a:extLst>
              </a:tr>
              <a:tr h="452713">
                <a:tc>
                  <a:txBody>
                    <a:bodyPr/>
                    <a:lstStyle/>
                    <a:p>
                      <a:pPr marL="0" indent="0">
                        <a:lnSpc>
                          <a:spcPts val="2240"/>
                        </a:lnSpc>
                        <a:buNone/>
                      </a:pPr>
                      <a:r>
                        <a:rPr lang="en-US" sz="1600" dirty="0"/>
                        <a:t>Travel time</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X</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Y</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calculated</a:t>
                      </a:r>
                      <a:endParaRPr lang="en-US" sz="1600" dirty="0">
                        <a:latin typeface="Arial" charset="0"/>
                        <a:ea typeface="Arial" charset="0"/>
                        <a:cs typeface="Arial" charset="0"/>
                      </a:endParaRPr>
                    </a:p>
                  </a:txBody>
                  <a:tcPr marL="114300" marR="114300" marT="63500" marB="63500"/>
                </a:tc>
                <a:extLst>
                  <a:ext uri="{0D108BD9-81ED-4DB2-BD59-A6C34878D82A}">
                    <a16:rowId xmlns:a16="http://schemas.microsoft.com/office/drawing/2014/main" val="10002"/>
                  </a:ext>
                </a:extLst>
              </a:tr>
              <a:tr h="452713">
                <a:tc>
                  <a:txBody>
                    <a:bodyPr/>
                    <a:lstStyle/>
                    <a:p>
                      <a:pPr marL="0" indent="0">
                        <a:lnSpc>
                          <a:spcPts val="2240"/>
                        </a:lnSpc>
                        <a:buNone/>
                      </a:pPr>
                      <a:r>
                        <a:rPr lang="en-US" sz="1600" dirty="0"/>
                        <a:t>Visits completed</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X</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Y</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calculated</a:t>
                      </a:r>
                      <a:endParaRPr lang="en-US" sz="1600" dirty="0">
                        <a:latin typeface="Arial" charset="0"/>
                        <a:ea typeface="Arial" charset="0"/>
                        <a:cs typeface="Arial" charset="0"/>
                      </a:endParaRPr>
                    </a:p>
                  </a:txBody>
                  <a:tcPr marL="114300" marR="114300" marT="63500" marB="63500"/>
                </a:tc>
                <a:extLst>
                  <a:ext uri="{0D108BD9-81ED-4DB2-BD59-A6C34878D82A}">
                    <a16:rowId xmlns:a16="http://schemas.microsoft.com/office/drawing/2014/main" val="10003"/>
                  </a:ext>
                </a:extLst>
              </a:tr>
              <a:tr h="452713">
                <a:tc>
                  <a:txBody>
                    <a:bodyPr/>
                    <a:lstStyle/>
                    <a:p>
                      <a:pPr marL="0" indent="0">
                        <a:lnSpc>
                          <a:spcPts val="2240"/>
                        </a:lnSpc>
                        <a:buNone/>
                      </a:pPr>
                      <a:r>
                        <a:rPr lang="en-US" sz="1600" dirty="0"/>
                        <a:t>Time-window violations</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X</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Y</a:t>
                      </a:r>
                      <a:endParaRPr lang="en-US" sz="1600" dirty="0">
                        <a:latin typeface="Arial" charset="0"/>
                        <a:ea typeface="Arial" charset="0"/>
                        <a:cs typeface="Arial" charset="0"/>
                      </a:endParaRPr>
                    </a:p>
                  </a:txBody>
                  <a:tcPr marL="114300" marR="114300" marT="63500" marB="63500"/>
                </a:tc>
                <a:tc>
                  <a:txBody>
                    <a:bodyPr/>
                    <a:lstStyle/>
                    <a:p>
                      <a:pPr marL="0" indent="0">
                        <a:lnSpc>
                          <a:spcPts val="2240"/>
                        </a:lnSpc>
                        <a:buNone/>
                      </a:pPr>
                      <a:r>
                        <a:rPr lang="en-US" sz="1600" dirty="0"/>
                        <a:t>calculated</a:t>
                      </a:r>
                      <a:endParaRPr lang="en-US" sz="1600" dirty="0">
                        <a:latin typeface="Arial" charset="0"/>
                        <a:ea typeface="Arial" charset="0"/>
                        <a:cs typeface="Arial" charset="0"/>
                      </a:endParaRPr>
                    </a:p>
                  </a:txBody>
                  <a:tcPr marL="114300" marR="114300" marT="63500" marB="63500"/>
                </a:tc>
                <a:extLst>
                  <a:ext uri="{0D108BD9-81ED-4DB2-BD59-A6C34878D82A}">
                    <a16:rowId xmlns:a16="http://schemas.microsoft.com/office/drawing/2014/main" val="10004"/>
                  </a:ext>
                </a:extLst>
              </a:tr>
            </a:tbl>
          </a:graphicData>
        </a:graphic>
      </p:graphicFrame>
      <p:sp>
        <p:nvSpPr>
          <p:cNvPr id="13" name="Text 10"/>
          <p:cNvSpPr/>
          <p:nvPr/>
        </p:nvSpPr>
        <p:spPr>
          <a:xfrm>
            <a:off x="1164110" y="5226400"/>
            <a:ext cx="10883392" cy="231140"/>
          </a:xfrm>
          <a:prstGeom prst="rect">
            <a:avLst/>
          </a:prstGeom>
          <a:noFill/>
          <a:ln/>
        </p:spPr>
        <p:txBody>
          <a:bodyPr wrap="square" lIns="0" tIns="0" rIns="0" bIns="0" rtlCol="0" anchor="t">
            <a:normAutofit/>
          </a:bodyPr>
          <a:lstStyle/>
          <a:p>
            <a:pPr>
              <a:lnSpc>
                <a:spcPts val="1620"/>
              </a:lnSpc>
            </a:pPr>
            <a:r>
              <a:rPr lang="en-US" sz="1400" b="1" dirty="0">
                <a:solidFill>
                  <a:srgbClr val="C8553D"/>
                </a:solidFill>
                <a:latin typeface="Times New Roman" panose="02020603050405020304" pitchFamily="18" charset="0"/>
                <a:ea typeface="Arial" pitchFamily="34" charset="-122"/>
                <a:cs typeface="Times New Roman" panose="02020603050405020304" pitchFamily="18" charset="0"/>
              </a:rPr>
              <a:t>The actual values will come after experiments.</a:t>
            </a:r>
            <a:endParaRPr lang="en-US" sz="1400" dirty="0">
              <a:latin typeface="Times New Roman" panose="02020603050405020304" pitchFamily="18" charset="0"/>
              <a:cs typeface="Times New Roman" panose="02020603050405020304" pitchFamily="18" charset="0"/>
            </a:endParaRPr>
          </a:p>
        </p:txBody>
      </p:sp>
      <p:sp>
        <p:nvSpPr>
          <p:cNvPr id="14" name="Text 11"/>
          <p:cNvSpPr/>
          <p:nvPr/>
        </p:nvSpPr>
        <p:spPr>
          <a:xfrm>
            <a:off x="11209660" y="6782259"/>
            <a:ext cx="220345" cy="238760"/>
          </a:xfrm>
          <a:prstGeom prst="rect">
            <a:avLst/>
          </a:prstGeom>
          <a:noFill/>
          <a:ln/>
        </p:spPr>
        <p:txBody>
          <a:bodyPr wrap="square" lIns="0" tIns="0" rIns="0" bIns="0" rtlCol="0" anchor="t">
            <a:normAutofit/>
          </a:bodyPr>
          <a:lstStyle/>
          <a:p>
            <a:pPr>
              <a:lnSpc>
                <a:spcPts val="1680"/>
              </a:lnSpc>
            </a:pPr>
            <a:r>
              <a:rPr lang="en-US" sz="1400" dirty="0">
                <a:solidFill>
                  <a:srgbClr val="5B6475"/>
                </a:solidFill>
                <a:latin typeface="Times New Roman" panose="02020603050405020304" pitchFamily="18" charset="0"/>
                <a:ea typeface="Arial" pitchFamily="34" charset="-122"/>
                <a:cs typeface="Times New Roman" panose="02020603050405020304" pitchFamily="18" charset="0"/>
              </a:rPr>
              <a:t>26</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850900" y="1236885"/>
            <a:ext cx="0" cy="374333"/>
          </a:xfrm>
          <a:prstGeom prst="line">
            <a:avLst/>
          </a:prstGeom>
          <a:noFill/>
          <a:ln w="76200">
            <a:solidFill>
              <a:schemeClr val="accent1"/>
            </a:solidFill>
            <a:prstDash val="solid"/>
          </a:ln>
        </p:spPr>
      </p:sp>
      <p:sp>
        <p:nvSpPr>
          <p:cNvPr id="3" name="Text 1"/>
          <p:cNvSpPr>
            <a:spLocks noGrp="1"/>
          </p:cNvSpPr>
          <p:nvPr>
            <p:ph type="title"/>
          </p:nvPr>
        </p:nvSpPr>
        <p:spPr>
          <a:xfrm>
            <a:off x="1041403" y="1236888"/>
            <a:ext cx="10647935" cy="399733"/>
          </a:xfrm>
          <a:prstGeom prst="rect">
            <a:avLst/>
          </a:prstGeom>
          <a:noFill/>
          <a:ln/>
        </p:spPr>
        <p:txBody>
          <a:bodyPr vert="horz" wrap="square" lIns="0" tIns="0" rIns="0" bIns="0" rtlCol="0" anchor="t">
            <a:normAutofit/>
          </a:bodyPr>
          <a:lstStyle/>
          <a:p>
            <a:pPr>
              <a:lnSpc>
                <a:spcPts val="2965"/>
              </a:lnSpc>
            </a:pPr>
            <a:r>
              <a:rPr lang="en-US" sz="3200" b="1" dirty="0">
                <a:latin typeface="Times New Roman" panose="02020603050405020304" pitchFamily="18" charset="0"/>
                <a:cs typeface="Times New Roman" panose="02020603050405020304" pitchFamily="18" charset="0"/>
              </a:rPr>
              <a:t>Challenges and Solutions</a:t>
            </a:r>
            <a:endParaRPr lang="en-US" sz="3200" dirty="0">
              <a:latin typeface="Times New Roman" panose="02020603050405020304" pitchFamily="18" charset="0"/>
              <a:cs typeface="Times New Roman" panose="02020603050405020304" pitchFamily="18" charset="0"/>
            </a:endParaRPr>
          </a:p>
        </p:txBody>
      </p:sp>
      <p:graphicFrame>
        <p:nvGraphicFramePr>
          <p:cNvPr id="4" name="Table 0"/>
          <p:cNvGraphicFramePr>
            <a:graphicFrameLocks noGrp="1"/>
          </p:cNvGraphicFramePr>
          <p:nvPr>
            <p:extLst>
              <p:ext uri="{D42A27DB-BD31-4B8C-83A1-F6EECF244321}">
                <p14:modId xmlns:p14="http://schemas.microsoft.com/office/powerpoint/2010/main" val="2758656414"/>
              </p:ext>
            </p:extLst>
          </p:nvPr>
        </p:nvGraphicFramePr>
        <p:xfrm>
          <a:off x="1170199" y="1785660"/>
          <a:ext cx="10705428" cy="4622800"/>
        </p:xfrm>
        <a:graphic>
          <a:graphicData uri="http://schemas.openxmlformats.org/drawingml/2006/table">
            <a:tbl>
              <a:tblPr>
                <a:tableStyleId>{69CF1AB2-1976-4502-BF36-3FF5EA218861}</a:tableStyleId>
              </a:tblPr>
              <a:tblGrid>
                <a:gridCol w="5352714">
                  <a:extLst>
                    <a:ext uri="{9D8B030D-6E8A-4147-A177-3AD203B41FA5}">
                      <a16:colId xmlns:a16="http://schemas.microsoft.com/office/drawing/2014/main" val="20000"/>
                    </a:ext>
                  </a:extLst>
                </a:gridCol>
                <a:gridCol w="5352714">
                  <a:extLst>
                    <a:ext uri="{9D8B030D-6E8A-4147-A177-3AD203B41FA5}">
                      <a16:colId xmlns:a16="http://schemas.microsoft.com/office/drawing/2014/main" val="20001"/>
                    </a:ext>
                  </a:extLst>
                </a:gridCol>
              </a:tblGrid>
              <a:tr h="332752">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Challenge</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solidFill>
                      <a:schemeClr val="accent1"/>
                    </a:solidFill>
                  </a:tcPr>
                </a:tc>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Proposed Solution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solidFill>
                      <a:schemeClr val="accent1"/>
                    </a:solidFill>
                  </a:tcPr>
                </a:tc>
                <a:extLst>
                  <a:ext uri="{0D108BD9-81ED-4DB2-BD59-A6C34878D82A}">
                    <a16:rowId xmlns:a16="http://schemas.microsoft.com/office/drawing/2014/main" val="10000"/>
                  </a:ext>
                </a:extLst>
              </a:tr>
              <a:tr h="332752">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Missing data</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Data validation + imputation where justified</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1"/>
                  </a:ext>
                </a:extLst>
              </a:tr>
              <a:tr h="332752">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Incorrect coordinates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Coordinate validation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2"/>
                  </a:ext>
                </a:extLst>
              </a:tr>
              <a:tr h="332752">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Insufficient ML labels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Alternative ranking/rule-based formulation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3"/>
                  </a:ext>
                </a:extLst>
              </a:tr>
              <a:tr h="332752">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Data privacy</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Anonymization + restricted access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4"/>
                  </a:ext>
                </a:extLst>
              </a:tr>
              <a:tr h="332752">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Changing appointments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Route regeneration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5"/>
                  </a:ext>
                </a:extLst>
              </a:tr>
              <a:tr h="332752">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Traffic variation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Estimated travel-time matrix initially; dynamic API later</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6"/>
                  </a:ext>
                </a:extLst>
              </a:tr>
              <a:tr h="332752">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Model overfitting</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Train/test split + cross-validation</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7"/>
                  </a:ext>
                </a:extLst>
              </a:tr>
              <a:tr h="332752">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Imbalanced priority classes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Class weighting / suitable sampling</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8"/>
                  </a:ext>
                </a:extLst>
              </a:tr>
              <a:tr h="332752">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No agency data</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Approved public/synthetic data for prototype</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9"/>
                  </a:ext>
                </a:extLst>
              </a:tr>
              <a:tr h="332752">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Route infeasibility</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Constraint validation + fallback handling</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10"/>
                  </a:ext>
                </a:extLst>
              </a:tr>
              <a:tr h="332752">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API failure</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Cached/precomputed travel matrix</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11"/>
                  </a:ext>
                </a:extLst>
              </a:tr>
              <a:tr h="332752">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Multiple MRs</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600" dirty="0">
                          <a:latin typeface="Times New Roman" panose="02020603050405020304" pitchFamily="18" charset="0"/>
                          <a:cs typeface="Times New Roman" panose="02020603050405020304" pitchFamily="18" charset="0"/>
                        </a:rPr>
                        <a:t>Multi-vehicle routing architecture</a:t>
                      </a:r>
                      <a:endParaRPr lang="en-US" sz="16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12"/>
                  </a:ext>
                </a:extLst>
              </a:tr>
            </a:tbl>
          </a:graphicData>
        </a:graphic>
      </p:graphicFrame>
      <p:sp>
        <p:nvSpPr>
          <p:cNvPr id="5" name="Text 2"/>
          <p:cNvSpPr/>
          <p:nvPr/>
        </p:nvSpPr>
        <p:spPr>
          <a:xfrm>
            <a:off x="11209660" y="6840128"/>
            <a:ext cx="220345" cy="238760"/>
          </a:xfrm>
          <a:prstGeom prst="rect">
            <a:avLst/>
          </a:prstGeom>
          <a:noFill/>
          <a:ln/>
        </p:spPr>
        <p:txBody>
          <a:bodyPr wrap="square" lIns="0" tIns="0" rIns="0" bIns="0" rtlCol="0" anchor="t">
            <a:normAutofit/>
          </a:bodyPr>
          <a:lstStyle/>
          <a:p>
            <a:pPr>
              <a:lnSpc>
                <a:spcPts val="1680"/>
              </a:lnSpc>
            </a:pPr>
            <a:r>
              <a:rPr lang="en-US" sz="1200" dirty="0">
                <a:solidFill>
                  <a:srgbClr val="5B6475"/>
                </a:solidFill>
                <a:latin typeface="Times New Roman" panose="02020603050405020304" pitchFamily="18" charset="0"/>
                <a:ea typeface="Arial" pitchFamily="34" charset="-122"/>
                <a:cs typeface="Times New Roman" panose="02020603050405020304" pitchFamily="18" charset="0"/>
              </a:rPr>
              <a:t>27</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850900" y="1202163"/>
            <a:ext cx="0" cy="438151"/>
          </a:xfrm>
          <a:prstGeom prst="line">
            <a:avLst/>
          </a:prstGeom>
          <a:noFill/>
          <a:ln w="76200">
            <a:solidFill>
              <a:schemeClr val="accent1"/>
            </a:solidFill>
            <a:prstDash val="solid"/>
          </a:ln>
        </p:spPr>
      </p:sp>
      <p:sp>
        <p:nvSpPr>
          <p:cNvPr id="3" name="Text 1"/>
          <p:cNvSpPr>
            <a:spLocks noGrp="1"/>
          </p:cNvSpPr>
          <p:nvPr>
            <p:ph type="title"/>
          </p:nvPr>
        </p:nvSpPr>
        <p:spPr>
          <a:xfrm>
            <a:off x="1041403" y="1202163"/>
            <a:ext cx="10647935" cy="463551"/>
          </a:xfrm>
          <a:prstGeom prst="rect">
            <a:avLst/>
          </a:prstGeom>
          <a:noFill/>
          <a:ln/>
        </p:spPr>
        <p:txBody>
          <a:bodyPr vert="horz" wrap="square" lIns="0" tIns="0" rIns="0" bIns="0" rtlCol="0" anchor="t">
            <a:normAutofit/>
          </a:bodyPr>
          <a:lstStyle/>
          <a:p>
            <a:pPr>
              <a:lnSpc>
                <a:spcPts val="3451"/>
              </a:lnSpc>
            </a:pPr>
            <a:r>
              <a:rPr lang="en-US" sz="3200" b="1" dirty="0">
                <a:latin typeface="Times New Roman" panose="02020603050405020304" pitchFamily="18" charset="0"/>
                <a:cs typeface="Times New Roman" panose="02020603050405020304" pitchFamily="18" charset="0"/>
              </a:rPr>
              <a:t>Security and Privacy</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1105345" y="2182355"/>
            <a:ext cx="5124451" cy="2622909"/>
          </a:xfrm>
          <a:prstGeom prst="roundRect">
            <a:avLst>
              <a:gd name="adj" fmla="val 4541"/>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5" name="Text 3"/>
          <p:cNvSpPr/>
          <p:nvPr/>
        </p:nvSpPr>
        <p:spPr>
          <a:xfrm>
            <a:off x="1259651" y="2336665"/>
            <a:ext cx="4960315" cy="261620"/>
          </a:xfrm>
          <a:prstGeom prst="rect">
            <a:avLst/>
          </a:prstGeom>
          <a:noFill/>
          <a:ln/>
        </p:spPr>
        <p:txBody>
          <a:bodyPr wrap="square" lIns="0" tIns="0" rIns="0" bIns="0" rtlCol="0" anchor="t">
            <a:normAutofit/>
          </a:bodyPr>
          <a:lstStyle/>
          <a:p>
            <a:pPr>
              <a:lnSpc>
                <a:spcPts val="1860"/>
              </a:lnSpc>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Security</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1259651" y="2850160"/>
            <a:ext cx="4836349" cy="1982277"/>
          </a:xfrm>
          <a:prstGeom prst="rect">
            <a:avLst/>
          </a:prstGeom>
          <a:noFill/>
          <a:ln/>
        </p:spPr>
        <p:txBody>
          <a:bodyPr wrap="square" lIns="0" tIns="0" rIns="0" bIns="0" rtlCol="0" anchor="t">
            <a:normAutofit/>
          </a:bodyPr>
          <a:lstStyle/>
          <a:p>
            <a:pPr>
              <a:lnSpc>
                <a:spcPts val="1891"/>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Role-based access · Password hashing · API authentication</a:t>
            </a:r>
          </a:p>
          <a:p>
            <a:pPr>
              <a:lnSpc>
                <a:spcPts val="1891"/>
              </a:lnSpc>
            </a:pPr>
            <a:endParaRPr lang="en-US" sz="1400" dirty="0">
              <a:solidFill>
                <a:srgbClr val="1F2A44"/>
              </a:solidFill>
              <a:latin typeface="Times New Roman" panose="02020603050405020304" pitchFamily="18" charset="0"/>
              <a:ea typeface="Arial" pitchFamily="34" charset="-122"/>
              <a:cs typeface="Times New Roman" panose="02020603050405020304" pitchFamily="18" charset="0"/>
            </a:endParaRPr>
          </a:p>
          <a:p>
            <a:pPr>
              <a:lnSpc>
                <a:spcPts val="1891"/>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Input validation · Restricted database access</a:t>
            </a:r>
          </a:p>
          <a:p>
            <a:pPr>
              <a:lnSpc>
                <a:spcPts val="1891"/>
              </a:lnSpc>
            </a:pPr>
            <a:endParaRPr lang="en-US" sz="1400" dirty="0">
              <a:solidFill>
                <a:srgbClr val="1F2A44"/>
              </a:solidFill>
              <a:latin typeface="Times New Roman" panose="02020603050405020304" pitchFamily="18" charset="0"/>
              <a:ea typeface="Arial" pitchFamily="34" charset="-122"/>
              <a:cs typeface="Times New Roman" panose="02020603050405020304" pitchFamily="18" charset="0"/>
            </a:endParaRPr>
          </a:p>
          <a:p>
            <a:pPr>
              <a:lnSpc>
                <a:spcPts val="1891"/>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Secure configuration/secrets</a:t>
            </a:r>
            <a:endParaRPr lang="en-US" sz="1400" dirty="0">
              <a:latin typeface="Times New Roman" panose="02020603050405020304" pitchFamily="18" charset="0"/>
              <a:cs typeface="Times New Roman" panose="02020603050405020304" pitchFamily="18" charset="0"/>
            </a:endParaRPr>
          </a:p>
        </p:txBody>
      </p:sp>
      <p:sp>
        <p:nvSpPr>
          <p:cNvPr id="7" name="Shape 5"/>
          <p:cNvSpPr/>
          <p:nvPr/>
        </p:nvSpPr>
        <p:spPr>
          <a:xfrm>
            <a:off x="6540945" y="2182356"/>
            <a:ext cx="5124451" cy="2622908"/>
          </a:xfrm>
          <a:prstGeom prst="roundRect">
            <a:avLst>
              <a:gd name="adj" fmla="val 4541"/>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8" name="Text 6"/>
          <p:cNvSpPr/>
          <p:nvPr/>
        </p:nvSpPr>
        <p:spPr>
          <a:xfrm>
            <a:off x="6695253" y="2336665"/>
            <a:ext cx="4960315" cy="261620"/>
          </a:xfrm>
          <a:prstGeom prst="rect">
            <a:avLst/>
          </a:prstGeom>
          <a:noFill/>
          <a:ln/>
        </p:spPr>
        <p:txBody>
          <a:bodyPr wrap="square" lIns="0" tIns="0" rIns="0" bIns="0" rtlCol="0" anchor="t">
            <a:normAutofit/>
          </a:bodyPr>
          <a:lstStyle/>
          <a:p>
            <a:pPr>
              <a:lnSpc>
                <a:spcPts val="1860"/>
              </a:lnSpc>
            </a:pPr>
            <a:r>
              <a:rPr lang="en-US" sz="1600" b="1" dirty="0">
                <a:solidFill>
                  <a:srgbClr val="1F2A44"/>
                </a:solidFill>
                <a:latin typeface="Times New Roman" panose="02020603050405020304" pitchFamily="18" charset="0"/>
                <a:ea typeface="Arial" pitchFamily="34" charset="-122"/>
                <a:cs typeface="Times New Roman" panose="02020603050405020304" pitchFamily="18" charset="0"/>
              </a:rPr>
              <a:t>Privacy</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6689144" y="2843216"/>
            <a:ext cx="4828052" cy="1962048"/>
          </a:xfrm>
          <a:prstGeom prst="rect">
            <a:avLst/>
          </a:prstGeom>
          <a:noFill/>
          <a:ln/>
        </p:spPr>
        <p:txBody>
          <a:bodyPr wrap="square" lIns="0" tIns="0" rIns="0" bIns="0" rtlCol="0" anchor="t">
            <a:normAutofit/>
          </a:bodyPr>
          <a:lstStyle/>
          <a:p>
            <a:pPr>
              <a:lnSpc>
                <a:spcPts val="1891"/>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We do not require patient medical records for the core system.</a:t>
            </a:r>
          </a:p>
          <a:p>
            <a:pPr>
              <a:lnSpc>
                <a:spcPts val="1891"/>
              </a:lnSpc>
            </a:pPr>
            <a:endParaRPr lang="en-US" sz="1400" dirty="0">
              <a:solidFill>
                <a:srgbClr val="1F2A44"/>
              </a:solidFill>
              <a:latin typeface="Times New Roman" panose="02020603050405020304" pitchFamily="18" charset="0"/>
              <a:ea typeface="Arial" pitchFamily="34" charset="-122"/>
              <a:cs typeface="Times New Roman" panose="02020603050405020304" pitchFamily="18" charset="0"/>
            </a:endParaRPr>
          </a:p>
          <a:p>
            <a:pPr>
              <a:lnSpc>
                <a:spcPts val="1891"/>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Use Doctor ID → D001, MR ID → MR007</a:t>
            </a:r>
          </a:p>
          <a:p>
            <a:pPr>
              <a:lnSpc>
                <a:spcPts val="1891"/>
              </a:lnSpc>
            </a:pPr>
            <a:endParaRPr lang="en-US" sz="1400" dirty="0">
              <a:solidFill>
                <a:srgbClr val="1F2A44"/>
              </a:solidFill>
              <a:latin typeface="Times New Roman" panose="02020603050405020304" pitchFamily="18" charset="0"/>
              <a:ea typeface="Arial" pitchFamily="34" charset="-122"/>
              <a:cs typeface="Times New Roman" panose="02020603050405020304" pitchFamily="18" charset="0"/>
            </a:endParaRPr>
          </a:p>
          <a:p>
            <a:pPr>
              <a:lnSpc>
                <a:spcPts val="1891"/>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rather than unnecessary personally identifiable information.</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1102170" y="3717157"/>
            <a:ext cx="10883392" cy="248285"/>
          </a:xfrm>
          <a:prstGeom prst="rect">
            <a:avLst/>
          </a:prstGeom>
          <a:noFill/>
          <a:ln/>
        </p:spPr>
        <p:txBody>
          <a:bodyPr wrap="square" lIns="0" tIns="0" rIns="0" bIns="0" rtlCol="0" anchor="t">
            <a:normAutofit/>
          </a:bodyPr>
          <a:lstStyle/>
          <a:p>
            <a:pPr>
              <a:lnSpc>
                <a:spcPts val="1755"/>
              </a:lnSpc>
            </a:pP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11209660" y="6805403"/>
            <a:ext cx="220345" cy="238760"/>
          </a:xfrm>
          <a:prstGeom prst="rect">
            <a:avLst/>
          </a:prstGeom>
          <a:noFill/>
          <a:ln/>
        </p:spPr>
        <p:txBody>
          <a:bodyPr wrap="square" lIns="0" tIns="0" rIns="0" bIns="0" rtlCol="0" anchor="t">
            <a:normAutofit/>
          </a:bodyPr>
          <a:lstStyle/>
          <a:p>
            <a:pPr>
              <a:lnSpc>
                <a:spcPts val="1680"/>
              </a:lnSpc>
            </a:pPr>
            <a:r>
              <a:rPr lang="en-US" sz="1400" dirty="0">
                <a:solidFill>
                  <a:srgbClr val="5B6475"/>
                </a:solidFill>
                <a:latin typeface="Times New Roman" panose="02020603050405020304" pitchFamily="18" charset="0"/>
                <a:ea typeface="Arial" pitchFamily="34" charset="-122"/>
                <a:cs typeface="Times New Roman" panose="02020603050405020304" pitchFamily="18" charset="0"/>
              </a:rPr>
              <a:t>28</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850900" y="1190592"/>
            <a:ext cx="0" cy="438151"/>
          </a:xfrm>
          <a:prstGeom prst="line">
            <a:avLst/>
          </a:prstGeom>
          <a:noFill/>
          <a:ln w="76200">
            <a:solidFill>
              <a:schemeClr val="accent1"/>
            </a:solidFill>
            <a:prstDash val="solid"/>
          </a:ln>
        </p:spPr>
      </p:sp>
      <p:sp>
        <p:nvSpPr>
          <p:cNvPr id="3" name="Text 1"/>
          <p:cNvSpPr>
            <a:spLocks noGrp="1"/>
          </p:cNvSpPr>
          <p:nvPr>
            <p:ph type="title"/>
          </p:nvPr>
        </p:nvSpPr>
        <p:spPr>
          <a:xfrm>
            <a:off x="1041403" y="1190592"/>
            <a:ext cx="10647935" cy="463551"/>
          </a:xfrm>
          <a:prstGeom prst="rect">
            <a:avLst/>
          </a:prstGeom>
          <a:noFill/>
          <a:ln/>
        </p:spPr>
        <p:txBody>
          <a:bodyPr vert="horz" wrap="square" lIns="0" tIns="0" rIns="0" bIns="0" rtlCol="0" anchor="t">
            <a:normAutofit/>
          </a:bodyPr>
          <a:lstStyle/>
          <a:p>
            <a:pPr>
              <a:lnSpc>
                <a:spcPts val="3451"/>
              </a:lnSpc>
            </a:pPr>
            <a:r>
              <a:rPr lang="en-US" sz="3200" b="1" dirty="0">
                <a:latin typeface="Times New Roman" panose="02020603050405020304" pitchFamily="18" charset="0"/>
                <a:cs typeface="Times New Roman" panose="02020603050405020304" pitchFamily="18" charset="0"/>
              </a:rPr>
              <a:t>Limitations</a:t>
            </a:r>
            <a:endParaRPr lang="en-US" sz="3200" dirty="0">
              <a:latin typeface="Times New Roman" panose="02020603050405020304" pitchFamily="18" charset="0"/>
              <a:cs typeface="Times New Roman" panose="02020603050405020304" pitchFamily="18" charset="0"/>
            </a:endParaRPr>
          </a:p>
        </p:txBody>
      </p:sp>
      <p:sp>
        <p:nvSpPr>
          <p:cNvPr id="4" name="Text 2"/>
          <p:cNvSpPr/>
          <p:nvPr/>
        </p:nvSpPr>
        <p:spPr>
          <a:xfrm>
            <a:off x="1213601" y="2063434"/>
            <a:ext cx="10799064" cy="4281382"/>
          </a:xfrm>
          <a:prstGeom prst="rect">
            <a:avLst/>
          </a:prstGeom>
          <a:noFill/>
          <a:ln/>
        </p:spPr>
        <p:txBody>
          <a:bodyPr wrap="square" lIns="0" tIns="0" rIns="0" bIns="0" rtlCol="0" anchor="t">
            <a:normAutofit/>
          </a:bodyPr>
          <a:lstStyle/>
          <a:p>
            <a:pPr marL="177288" indent="-177288">
              <a:lnSpc>
                <a:spcPts val="2400"/>
              </a:lnSpc>
              <a:buSzPct val="100000"/>
              <a:buChar char="•"/>
            </a:pPr>
            <a:r>
              <a:rPr lang="en-US" dirty="0">
                <a:solidFill>
                  <a:srgbClr val="1F2A44"/>
                </a:solidFill>
                <a:latin typeface="Times New Roman" panose="02020603050405020304" pitchFamily="18" charset="0"/>
                <a:ea typeface="Arial" pitchFamily="34" charset="-122"/>
                <a:cs typeface="Times New Roman" panose="02020603050405020304" pitchFamily="18" charset="0"/>
              </a:rPr>
              <a:t>Quality of ML predictions depends on available historical data.</a:t>
            </a:r>
            <a:endParaRPr lang="en-US" dirty="0">
              <a:latin typeface="Times New Roman" panose="02020603050405020304" pitchFamily="18" charset="0"/>
              <a:cs typeface="Times New Roman" panose="02020603050405020304" pitchFamily="18" charset="0"/>
            </a:endParaRPr>
          </a:p>
          <a:p>
            <a:pPr marL="177288" indent="-177288">
              <a:lnSpc>
                <a:spcPts val="2400"/>
              </a:lnSpc>
              <a:buSzPct val="100000"/>
              <a:buChar char="•"/>
            </a:pPr>
            <a:endParaRPr lang="en-US" dirty="0">
              <a:solidFill>
                <a:srgbClr val="1F2A44"/>
              </a:solidFill>
              <a:latin typeface="Times New Roman" panose="02020603050405020304" pitchFamily="18" charset="0"/>
              <a:ea typeface="Arial" pitchFamily="34" charset="-122"/>
              <a:cs typeface="Times New Roman" panose="02020603050405020304" pitchFamily="18" charset="0"/>
            </a:endParaRPr>
          </a:p>
          <a:p>
            <a:pPr marL="177288" indent="-177288">
              <a:lnSpc>
                <a:spcPts val="2400"/>
              </a:lnSpc>
              <a:buSzPct val="100000"/>
              <a:buChar char="•"/>
            </a:pPr>
            <a:r>
              <a:rPr lang="en-US" dirty="0">
                <a:solidFill>
                  <a:srgbClr val="1F2A44"/>
                </a:solidFill>
                <a:latin typeface="Times New Roman" panose="02020603050405020304" pitchFamily="18" charset="0"/>
                <a:ea typeface="Arial" pitchFamily="34" charset="-122"/>
                <a:cs typeface="Times New Roman" panose="02020603050405020304" pitchFamily="18" charset="0"/>
              </a:rPr>
              <a:t>Initial system may use estimated travel times rather than live traffic.</a:t>
            </a:r>
            <a:endParaRPr lang="en-US" dirty="0">
              <a:latin typeface="Times New Roman" panose="02020603050405020304" pitchFamily="18" charset="0"/>
              <a:cs typeface="Times New Roman" panose="02020603050405020304" pitchFamily="18" charset="0"/>
            </a:endParaRPr>
          </a:p>
          <a:p>
            <a:pPr marL="177288" indent="-177288">
              <a:lnSpc>
                <a:spcPts val="2400"/>
              </a:lnSpc>
              <a:buSzPct val="100000"/>
              <a:buChar char="•"/>
            </a:pPr>
            <a:endParaRPr lang="en-US" dirty="0">
              <a:solidFill>
                <a:srgbClr val="1F2A44"/>
              </a:solidFill>
              <a:latin typeface="Times New Roman" panose="02020603050405020304" pitchFamily="18" charset="0"/>
              <a:ea typeface="Arial" pitchFamily="34" charset="-122"/>
              <a:cs typeface="Times New Roman" panose="02020603050405020304" pitchFamily="18" charset="0"/>
            </a:endParaRPr>
          </a:p>
          <a:p>
            <a:pPr marL="177288" indent="-177288">
              <a:lnSpc>
                <a:spcPts val="2400"/>
              </a:lnSpc>
              <a:buSzPct val="100000"/>
              <a:buChar char="•"/>
            </a:pPr>
            <a:r>
              <a:rPr lang="en-US" dirty="0">
                <a:solidFill>
                  <a:srgbClr val="1F2A44"/>
                </a:solidFill>
                <a:latin typeface="Times New Roman" panose="02020603050405020304" pitchFamily="18" charset="0"/>
                <a:ea typeface="Arial" pitchFamily="34" charset="-122"/>
                <a:cs typeface="Times New Roman" panose="02020603050405020304" pitchFamily="18" charset="0"/>
              </a:rPr>
              <a:t>Dynamic changes may require route regeneration.</a:t>
            </a:r>
            <a:endParaRPr lang="en-US" dirty="0">
              <a:latin typeface="Times New Roman" panose="02020603050405020304" pitchFamily="18" charset="0"/>
              <a:cs typeface="Times New Roman" panose="02020603050405020304" pitchFamily="18" charset="0"/>
            </a:endParaRPr>
          </a:p>
          <a:p>
            <a:pPr marL="177288" indent="-177288">
              <a:lnSpc>
                <a:spcPts val="2400"/>
              </a:lnSpc>
              <a:buSzPct val="100000"/>
              <a:buChar char="•"/>
            </a:pPr>
            <a:endParaRPr lang="en-US" dirty="0">
              <a:solidFill>
                <a:srgbClr val="1F2A44"/>
              </a:solidFill>
              <a:latin typeface="Times New Roman" panose="02020603050405020304" pitchFamily="18" charset="0"/>
              <a:ea typeface="Arial" pitchFamily="34" charset="-122"/>
              <a:cs typeface="Times New Roman" panose="02020603050405020304" pitchFamily="18" charset="0"/>
            </a:endParaRPr>
          </a:p>
          <a:p>
            <a:pPr marL="177288" indent="-177288">
              <a:lnSpc>
                <a:spcPts val="2400"/>
              </a:lnSpc>
              <a:buSzPct val="100000"/>
              <a:buChar char="•"/>
            </a:pPr>
            <a:r>
              <a:rPr lang="en-US" dirty="0">
                <a:solidFill>
                  <a:srgbClr val="1F2A44"/>
                </a:solidFill>
                <a:latin typeface="Times New Roman" panose="02020603050405020304" pitchFamily="18" charset="0"/>
                <a:ea typeface="Arial" pitchFamily="34" charset="-122"/>
                <a:cs typeface="Times New Roman" panose="02020603050405020304" pitchFamily="18" charset="0"/>
              </a:rPr>
              <a:t>Initial prototype may focus on a limited territory.</a:t>
            </a:r>
            <a:endParaRPr lang="en-US" dirty="0">
              <a:latin typeface="Times New Roman" panose="02020603050405020304" pitchFamily="18" charset="0"/>
              <a:cs typeface="Times New Roman" panose="02020603050405020304" pitchFamily="18" charset="0"/>
            </a:endParaRPr>
          </a:p>
          <a:p>
            <a:pPr marL="177288" indent="-177288">
              <a:lnSpc>
                <a:spcPts val="2400"/>
              </a:lnSpc>
              <a:buSzPct val="100000"/>
              <a:buChar char="•"/>
            </a:pPr>
            <a:endParaRPr lang="en-US" dirty="0">
              <a:solidFill>
                <a:srgbClr val="1F2A44"/>
              </a:solidFill>
              <a:latin typeface="Times New Roman" panose="02020603050405020304" pitchFamily="18" charset="0"/>
              <a:ea typeface="Arial" pitchFamily="34" charset="-122"/>
              <a:cs typeface="Times New Roman" panose="02020603050405020304" pitchFamily="18" charset="0"/>
            </a:endParaRPr>
          </a:p>
          <a:p>
            <a:pPr marL="177288" indent="-177288">
              <a:lnSpc>
                <a:spcPts val="2400"/>
              </a:lnSpc>
              <a:buSzPct val="100000"/>
              <a:buChar char="•"/>
            </a:pPr>
            <a:r>
              <a:rPr lang="en-US" dirty="0">
                <a:solidFill>
                  <a:srgbClr val="1F2A44"/>
                </a:solidFill>
                <a:latin typeface="Times New Roman" panose="02020603050405020304" pitchFamily="18" charset="0"/>
                <a:ea typeface="Arial" pitchFamily="34" charset="-122"/>
                <a:cs typeface="Times New Roman" panose="02020603050405020304" pitchFamily="18" charset="0"/>
              </a:rPr>
              <a:t>Commercial CRM integration may not be included in the academic prototype.</a:t>
            </a:r>
            <a:endParaRPr lang="en-US" dirty="0">
              <a:latin typeface="Times New Roman" panose="02020603050405020304" pitchFamily="18" charset="0"/>
              <a:cs typeface="Times New Roman" panose="02020603050405020304" pitchFamily="18" charset="0"/>
            </a:endParaRPr>
          </a:p>
          <a:p>
            <a:pPr marL="177288" indent="-177288">
              <a:lnSpc>
                <a:spcPts val="2400"/>
              </a:lnSpc>
              <a:buSzPct val="100000"/>
              <a:buChar char="•"/>
            </a:pPr>
            <a:endParaRPr lang="en-US" dirty="0">
              <a:solidFill>
                <a:srgbClr val="1F2A44"/>
              </a:solidFill>
              <a:latin typeface="Times New Roman" panose="02020603050405020304" pitchFamily="18" charset="0"/>
              <a:ea typeface="Arial" pitchFamily="34" charset="-122"/>
              <a:cs typeface="Times New Roman" panose="02020603050405020304" pitchFamily="18" charset="0"/>
            </a:endParaRPr>
          </a:p>
          <a:p>
            <a:pPr marL="177288" indent="-177288">
              <a:lnSpc>
                <a:spcPts val="2400"/>
              </a:lnSpc>
              <a:buSzPct val="100000"/>
              <a:buChar char="•"/>
            </a:pPr>
            <a:r>
              <a:rPr lang="en-US" dirty="0">
                <a:solidFill>
                  <a:srgbClr val="1F2A44"/>
                </a:solidFill>
                <a:latin typeface="Times New Roman" panose="02020603050405020304" pitchFamily="18" charset="0"/>
                <a:ea typeface="Arial" pitchFamily="34" charset="-122"/>
                <a:cs typeface="Times New Roman" panose="02020603050405020304" pitchFamily="18" charset="0"/>
              </a:rPr>
              <a:t>Model performance must be validated using actual experimental data.</a:t>
            </a:r>
            <a:endParaRPr lang="en-US" dirty="0">
              <a:latin typeface="Times New Roman" panose="02020603050405020304" pitchFamily="18" charset="0"/>
              <a:cs typeface="Times New Roman" panose="02020603050405020304" pitchFamily="18" charset="0"/>
            </a:endParaRPr>
          </a:p>
        </p:txBody>
      </p:sp>
      <p:sp>
        <p:nvSpPr>
          <p:cNvPr id="5" name="Text 3"/>
          <p:cNvSpPr/>
          <p:nvPr/>
        </p:nvSpPr>
        <p:spPr>
          <a:xfrm>
            <a:off x="11209660" y="6793832"/>
            <a:ext cx="220345" cy="238760"/>
          </a:xfrm>
          <a:prstGeom prst="rect">
            <a:avLst/>
          </a:prstGeom>
          <a:noFill/>
          <a:ln/>
        </p:spPr>
        <p:txBody>
          <a:bodyPr wrap="square" lIns="0" tIns="0" rIns="0" bIns="0" rtlCol="0" anchor="t">
            <a:normAutofit/>
          </a:bodyPr>
          <a:lstStyle/>
          <a:p>
            <a:pPr>
              <a:lnSpc>
                <a:spcPts val="1680"/>
              </a:lnSpc>
            </a:pPr>
            <a:r>
              <a:rPr lang="en-US" sz="1400" dirty="0">
                <a:solidFill>
                  <a:srgbClr val="5B6475"/>
                </a:solidFill>
                <a:latin typeface="Times New Roman" panose="02020603050405020304" pitchFamily="18" charset="0"/>
                <a:ea typeface="Arial" pitchFamily="34" charset="-122"/>
                <a:cs typeface="Times New Roman" panose="02020603050405020304" pitchFamily="18" charset="0"/>
              </a:rPr>
              <a:t>29</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862475" y="1213734"/>
            <a:ext cx="0" cy="438151"/>
          </a:xfrm>
          <a:prstGeom prst="line">
            <a:avLst/>
          </a:prstGeom>
          <a:noFill/>
          <a:ln w="76200">
            <a:solidFill>
              <a:schemeClr val="accent1"/>
            </a:solidFill>
            <a:prstDash val="solid"/>
          </a:ln>
        </p:spPr>
      </p:sp>
      <p:sp>
        <p:nvSpPr>
          <p:cNvPr id="3" name="Text 1"/>
          <p:cNvSpPr>
            <a:spLocks noGrp="1"/>
          </p:cNvSpPr>
          <p:nvPr>
            <p:ph type="title"/>
          </p:nvPr>
        </p:nvSpPr>
        <p:spPr>
          <a:xfrm>
            <a:off x="1052978" y="1213734"/>
            <a:ext cx="10647935" cy="463551"/>
          </a:xfrm>
          <a:prstGeom prst="rect">
            <a:avLst/>
          </a:prstGeom>
          <a:noFill/>
          <a:ln/>
        </p:spPr>
        <p:txBody>
          <a:bodyPr vert="horz" wrap="square" lIns="0" tIns="0" rIns="0" bIns="0" rtlCol="0" anchor="t">
            <a:normAutofit/>
          </a:bodyPr>
          <a:lstStyle/>
          <a:p>
            <a:pPr>
              <a:lnSpc>
                <a:spcPts val="3451"/>
              </a:lnSpc>
            </a:pPr>
            <a:r>
              <a:rPr lang="en-US" sz="3200" b="1" dirty="0">
                <a:latin typeface="Times New Roman" panose="02020603050405020304" pitchFamily="18" charset="0"/>
                <a:cs typeface="Times New Roman" panose="02020603050405020304" pitchFamily="18" charset="0"/>
              </a:rPr>
              <a:t>Future Scope</a:t>
            </a:r>
            <a:endParaRPr lang="en-US" sz="3200" dirty="0">
              <a:latin typeface="Times New Roman" panose="02020603050405020304" pitchFamily="18" charset="0"/>
              <a:cs typeface="Times New Roman" panose="02020603050405020304" pitchFamily="18" charset="0"/>
            </a:endParaRPr>
          </a:p>
        </p:txBody>
      </p:sp>
      <p:sp>
        <p:nvSpPr>
          <p:cNvPr id="4" name="Text 2"/>
          <p:cNvSpPr/>
          <p:nvPr/>
        </p:nvSpPr>
        <p:spPr>
          <a:xfrm>
            <a:off x="1183661" y="2051292"/>
            <a:ext cx="3901523" cy="3592973"/>
          </a:xfrm>
          <a:prstGeom prst="rect">
            <a:avLst/>
          </a:prstGeom>
          <a:noFill/>
          <a:ln/>
        </p:spPr>
        <p:txBody>
          <a:bodyPr wrap="square" lIns="0" tIns="0" rIns="0" bIns="0" rtlCol="0" anchor="t">
            <a:noAutofit/>
          </a:bodyPr>
          <a:lstStyle/>
          <a:p>
            <a:pPr marL="170176" indent="-170176">
              <a:lnSpc>
                <a:spcPts val="2251"/>
              </a:lnSpc>
              <a:buSzPct val="100000"/>
              <a:buChar char="•"/>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Real-time GPS tracking</a:t>
            </a:r>
            <a:endParaRPr lang="en-US" b="1" dirty="0">
              <a:latin typeface="Times New Roman" panose="02020603050405020304" pitchFamily="18" charset="0"/>
              <a:cs typeface="Times New Roman" panose="02020603050405020304" pitchFamily="18" charset="0"/>
            </a:endParaRPr>
          </a:p>
          <a:p>
            <a:pPr marL="170176" indent="-170176">
              <a:lnSpc>
                <a:spcPts val="2251"/>
              </a:lnSpc>
              <a:buSzPct val="100000"/>
              <a:buChar char="•"/>
            </a:pPr>
            <a:endParaRPr lang="en-US" b="1" dirty="0">
              <a:solidFill>
                <a:srgbClr val="1F2A44"/>
              </a:solidFill>
              <a:latin typeface="Times New Roman" panose="02020603050405020304" pitchFamily="18" charset="0"/>
              <a:ea typeface="Arial" pitchFamily="34" charset="-122"/>
              <a:cs typeface="Times New Roman" panose="02020603050405020304" pitchFamily="18" charset="0"/>
            </a:endParaRPr>
          </a:p>
          <a:p>
            <a:pPr marL="170176" indent="-170176">
              <a:lnSpc>
                <a:spcPts val="2251"/>
              </a:lnSpc>
              <a:buSzPct val="100000"/>
              <a:buChar char="•"/>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Live traffic integration</a:t>
            </a:r>
            <a:endParaRPr lang="en-US" b="1" dirty="0">
              <a:latin typeface="Times New Roman" panose="02020603050405020304" pitchFamily="18" charset="0"/>
              <a:cs typeface="Times New Roman" panose="02020603050405020304" pitchFamily="18" charset="0"/>
            </a:endParaRPr>
          </a:p>
          <a:p>
            <a:pPr marL="170176" indent="-170176">
              <a:lnSpc>
                <a:spcPts val="2251"/>
              </a:lnSpc>
              <a:buSzPct val="100000"/>
              <a:buChar char="•"/>
            </a:pPr>
            <a:endParaRPr lang="en-US" b="1" dirty="0">
              <a:solidFill>
                <a:srgbClr val="1F2A44"/>
              </a:solidFill>
              <a:latin typeface="Times New Roman" panose="02020603050405020304" pitchFamily="18" charset="0"/>
              <a:ea typeface="Arial" pitchFamily="34" charset="-122"/>
              <a:cs typeface="Times New Roman" panose="02020603050405020304" pitchFamily="18" charset="0"/>
            </a:endParaRPr>
          </a:p>
          <a:p>
            <a:pPr marL="170176" indent="-170176">
              <a:lnSpc>
                <a:spcPts val="2251"/>
              </a:lnSpc>
              <a:buSzPct val="100000"/>
              <a:buChar char="•"/>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Dynamic route re-optimization</a:t>
            </a:r>
            <a:endParaRPr lang="en-US" b="1" dirty="0">
              <a:latin typeface="Times New Roman" panose="02020603050405020304" pitchFamily="18" charset="0"/>
              <a:cs typeface="Times New Roman" panose="02020603050405020304" pitchFamily="18" charset="0"/>
            </a:endParaRPr>
          </a:p>
          <a:p>
            <a:pPr marL="170176" indent="-170176">
              <a:lnSpc>
                <a:spcPts val="2251"/>
              </a:lnSpc>
              <a:buSzPct val="100000"/>
              <a:buChar char="•"/>
            </a:pPr>
            <a:endParaRPr lang="en-US" b="1" dirty="0">
              <a:solidFill>
                <a:srgbClr val="1F2A44"/>
              </a:solidFill>
              <a:latin typeface="Times New Roman" panose="02020603050405020304" pitchFamily="18" charset="0"/>
              <a:ea typeface="Arial" pitchFamily="34" charset="-122"/>
              <a:cs typeface="Times New Roman" panose="02020603050405020304" pitchFamily="18" charset="0"/>
            </a:endParaRPr>
          </a:p>
          <a:p>
            <a:pPr marL="170176" indent="-170176">
              <a:lnSpc>
                <a:spcPts val="2251"/>
              </a:lnSpc>
              <a:buSzPct val="100000"/>
              <a:buChar char="•"/>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Mobile application</a:t>
            </a:r>
            <a:endParaRPr lang="en-US" b="1" dirty="0">
              <a:latin typeface="Times New Roman" panose="02020603050405020304" pitchFamily="18" charset="0"/>
              <a:cs typeface="Times New Roman" panose="02020603050405020304" pitchFamily="18" charset="0"/>
            </a:endParaRPr>
          </a:p>
          <a:p>
            <a:pPr marL="170176" indent="-170176">
              <a:lnSpc>
                <a:spcPts val="2251"/>
              </a:lnSpc>
              <a:buSzPct val="100000"/>
              <a:buChar char="•"/>
            </a:pPr>
            <a:endParaRPr lang="en-US" b="1" dirty="0">
              <a:solidFill>
                <a:srgbClr val="1F2A44"/>
              </a:solidFill>
              <a:latin typeface="Times New Roman" panose="02020603050405020304" pitchFamily="18" charset="0"/>
              <a:ea typeface="Arial" pitchFamily="34" charset="-122"/>
              <a:cs typeface="Times New Roman" panose="02020603050405020304" pitchFamily="18" charset="0"/>
            </a:endParaRPr>
          </a:p>
          <a:p>
            <a:pPr marL="170176" indent="-170176">
              <a:lnSpc>
                <a:spcPts val="2251"/>
              </a:lnSpc>
              <a:buSzPct val="100000"/>
              <a:buChar char="•"/>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Multiple-city deployment</a:t>
            </a:r>
            <a:endParaRPr lang="en-US" b="1" dirty="0">
              <a:latin typeface="Times New Roman" panose="02020603050405020304" pitchFamily="18" charset="0"/>
              <a:cs typeface="Times New Roman" panose="02020603050405020304" pitchFamily="18" charset="0"/>
            </a:endParaRPr>
          </a:p>
          <a:p>
            <a:pPr marL="170176" indent="-170176">
              <a:lnSpc>
                <a:spcPts val="2251"/>
              </a:lnSpc>
              <a:buSzPct val="100000"/>
              <a:buChar char="•"/>
            </a:pPr>
            <a:endParaRPr lang="en-US" b="1" dirty="0">
              <a:solidFill>
                <a:srgbClr val="1F2A44"/>
              </a:solidFill>
              <a:latin typeface="Times New Roman" panose="02020603050405020304" pitchFamily="18" charset="0"/>
              <a:ea typeface="Arial" pitchFamily="34" charset="-122"/>
              <a:cs typeface="Times New Roman" panose="02020603050405020304" pitchFamily="18" charset="0"/>
            </a:endParaRPr>
          </a:p>
          <a:p>
            <a:pPr marL="170176" indent="-170176">
              <a:lnSpc>
                <a:spcPts val="2251"/>
              </a:lnSpc>
              <a:buSzPct val="100000"/>
              <a:buChar char="•"/>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Multiple-MR optimization</a:t>
            </a:r>
            <a:endParaRPr lang="en-US" b="1" dirty="0">
              <a:latin typeface="Times New Roman" panose="02020603050405020304" pitchFamily="18" charset="0"/>
              <a:cs typeface="Times New Roman" panose="02020603050405020304" pitchFamily="18" charset="0"/>
            </a:endParaRPr>
          </a:p>
        </p:txBody>
      </p:sp>
      <p:sp>
        <p:nvSpPr>
          <p:cNvPr id="5" name="Text 3"/>
          <p:cNvSpPr/>
          <p:nvPr/>
        </p:nvSpPr>
        <p:spPr>
          <a:xfrm>
            <a:off x="5341495" y="2051293"/>
            <a:ext cx="5193284" cy="3592972"/>
          </a:xfrm>
          <a:prstGeom prst="rect">
            <a:avLst/>
          </a:prstGeom>
          <a:noFill/>
          <a:ln/>
        </p:spPr>
        <p:txBody>
          <a:bodyPr wrap="square" lIns="0" tIns="0" rIns="0" bIns="0" rtlCol="0" anchor="t">
            <a:noAutofit/>
          </a:bodyPr>
          <a:lstStyle/>
          <a:p>
            <a:pPr marL="170176" indent="-170176">
              <a:lnSpc>
                <a:spcPts val="2251"/>
              </a:lnSpc>
              <a:buSzPct val="100000"/>
              <a:buChar char="•"/>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CRM integration</a:t>
            </a:r>
          </a:p>
          <a:p>
            <a:pPr marL="170176" indent="-170176">
              <a:lnSpc>
                <a:spcPts val="2251"/>
              </a:lnSpc>
              <a:buSzPct val="100000"/>
              <a:buChar char="•"/>
            </a:pPr>
            <a:endParaRPr lang="en-US" b="1" dirty="0">
              <a:latin typeface="Times New Roman" panose="02020603050405020304" pitchFamily="18" charset="0"/>
              <a:cs typeface="Times New Roman" panose="02020603050405020304" pitchFamily="18" charset="0"/>
            </a:endParaRPr>
          </a:p>
          <a:p>
            <a:pPr marL="170176" indent="-170176">
              <a:lnSpc>
                <a:spcPts val="2251"/>
              </a:lnSpc>
              <a:buSzPct val="100000"/>
              <a:buChar char="•"/>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Automatic appointment rescheduling</a:t>
            </a:r>
            <a:endParaRPr lang="en-US" b="1" dirty="0">
              <a:latin typeface="Times New Roman" panose="02020603050405020304" pitchFamily="18" charset="0"/>
              <a:cs typeface="Times New Roman" panose="02020603050405020304" pitchFamily="18" charset="0"/>
            </a:endParaRPr>
          </a:p>
          <a:p>
            <a:pPr marL="170176" indent="-170176">
              <a:lnSpc>
                <a:spcPts val="2251"/>
              </a:lnSpc>
              <a:buSzPct val="100000"/>
              <a:buChar char="•"/>
            </a:pPr>
            <a:endParaRPr lang="en-US" b="1" dirty="0">
              <a:solidFill>
                <a:srgbClr val="1F2A44"/>
              </a:solidFill>
              <a:latin typeface="Times New Roman" panose="02020603050405020304" pitchFamily="18" charset="0"/>
              <a:ea typeface="Arial" pitchFamily="34" charset="-122"/>
              <a:cs typeface="Times New Roman" panose="02020603050405020304" pitchFamily="18" charset="0"/>
            </a:endParaRPr>
          </a:p>
          <a:p>
            <a:pPr marL="170176" indent="-170176">
              <a:lnSpc>
                <a:spcPts val="2251"/>
              </a:lnSpc>
              <a:buSzPct val="100000"/>
              <a:buChar char="•"/>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Advanced ranking models</a:t>
            </a:r>
            <a:endParaRPr lang="en-US" b="1" dirty="0">
              <a:latin typeface="Times New Roman" panose="02020603050405020304" pitchFamily="18" charset="0"/>
              <a:cs typeface="Times New Roman" panose="02020603050405020304" pitchFamily="18" charset="0"/>
            </a:endParaRPr>
          </a:p>
          <a:p>
            <a:pPr marL="170176" indent="-170176">
              <a:lnSpc>
                <a:spcPts val="2251"/>
              </a:lnSpc>
              <a:buSzPct val="100000"/>
              <a:buChar char="•"/>
            </a:pPr>
            <a:endParaRPr lang="en-US" b="1" dirty="0">
              <a:solidFill>
                <a:srgbClr val="1F2A44"/>
              </a:solidFill>
              <a:latin typeface="Times New Roman" panose="02020603050405020304" pitchFamily="18" charset="0"/>
              <a:ea typeface="Arial" pitchFamily="34" charset="-122"/>
              <a:cs typeface="Times New Roman" panose="02020603050405020304" pitchFamily="18" charset="0"/>
            </a:endParaRPr>
          </a:p>
          <a:p>
            <a:pPr marL="170176" indent="-170176">
              <a:lnSpc>
                <a:spcPts val="2251"/>
              </a:lnSpc>
              <a:buSzPct val="100000"/>
              <a:buChar char="•"/>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Reinforcement-learning/advanced optimization research</a:t>
            </a:r>
            <a:endParaRPr lang="en-US" b="1" dirty="0">
              <a:latin typeface="Times New Roman" panose="02020603050405020304" pitchFamily="18" charset="0"/>
              <a:cs typeface="Times New Roman" panose="02020603050405020304" pitchFamily="18" charset="0"/>
            </a:endParaRPr>
          </a:p>
          <a:p>
            <a:pPr marL="170176" indent="-170176">
              <a:lnSpc>
                <a:spcPts val="2251"/>
              </a:lnSpc>
              <a:buSzPct val="100000"/>
              <a:buChar char="•"/>
            </a:pPr>
            <a:endParaRPr lang="en-US" b="1" dirty="0">
              <a:solidFill>
                <a:srgbClr val="1F2A44"/>
              </a:solidFill>
              <a:latin typeface="Times New Roman" panose="02020603050405020304" pitchFamily="18" charset="0"/>
              <a:ea typeface="Arial" pitchFamily="34" charset="-122"/>
              <a:cs typeface="Times New Roman" panose="02020603050405020304" pitchFamily="18" charset="0"/>
            </a:endParaRPr>
          </a:p>
          <a:p>
            <a:pPr marL="170176" indent="-170176">
              <a:lnSpc>
                <a:spcPts val="2251"/>
              </a:lnSpc>
              <a:buSzPct val="100000"/>
              <a:buChar char="•"/>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Predictive analytics for field performance</a:t>
            </a:r>
            <a:endParaRPr lang="en-US" b="1" dirty="0">
              <a:latin typeface="Times New Roman" panose="02020603050405020304" pitchFamily="18" charset="0"/>
              <a:cs typeface="Times New Roman" panose="02020603050405020304" pitchFamily="18" charset="0"/>
            </a:endParaRPr>
          </a:p>
        </p:txBody>
      </p:sp>
      <p:sp>
        <p:nvSpPr>
          <p:cNvPr id="7" name="Text 5"/>
          <p:cNvSpPr/>
          <p:nvPr/>
        </p:nvSpPr>
        <p:spPr>
          <a:xfrm>
            <a:off x="11221235" y="6816974"/>
            <a:ext cx="220345" cy="238760"/>
          </a:xfrm>
          <a:prstGeom prst="rect">
            <a:avLst/>
          </a:prstGeom>
          <a:noFill/>
          <a:ln/>
        </p:spPr>
        <p:txBody>
          <a:bodyPr wrap="square" lIns="0" tIns="0" rIns="0" bIns="0" rtlCol="0" anchor="t">
            <a:normAutofit/>
          </a:bodyPr>
          <a:lstStyle/>
          <a:p>
            <a:pPr>
              <a:lnSpc>
                <a:spcPts val="1680"/>
              </a:lnSpc>
            </a:pPr>
            <a:r>
              <a:rPr lang="en-US" sz="1200" dirty="0">
                <a:solidFill>
                  <a:srgbClr val="5B6475"/>
                </a:solidFill>
                <a:latin typeface="Times New Roman" panose="02020603050405020304" pitchFamily="18" charset="0"/>
                <a:ea typeface="Arial" pitchFamily="34" charset="-122"/>
                <a:cs typeface="Times New Roman" panose="02020603050405020304" pitchFamily="18" charset="0"/>
              </a:rPr>
              <a:t>30</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850900" y="1260035"/>
            <a:ext cx="0" cy="374333"/>
          </a:xfrm>
          <a:prstGeom prst="line">
            <a:avLst/>
          </a:prstGeom>
          <a:noFill/>
          <a:ln w="76200">
            <a:solidFill>
              <a:schemeClr val="accent1"/>
            </a:solidFill>
            <a:prstDash val="solid"/>
          </a:ln>
        </p:spPr>
      </p:sp>
      <p:sp>
        <p:nvSpPr>
          <p:cNvPr id="3" name="Text 1"/>
          <p:cNvSpPr>
            <a:spLocks noGrp="1"/>
          </p:cNvSpPr>
          <p:nvPr>
            <p:ph type="title"/>
          </p:nvPr>
        </p:nvSpPr>
        <p:spPr>
          <a:xfrm>
            <a:off x="1041403" y="1260038"/>
            <a:ext cx="10647935" cy="399733"/>
          </a:xfrm>
          <a:prstGeom prst="rect">
            <a:avLst/>
          </a:prstGeom>
          <a:noFill/>
          <a:ln/>
        </p:spPr>
        <p:txBody>
          <a:bodyPr vert="horz" wrap="square" lIns="0" tIns="0" rIns="0" bIns="0" rtlCol="0" anchor="t">
            <a:normAutofit/>
          </a:bodyPr>
          <a:lstStyle/>
          <a:p>
            <a:pPr>
              <a:lnSpc>
                <a:spcPts val="2965"/>
              </a:lnSpc>
            </a:pPr>
            <a:r>
              <a:rPr lang="en-US" sz="3200" b="1" dirty="0">
                <a:latin typeface="Times New Roman" panose="02020603050405020304" pitchFamily="18" charset="0"/>
                <a:cs typeface="Times New Roman" panose="02020603050405020304" pitchFamily="18" charset="0"/>
              </a:rPr>
              <a:t>Current Working Status</a:t>
            </a:r>
            <a:endParaRPr lang="en-US" sz="3200" dirty="0">
              <a:latin typeface="Times New Roman" panose="02020603050405020304" pitchFamily="18" charset="0"/>
              <a:cs typeface="Times New Roman" panose="02020603050405020304" pitchFamily="18" charset="0"/>
            </a:endParaRPr>
          </a:p>
        </p:txBody>
      </p:sp>
      <p:graphicFrame>
        <p:nvGraphicFramePr>
          <p:cNvPr id="4" name="Table 0"/>
          <p:cNvGraphicFramePr>
            <a:graphicFrameLocks noGrp="1"/>
          </p:cNvGraphicFramePr>
          <p:nvPr>
            <p:extLst>
              <p:ext uri="{D42A27DB-BD31-4B8C-83A1-F6EECF244321}">
                <p14:modId xmlns:p14="http://schemas.microsoft.com/office/powerpoint/2010/main" val="2209734551"/>
              </p:ext>
            </p:extLst>
          </p:nvPr>
        </p:nvGraphicFramePr>
        <p:xfrm>
          <a:off x="1145894" y="1847738"/>
          <a:ext cx="10063766" cy="4422210"/>
        </p:xfrm>
        <a:graphic>
          <a:graphicData uri="http://schemas.openxmlformats.org/drawingml/2006/table">
            <a:tbl>
              <a:tblPr>
                <a:tableStyleId>{69CF1AB2-1976-4502-BF36-3FF5EA218861}</a:tableStyleId>
              </a:tblPr>
              <a:tblGrid>
                <a:gridCol w="5031883">
                  <a:extLst>
                    <a:ext uri="{9D8B030D-6E8A-4147-A177-3AD203B41FA5}">
                      <a16:colId xmlns:a16="http://schemas.microsoft.com/office/drawing/2014/main" val="20000"/>
                    </a:ext>
                  </a:extLst>
                </a:gridCol>
                <a:gridCol w="5031883">
                  <a:extLst>
                    <a:ext uri="{9D8B030D-6E8A-4147-A177-3AD203B41FA5}">
                      <a16:colId xmlns:a16="http://schemas.microsoft.com/office/drawing/2014/main" val="20001"/>
                    </a:ext>
                  </a:extLst>
                </a:gridCol>
              </a:tblGrid>
              <a:tr h="304827">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Component</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solidFill>
                      <a:schemeClr val="accent1"/>
                    </a:solidFill>
                  </a:tcPr>
                </a:tc>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Status</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solidFill>
                      <a:schemeClr val="accent1"/>
                    </a:solidFill>
                  </a:tcPr>
                </a:tc>
                <a:extLst>
                  <a:ext uri="{0D108BD9-81ED-4DB2-BD59-A6C34878D82A}">
                    <a16:rowId xmlns:a16="http://schemas.microsoft.com/office/drawing/2014/main" val="10000"/>
                  </a:ext>
                </a:extLst>
              </a:tr>
              <a:tr h="304827">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Problem definition</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Completed</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1"/>
                  </a:ext>
                </a:extLst>
              </a:tr>
              <a:tr h="304827">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Literature survey</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Completed</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2"/>
                  </a:ext>
                </a:extLst>
              </a:tr>
              <a:tr h="304827">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System architecture</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Completed</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3"/>
                  </a:ext>
                </a:extLst>
              </a:tr>
              <a:tr h="304827">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Database design</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In progress</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4"/>
                  </a:ext>
                </a:extLst>
              </a:tr>
              <a:tr h="304827">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UI design</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Completed</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5"/>
                  </a:ext>
                </a:extLst>
              </a:tr>
              <a:tr h="304827">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Backend structure</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In progress</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6"/>
                  </a:ext>
                </a:extLst>
              </a:tr>
              <a:tr h="304827">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ML pipeline</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In progress</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7"/>
                  </a:ext>
                </a:extLst>
              </a:tr>
              <a:tr h="304827">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OR-Tools optimization</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In progress</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8"/>
                  </a:ext>
                </a:extLst>
              </a:tr>
              <a:tr h="304827">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Dashboard</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In progress</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09"/>
                  </a:ext>
                </a:extLst>
              </a:tr>
              <a:tr h="304827">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Integration</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In progress</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10"/>
                  </a:ext>
                </a:extLst>
              </a:tr>
              <a:tr h="304827">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Testing</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Upcoming</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11"/>
                  </a:ext>
                </a:extLst>
              </a:tr>
              <a:tr h="304827">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Final deployment</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tc>
                  <a:txBody>
                    <a:bodyPr/>
                    <a:lstStyle/>
                    <a:p>
                      <a:pPr marL="0" indent="0">
                        <a:lnSpc>
                          <a:spcPts val="1757"/>
                        </a:lnSpc>
                        <a:buNone/>
                      </a:pPr>
                      <a:r>
                        <a:rPr lang="en-US" sz="1400" dirty="0">
                          <a:latin typeface="Times New Roman" panose="02020603050405020304" pitchFamily="18" charset="0"/>
                          <a:cs typeface="Times New Roman" panose="02020603050405020304" pitchFamily="18" charset="0"/>
                        </a:rPr>
                        <a:t>Upcoming</a:t>
                      </a:r>
                      <a:endParaRPr lang="en-US" sz="1400" dirty="0">
                        <a:latin typeface="Times New Roman" panose="02020603050405020304" pitchFamily="18" charset="0"/>
                        <a:ea typeface="Arial" charset="0"/>
                        <a:cs typeface="Times New Roman" panose="02020603050405020304" pitchFamily="18" charset="0"/>
                      </a:endParaRPr>
                    </a:p>
                  </a:txBody>
                  <a:tcPr marL="114300" marR="114300" marT="63500" marB="63500"/>
                </a:tc>
                <a:extLst>
                  <a:ext uri="{0D108BD9-81ED-4DB2-BD59-A6C34878D82A}">
                    <a16:rowId xmlns:a16="http://schemas.microsoft.com/office/drawing/2014/main" val="10012"/>
                  </a:ext>
                </a:extLst>
              </a:tr>
            </a:tbl>
          </a:graphicData>
        </a:graphic>
      </p:graphicFrame>
      <p:sp>
        <p:nvSpPr>
          <p:cNvPr id="5" name="Text 2"/>
          <p:cNvSpPr/>
          <p:nvPr/>
        </p:nvSpPr>
        <p:spPr>
          <a:xfrm>
            <a:off x="11209660" y="6863290"/>
            <a:ext cx="220345" cy="238760"/>
          </a:xfrm>
          <a:prstGeom prst="rect">
            <a:avLst/>
          </a:prstGeom>
          <a:noFill/>
          <a:ln/>
        </p:spPr>
        <p:txBody>
          <a:bodyPr wrap="square" lIns="0" tIns="0" rIns="0" bIns="0" rtlCol="0" anchor="t">
            <a:normAutofit/>
          </a:bodyPr>
          <a:lstStyle/>
          <a:p>
            <a:pPr>
              <a:lnSpc>
                <a:spcPts val="1680"/>
              </a:lnSpc>
            </a:pPr>
            <a:r>
              <a:rPr lang="en-US" sz="1200" dirty="0">
                <a:solidFill>
                  <a:srgbClr val="5B6475"/>
                </a:solidFill>
                <a:latin typeface="Times New Roman" panose="02020603050405020304" pitchFamily="18" charset="0"/>
                <a:ea typeface="Arial" pitchFamily="34" charset="-122"/>
                <a:cs typeface="Times New Roman" panose="02020603050405020304" pitchFamily="18" charset="0"/>
              </a:rPr>
              <a:t>31</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850900" y="1190594"/>
            <a:ext cx="0" cy="438151"/>
          </a:xfrm>
          <a:prstGeom prst="line">
            <a:avLst/>
          </a:prstGeom>
          <a:noFill/>
          <a:ln w="76200">
            <a:solidFill>
              <a:schemeClr val="accent1"/>
            </a:solidFill>
            <a:prstDash val="solid"/>
          </a:ln>
        </p:spPr>
      </p:sp>
      <p:sp>
        <p:nvSpPr>
          <p:cNvPr id="3" name="Text 1"/>
          <p:cNvSpPr>
            <a:spLocks noGrp="1"/>
          </p:cNvSpPr>
          <p:nvPr>
            <p:ph type="title"/>
          </p:nvPr>
        </p:nvSpPr>
        <p:spPr>
          <a:xfrm>
            <a:off x="1041403" y="1190594"/>
            <a:ext cx="10647935" cy="463551"/>
          </a:xfrm>
          <a:prstGeom prst="rect">
            <a:avLst/>
          </a:prstGeom>
          <a:noFill/>
          <a:ln/>
        </p:spPr>
        <p:txBody>
          <a:bodyPr vert="horz" wrap="square" lIns="0" tIns="0" rIns="0" bIns="0" rtlCol="0" anchor="t">
            <a:normAutofit/>
          </a:bodyPr>
          <a:lstStyle/>
          <a:p>
            <a:pPr>
              <a:lnSpc>
                <a:spcPts val="3451"/>
              </a:lnSpc>
            </a:pPr>
            <a:r>
              <a:rPr lang="en-US" sz="3200" b="1" dirty="0">
                <a:latin typeface="Times New Roman" panose="02020603050405020304" pitchFamily="18" charset="0"/>
                <a:cs typeface="Times New Roman" panose="02020603050405020304" pitchFamily="18" charset="0"/>
              </a:rPr>
              <a:t>Semester-I Partial Report</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1209512" y="2112909"/>
            <a:ext cx="5124451" cy="2272479"/>
          </a:xfrm>
          <a:prstGeom prst="roundRect">
            <a:avLst>
              <a:gd name="adj" fmla="val 4322"/>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5" name="Text 3"/>
          <p:cNvSpPr/>
          <p:nvPr/>
        </p:nvSpPr>
        <p:spPr>
          <a:xfrm>
            <a:off x="1363818" y="2267222"/>
            <a:ext cx="4960315" cy="231140"/>
          </a:xfrm>
          <a:prstGeom prst="rect">
            <a:avLst/>
          </a:prstGeom>
          <a:noFill/>
          <a:ln/>
        </p:spPr>
        <p:txBody>
          <a:bodyPr wrap="square" lIns="0" tIns="0" rIns="0" bIns="0" rtlCol="0" anchor="t">
            <a:normAutofit/>
          </a:bodyPr>
          <a:lstStyle/>
          <a:p>
            <a:pPr algn="just">
              <a:lnSpc>
                <a:spcPts val="162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Semester-I Deliverables</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1363818" y="2709134"/>
            <a:ext cx="4960315" cy="1823190"/>
          </a:xfrm>
          <a:prstGeom prst="rect">
            <a:avLst/>
          </a:prstGeom>
          <a:noFill/>
          <a:ln/>
        </p:spPr>
        <p:txBody>
          <a:bodyPr wrap="square" lIns="0" tIns="0" rIns="0" bIns="0" rtlCol="0" anchor="t">
            <a:normAutofit/>
          </a:bodyPr>
          <a:lstStyle/>
          <a:p>
            <a:pPr algn="just">
              <a:lnSpc>
                <a:spcPts val="1611"/>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Problem identification · Topic finalization · Literature survey</a:t>
            </a:r>
          </a:p>
          <a:p>
            <a:pPr algn="just">
              <a:lnSpc>
                <a:spcPts val="1611"/>
              </a:lnSpc>
            </a:pPr>
            <a:endParaRPr lang="en-US" sz="1400" dirty="0">
              <a:solidFill>
                <a:srgbClr val="1F2A44"/>
              </a:solidFill>
              <a:latin typeface="Times New Roman" panose="02020603050405020304" pitchFamily="18" charset="0"/>
              <a:ea typeface="Arial" pitchFamily="34" charset="-122"/>
              <a:cs typeface="Times New Roman" panose="02020603050405020304" pitchFamily="18" charset="0"/>
            </a:endParaRPr>
          </a:p>
          <a:p>
            <a:pPr algn="just">
              <a:lnSpc>
                <a:spcPts val="1611"/>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Requirement analysis · Dataset/data requirement analysis</a:t>
            </a:r>
          </a:p>
          <a:p>
            <a:pPr algn="just">
              <a:lnSpc>
                <a:spcPts val="1611"/>
              </a:lnSpc>
            </a:pPr>
            <a:endParaRPr lang="en-US" sz="1400" dirty="0">
              <a:solidFill>
                <a:srgbClr val="1F2A44"/>
              </a:solidFill>
              <a:latin typeface="Times New Roman" panose="02020603050405020304" pitchFamily="18" charset="0"/>
              <a:ea typeface="Arial" pitchFamily="34" charset="-122"/>
              <a:cs typeface="Times New Roman" panose="02020603050405020304" pitchFamily="18" charset="0"/>
            </a:endParaRPr>
          </a:p>
          <a:p>
            <a:pPr algn="just">
              <a:lnSpc>
                <a:spcPts val="1611"/>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System architecture · Technology selection · Algorithm selection</a:t>
            </a:r>
          </a:p>
          <a:p>
            <a:pPr algn="just">
              <a:lnSpc>
                <a:spcPts val="1611"/>
              </a:lnSpc>
            </a:pPr>
            <a:endParaRPr lang="en-US" sz="1400" dirty="0">
              <a:solidFill>
                <a:srgbClr val="1F2A44"/>
              </a:solidFill>
              <a:latin typeface="Times New Roman" panose="02020603050405020304" pitchFamily="18" charset="0"/>
              <a:ea typeface="Arial" pitchFamily="34" charset="-122"/>
              <a:cs typeface="Times New Roman" panose="02020603050405020304" pitchFamily="18" charset="0"/>
            </a:endParaRPr>
          </a:p>
          <a:p>
            <a:pPr algn="just">
              <a:lnSpc>
                <a:spcPts val="1611"/>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Database design · UI design · Initial prototype</a:t>
            </a:r>
            <a:endParaRPr lang="en-US" sz="1400" dirty="0">
              <a:latin typeface="Times New Roman" panose="02020603050405020304" pitchFamily="18" charset="0"/>
              <a:cs typeface="Times New Roman" panose="02020603050405020304" pitchFamily="18" charset="0"/>
            </a:endParaRPr>
          </a:p>
        </p:txBody>
      </p:sp>
      <p:sp>
        <p:nvSpPr>
          <p:cNvPr id="7" name="Shape 5"/>
          <p:cNvSpPr/>
          <p:nvPr/>
        </p:nvSpPr>
        <p:spPr>
          <a:xfrm>
            <a:off x="6645112" y="2112909"/>
            <a:ext cx="5124451" cy="2272479"/>
          </a:xfrm>
          <a:prstGeom prst="roundRect">
            <a:avLst>
              <a:gd name="adj" fmla="val 4322"/>
            </a:avLst>
          </a:prstGeom>
          <a:solidFill>
            <a:srgbClr val="FFFFFF"/>
          </a:solidFill>
          <a:ln w="6350">
            <a:solidFill>
              <a:schemeClr val="accent1"/>
            </a:solidFill>
            <a:prstDash val="solid"/>
          </a:ln>
          <a:effectLst>
            <a:outerShdw blurRad="50800" dist="38100" dir="8100000" algn="tr" rotWithShape="0">
              <a:prstClr val="black">
                <a:alpha val="40000"/>
              </a:prstClr>
            </a:outerShdw>
          </a:effectLst>
        </p:spPr>
      </p:sp>
      <p:sp>
        <p:nvSpPr>
          <p:cNvPr id="8" name="Text 6"/>
          <p:cNvSpPr/>
          <p:nvPr/>
        </p:nvSpPr>
        <p:spPr>
          <a:xfrm>
            <a:off x="6799420" y="2267219"/>
            <a:ext cx="4960315" cy="254000"/>
          </a:xfrm>
          <a:prstGeom prst="rect">
            <a:avLst/>
          </a:prstGeom>
          <a:noFill/>
          <a:ln/>
        </p:spPr>
        <p:txBody>
          <a:bodyPr wrap="square" lIns="0" tIns="0" rIns="0" bIns="0" rtlCol="0" anchor="t">
            <a:normAutofit/>
          </a:bodyPr>
          <a:lstStyle/>
          <a:p>
            <a:pPr algn="just">
              <a:lnSpc>
                <a:spcPts val="1800"/>
              </a:lnSpc>
            </a:pPr>
            <a:r>
              <a:rPr lang="en-US" b="1" dirty="0">
                <a:solidFill>
                  <a:srgbClr val="1F2A44"/>
                </a:solidFill>
                <a:latin typeface="Times New Roman" panose="02020603050405020304" pitchFamily="18" charset="0"/>
                <a:ea typeface="Arial" pitchFamily="34" charset="-122"/>
                <a:cs typeface="Times New Roman" panose="02020603050405020304" pitchFamily="18" charset="0"/>
              </a:rPr>
              <a:t>Semester-II focus</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6799419" y="2648116"/>
            <a:ext cx="4960315" cy="1620795"/>
          </a:xfrm>
          <a:prstGeom prst="rect">
            <a:avLst/>
          </a:prstGeom>
          <a:noFill/>
          <a:ln/>
        </p:spPr>
        <p:txBody>
          <a:bodyPr wrap="square" lIns="0" tIns="0" rIns="0" bIns="0" rtlCol="0" anchor="t">
            <a:normAutofit/>
          </a:bodyPr>
          <a:lstStyle/>
          <a:p>
            <a:pPr algn="just">
              <a:lnSpc>
                <a:spcPts val="1820"/>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Implementation → ML Training → Optimization →</a:t>
            </a:r>
          </a:p>
          <a:p>
            <a:pPr algn="just">
              <a:lnSpc>
                <a:spcPts val="1820"/>
              </a:lnSpc>
            </a:pPr>
            <a:endParaRPr lang="en-US" sz="1400" dirty="0">
              <a:solidFill>
                <a:srgbClr val="1F2A44"/>
              </a:solidFill>
              <a:latin typeface="Times New Roman" panose="02020603050405020304" pitchFamily="18" charset="0"/>
              <a:ea typeface="Arial" pitchFamily="34" charset="-122"/>
              <a:cs typeface="Times New Roman" panose="02020603050405020304" pitchFamily="18" charset="0"/>
            </a:endParaRPr>
          </a:p>
          <a:p>
            <a:pPr algn="just">
              <a:lnSpc>
                <a:spcPts val="1820"/>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Integration → Testing → Evaluation → Deployment →</a:t>
            </a:r>
          </a:p>
          <a:p>
            <a:pPr algn="just">
              <a:lnSpc>
                <a:spcPts val="1820"/>
              </a:lnSpc>
            </a:pPr>
            <a:endParaRPr lang="en-US" sz="1400" dirty="0">
              <a:solidFill>
                <a:srgbClr val="1F2A44"/>
              </a:solidFill>
              <a:latin typeface="Times New Roman" panose="02020603050405020304" pitchFamily="18" charset="0"/>
              <a:ea typeface="Arial" pitchFamily="34" charset="-122"/>
              <a:cs typeface="Times New Roman" panose="02020603050405020304" pitchFamily="18" charset="0"/>
            </a:endParaRPr>
          </a:p>
          <a:p>
            <a:pPr algn="just">
              <a:lnSpc>
                <a:spcPts val="1820"/>
              </a:lnSpc>
            </a:pPr>
            <a:r>
              <a:rPr lang="en-US" sz="1400" dirty="0">
                <a:solidFill>
                  <a:srgbClr val="1F2A44"/>
                </a:solidFill>
                <a:latin typeface="Times New Roman" panose="02020603050405020304" pitchFamily="18" charset="0"/>
                <a:ea typeface="Arial" pitchFamily="34" charset="-122"/>
                <a:cs typeface="Times New Roman" panose="02020603050405020304" pitchFamily="18" charset="0"/>
              </a:rPr>
              <a:t>Final Demonstration</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11209660" y="6793846"/>
            <a:ext cx="220345" cy="238760"/>
          </a:xfrm>
          <a:prstGeom prst="rect">
            <a:avLst/>
          </a:prstGeom>
          <a:noFill/>
          <a:ln/>
        </p:spPr>
        <p:txBody>
          <a:bodyPr wrap="square" lIns="0" tIns="0" rIns="0" bIns="0" rtlCol="0" anchor="t">
            <a:normAutofit/>
          </a:bodyPr>
          <a:lstStyle/>
          <a:p>
            <a:pPr>
              <a:lnSpc>
                <a:spcPts val="1680"/>
              </a:lnSpc>
            </a:pPr>
            <a:r>
              <a:rPr lang="en-US" sz="1400" dirty="0">
                <a:solidFill>
                  <a:srgbClr val="5B6475"/>
                </a:solidFill>
                <a:latin typeface="Times New Roman" panose="02020603050405020304" pitchFamily="18" charset="0"/>
                <a:ea typeface="Arial" pitchFamily="34" charset="-122"/>
                <a:cs typeface="Times New Roman" panose="02020603050405020304" pitchFamily="18" charset="0"/>
              </a:rPr>
              <a:t>32</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218</TotalTime>
  <Words>2505</Words>
  <Application>Microsoft Office PowerPoint</Application>
  <PresentationFormat>Widescreen</PresentationFormat>
  <Paragraphs>640</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Calibri Light</vt:lpstr>
      <vt:lpstr>Times New Roman</vt:lpstr>
      <vt:lpstr>Retrospect</vt:lpstr>
      <vt:lpstr>PowerPoint Presentation</vt:lpstr>
      <vt:lpstr>Problem Statement</vt:lpstr>
      <vt:lpstr>Abstract</vt:lpstr>
      <vt:lpstr>Introduction</vt:lpstr>
      <vt:lpstr>Existing System</vt:lpstr>
      <vt:lpstr>Literature Survey</vt:lpstr>
      <vt:lpstr>Research Gap</vt:lpstr>
      <vt:lpstr>Proposed AI-Based Solution</vt:lpstr>
      <vt:lpstr>Proposed methodology</vt:lpstr>
      <vt:lpstr>Overall System Architecture</vt:lpstr>
      <vt:lpstr>Data Flow</vt:lpstr>
      <vt:lpstr>Data Design</vt:lpstr>
      <vt:lpstr>ML Priority Prediction</vt:lpstr>
      <vt:lpstr>Feature Engineering</vt:lpstr>
      <vt:lpstr>Route Optimization</vt:lpstr>
      <vt:lpstr>Optimization Objective</vt:lpstr>
      <vt:lpstr>Algorithms / Techniques Used</vt:lpstr>
      <vt:lpstr>Module Split-up</vt:lpstr>
      <vt:lpstr>Proposed System UI</vt:lpstr>
      <vt:lpstr>Working Module: MR</vt:lpstr>
      <vt:lpstr>Working Module: Manager</vt:lpstr>
      <vt:lpstr>Complete Working Flow</vt:lpstr>
      <vt:lpstr>Technology Stack</vt:lpstr>
      <vt:lpstr>Database Design</vt:lpstr>
      <vt:lpstr>Evaluation</vt:lpstr>
      <vt:lpstr>Baseline</vt:lpstr>
      <vt:lpstr>Challenges and Solutions</vt:lpstr>
      <vt:lpstr>Security and Privacy</vt:lpstr>
      <vt:lpstr>Limitations</vt:lpstr>
      <vt:lpstr>Future Scope</vt:lpstr>
      <vt:lpstr>Current Working Status</vt:lpstr>
      <vt:lpstr>Semester-I Partial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MR Visit Prioritization and Route Optimization – Review III</dc:title>
  <dc:subject/>
  <dc:creator>Bhakti Gundecha</dc:creator>
  <cp:lastModifiedBy>Parth Lokhande</cp:lastModifiedBy>
  <cp:revision>19</cp:revision>
  <dcterms:created xsi:type="dcterms:W3CDTF">2026-10-08T14:35:12Z</dcterms:created>
  <dcterms:modified xsi:type="dcterms:W3CDTF">2026-10-10T05:31:28Z</dcterms:modified>
</cp:coreProperties>
</file>