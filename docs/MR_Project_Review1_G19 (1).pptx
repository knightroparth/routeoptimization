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rts/chart1.xml" ContentType="application/vnd.openxmlformats-officedocument.drawingml.chart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1" d="100"/>
          <a:sy n="91" d="100"/>
        </p:scale>
        <p:origin x="341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Avg. daily travel distance (km)</c:v>
                </c:pt>
              </c:strCache>
            </c:strRef>
          </c:tx>
          <c:spPr>
            <a:solidFill>
              <a:srgbClr val="4F6570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2934-46DB-8C64-00904D20B5C3}"/>
              </c:ext>
            </c:extLst>
          </c:dPt>
          <c:dPt>
            <c:idx val="1"/>
            <c:invertIfNegative val="0"/>
            <c:bubble3D val="0"/>
            <c:spPr>
              <a:solidFill>
                <a:srgbClr val="02C39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2934-46DB-8C64-00904D20B5C3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16262E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Manual Planning</c:v>
                </c:pt>
                <c:pt idx="1">
                  <c:v>AI-Optimized Route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42</c:v>
                </c:pt>
                <c:pt idx="1">
                  <c:v>27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2934-46DB-8C64-00904D20B5C3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4F657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DCE7E5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lang="en-IN" b="0" i="0" u="none" strike="noStrike">
                    <a:solidFill>
                      <a:srgbClr val="000000"/>
                    </a:solidFill>
                    <a:latin typeface="Arial"/>
                  </a:rPr>
                  <a:t>km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F657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682575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206240" cy="4206240"/>
          </a:xfrm>
          <a:prstGeom prst="ellipse">
            <a:avLst/>
          </a:prstGeom>
          <a:solidFill>
            <a:srgbClr val="13315C"/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-182880"/>
            <a:ext cx="2194560" cy="219456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4" name="Shape 2"/>
          <p:cNvSpPr/>
          <p:nvPr/>
        </p:nvSpPr>
        <p:spPr>
          <a:xfrm>
            <a:off x="-1280160" y="4937760"/>
            <a:ext cx="3291840" cy="3291840"/>
          </a:xfrm>
          <a:prstGeom prst="ellipse">
            <a:avLst/>
          </a:prstGeom>
          <a:solidFill>
            <a:srgbClr val="13315C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9601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REVIEW  •  DEPARTMENT OF ARTIFICIAL INTELLIGENCE &amp; DATA SCIENCE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22960" y="1508760"/>
            <a:ext cx="10241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AI-Based Medical Representative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822960" y="2148840"/>
            <a:ext cx="10241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CFE8E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Visit Prioritization &amp; Route Optimization System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841248" y="2926080"/>
            <a:ext cx="2194560" cy="0"/>
          </a:xfrm>
          <a:prstGeom prst="line">
            <a:avLst/>
          </a:prstGeom>
          <a:noFill/>
          <a:ln w="31750">
            <a:solidFill>
              <a:srgbClr val="02C39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310896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C7D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predictive AI + constraint-based route optimization platform that turns daily doctor-visit planning from guesswork into a data-driven decision.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22960" y="4114800"/>
            <a:ext cx="6035040" cy="1965960"/>
          </a:xfrm>
          <a:prstGeom prst="roundRect">
            <a:avLst>
              <a:gd name="adj" fmla="val 3721"/>
            </a:avLst>
          </a:prstGeom>
          <a:solidFill>
            <a:srgbClr val="13315C"/>
          </a:solidFill>
          <a:ln w="12700">
            <a:solidFill>
              <a:srgbClr val="1E3A5F"/>
            </a:solidFill>
            <a:prstDash val="solid"/>
          </a:ln>
          <a:effectLst>
            <a:outerShdw blurRad="76200" dist="25400" dir="5400000" algn="bl" rotWithShape="0">
              <a:srgbClr val="1B2A3A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1143000" y="427939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TEAM  •  GROUP 19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143000" y="4617720"/>
            <a:ext cx="5394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Bhakti Jayantilal Gundecha   —   3071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1143000" y="5001768"/>
            <a:ext cx="5394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Parth Lokhande   —   1020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1143000" y="5385816"/>
            <a:ext cx="5394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Udaykiran Bitla   —   3056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1143000" y="5806440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AFC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Guide: Prof. M. U. Buchade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7086600" y="4114800"/>
            <a:ext cx="4279392" cy="1965960"/>
          </a:xfrm>
          <a:prstGeom prst="roundRect">
            <a:avLst>
              <a:gd name="adj" fmla="val 3721"/>
            </a:avLst>
          </a:prstGeom>
          <a:solidFill>
            <a:srgbClr val="13315C"/>
          </a:solidFill>
          <a:ln w="12700">
            <a:solidFill>
              <a:srgbClr val="1E3A5F"/>
            </a:solidFill>
            <a:prstDash val="solid"/>
          </a:ln>
          <a:effectLst>
            <a:outerShdw blurRad="76200" dist="25400" dir="5400000" algn="bl" rotWithShape="0">
              <a:srgbClr val="1B2A3A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360920" y="4279392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360920" y="4590288"/>
            <a:ext cx="3749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Pune Vidyarthi Griha's</a:t>
            </a:r>
            <a:endParaRPr lang="en-US" sz="13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College of Engineering, Technology</a:t>
            </a:r>
            <a:endParaRPr lang="en-US" sz="13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Management, Pune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7360920" y="5468112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i="1" dirty="0">
                <a:solidFill>
                  <a:srgbClr val="AFC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Artificial Intelligence</a:t>
            </a: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i="1" dirty="0">
                <a:solidFill>
                  <a:srgbClr val="AFC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Data Science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0159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·  PROBLEM STATEMENT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Doctor-Visit Planning Is Still Manual &amp; Inefficient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600200"/>
            <a:ext cx="3505200" cy="1371600"/>
          </a:xfrm>
          <a:prstGeom prst="roundRect">
            <a:avLst>
              <a:gd name="adj" fmla="val 5333"/>
            </a:avLst>
          </a:prstGeom>
          <a:solidFill>
            <a:srgbClr val="F6FAF9"/>
          </a:solidFill>
          <a:ln w="12700">
            <a:solidFill>
              <a:srgbClr val="DCE7E5"/>
            </a:solidFill>
            <a:prstDash val="solid"/>
          </a:ln>
          <a:effectLst>
            <a:outerShdw blurRad="76200" dist="25400" dir="5400000" algn="bl" rotWithShape="0">
              <a:srgbClr val="1B2A3A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04088" y="1801368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1801368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325880" y="1746504"/>
            <a:ext cx="2499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Scheduling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1325880" y="2167128"/>
            <a:ext cx="2499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80" dirty="0">
                <a:solidFill>
                  <a:srgbClr val="4F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plans built by hand with no data support</a:t>
            </a:r>
            <a:endParaRPr lang="en-US" sz="1080" dirty="0"/>
          </a:p>
        </p:txBody>
      </p:sp>
      <p:sp>
        <p:nvSpPr>
          <p:cNvPr id="9" name="Shape 7"/>
          <p:cNvSpPr/>
          <p:nvPr/>
        </p:nvSpPr>
        <p:spPr>
          <a:xfrm>
            <a:off x="4328160" y="1600200"/>
            <a:ext cx="3505200" cy="1371600"/>
          </a:xfrm>
          <a:prstGeom prst="roundRect">
            <a:avLst>
              <a:gd name="adj" fmla="val 5333"/>
            </a:avLst>
          </a:prstGeom>
          <a:solidFill>
            <a:srgbClr val="F6FAF9"/>
          </a:solidFill>
          <a:ln w="12700">
            <a:solidFill>
              <a:srgbClr val="DCE7E5"/>
            </a:solidFill>
            <a:prstDash val="solid"/>
          </a:ln>
          <a:effectLst>
            <a:outerShdw blurRad="76200" dist="25400" dir="5400000" algn="bl" rotWithShape="0">
              <a:srgbClr val="1B2A3A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29328" y="1801368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1" name="Text 9"/>
          <p:cNvSpPr/>
          <p:nvPr/>
        </p:nvSpPr>
        <p:spPr>
          <a:xfrm>
            <a:off x="4483608" y="1801368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151120" y="1746504"/>
            <a:ext cx="2499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/ Habit-Based Routes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5151120" y="2167128"/>
            <a:ext cx="2499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80" dirty="0">
                <a:solidFill>
                  <a:srgbClr val="4F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MRs repeat familiar routes rather than optimal ones</a:t>
            </a:r>
            <a:endParaRPr lang="en-US" sz="1080" dirty="0"/>
          </a:p>
        </p:txBody>
      </p:sp>
      <p:sp>
        <p:nvSpPr>
          <p:cNvPr id="14" name="Shape 12"/>
          <p:cNvSpPr/>
          <p:nvPr/>
        </p:nvSpPr>
        <p:spPr>
          <a:xfrm>
            <a:off x="8153400" y="1600200"/>
            <a:ext cx="3505200" cy="1371600"/>
          </a:xfrm>
          <a:prstGeom prst="roundRect">
            <a:avLst>
              <a:gd name="adj" fmla="val 5333"/>
            </a:avLst>
          </a:prstGeom>
          <a:solidFill>
            <a:srgbClr val="F6FAF9"/>
          </a:solidFill>
          <a:ln w="12700">
            <a:solidFill>
              <a:srgbClr val="DCE7E5"/>
            </a:solidFill>
            <a:prstDash val="solid"/>
          </a:ln>
          <a:effectLst>
            <a:outerShdw blurRad="76200" dist="25400" dir="5400000" algn="bl" rotWithShape="0">
              <a:srgbClr val="1B2A3A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354568" y="1801368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6" name="Text 14"/>
          <p:cNvSpPr/>
          <p:nvPr/>
        </p:nvSpPr>
        <p:spPr>
          <a:xfrm>
            <a:off x="8308848" y="1801368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976360" y="1746504"/>
            <a:ext cx="2499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Availability Constraints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8976360" y="2167128"/>
            <a:ext cx="2499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80" dirty="0">
                <a:solidFill>
                  <a:srgbClr val="4F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 time-windows are tracked informally</a:t>
            </a:r>
            <a:endParaRPr lang="en-US" sz="1080" dirty="0"/>
          </a:p>
        </p:txBody>
      </p:sp>
      <p:sp>
        <p:nvSpPr>
          <p:cNvPr id="19" name="Shape 17"/>
          <p:cNvSpPr/>
          <p:nvPr/>
        </p:nvSpPr>
        <p:spPr>
          <a:xfrm>
            <a:off x="502920" y="3246120"/>
            <a:ext cx="3505200" cy="1371600"/>
          </a:xfrm>
          <a:prstGeom prst="roundRect">
            <a:avLst>
              <a:gd name="adj" fmla="val 5333"/>
            </a:avLst>
          </a:prstGeom>
          <a:solidFill>
            <a:srgbClr val="F6FAF9"/>
          </a:solidFill>
          <a:ln w="12700">
            <a:solidFill>
              <a:srgbClr val="DCE7E5"/>
            </a:solidFill>
            <a:prstDash val="solid"/>
          </a:ln>
          <a:effectLst>
            <a:outerShdw blurRad="76200" dist="25400" dir="5400000" algn="bl" rotWithShape="0">
              <a:srgbClr val="1B2A3A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04088" y="3447288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1" name="Text 19"/>
          <p:cNvSpPr/>
          <p:nvPr/>
        </p:nvSpPr>
        <p:spPr>
          <a:xfrm>
            <a:off x="658368" y="3447288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325880" y="3392424"/>
            <a:ext cx="2499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Repeated Travel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1325880" y="3813048"/>
            <a:ext cx="2499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80" dirty="0">
                <a:solidFill>
                  <a:srgbClr val="4F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Overlapping routes waste time &amp; fuel</a:t>
            </a:r>
            <a:endParaRPr lang="en-US" sz="1080" dirty="0"/>
          </a:p>
        </p:txBody>
      </p:sp>
      <p:sp>
        <p:nvSpPr>
          <p:cNvPr id="24" name="Shape 22"/>
          <p:cNvSpPr/>
          <p:nvPr/>
        </p:nvSpPr>
        <p:spPr>
          <a:xfrm>
            <a:off x="4328160" y="3246120"/>
            <a:ext cx="3505200" cy="1371600"/>
          </a:xfrm>
          <a:prstGeom prst="roundRect">
            <a:avLst>
              <a:gd name="adj" fmla="val 5333"/>
            </a:avLst>
          </a:prstGeom>
          <a:solidFill>
            <a:srgbClr val="F6FAF9"/>
          </a:solidFill>
          <a:ln w="12700">
            <a:solidFill>
              <a:srgbClr val="DCE7E5"/>
            </a:solidFill>
            <a:prstDash val="solid"/>
          </a:ln>
          <a:effectLst>
            <a:outerShdw blurRad="76200" dist="25400" dir="5400000" algn="bl" rotWithShape="0">
              <a:srgbClr val="1B2A3A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529328" y="3447288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6" name="Text 24"/>
          <p:cNvSpPr/>
          <p:nvPr/>
        </p:nvSpPr>
        <p:spPr>
          <a:xfrm>
            <a:off x="4483608" y="3447288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5151120" y="3392424"/>
            <a:ext cx="2499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Difficulty Prioritizing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5151120" y="3813048"/>
            <a:ext cx="2499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80" dirty="0">
                <a:solidFill>
                  <a:srgbClr val="4F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objective way to rank which doctor to see first</a:t>
            </a:r>
            <a:endParaRPr lang="en-US" sz="1080" dirty="0"/>
          </a:p>
        </p:txBody>
      </p:sp>
      <p:sp>
        <p:nvSpPr>
          <p:cNvPr id="29" name="Shape 27"/>
          <p:cNvSpPr/>
          <p:nvPr/>
        </p:nvSpPr>
        <p:spPr>
          <a:xfrm>
            <a:off x="8153400" y="3246120"/>
            <a:ext cx="3505200" cy="1371600"/>
          </a:xfrm>
          <a:prstGeom prst="roundRect">
            <a:avLst>
              <a:gd name="adj" fmla="val 5333"/>
            </a:avLst>
          </a:prstGeom>
          <a:solidFill>
            <a:srgbClr val="F6FAF9"/>
          </a:solidFill>
          <a:ln w="12700">
            <a:solidFill>
              <a:srgbClr val="DCE7E5"/>
            </a:solidFill>
            <a:prstDash val="solid"/>
          </a:ln>
          <a:effectLst>
            <a:outerShdw blurRad="76200" dist="25400" dir="5400000" algn="bl" rotWithShape="0">
              <a:srgbClr val="1B2A3A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8354568" y="3447288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1" name="Text 29"/>
          <p:cNvSpPr/>
          <p:nvPr/>
        </p:nvSpPr>
        <p:spPr>
          <a:xfrm>
            <a:off x="8308848" y="3447288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8976360" y="3392424"/>
            <a:ext cx="2499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Visibility</a:t>
            </a:r>
            <a:endParaRPr lang="en-US" sz="1350" dirty="0"/>
          </a:p>
        </p:txBody>
      </p:sp>
      <p:sp>
        <p:nvSpPr>
          <p:cNvPr id="33" name="Text 31"/>
          <p:cNvSpPr/>
          <p:nvPr/>
        </p:nvSpPr>
        <p:spPr>
          <a:xfrm>
            <a:off x="8976360" y="3813048"/>
            <a:ext cx="2499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80" dirty="0">
                <a:solidFill>
                  <a:srgbClr val="4F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Managers cannot track field activity in real time</a:t>
            </a:r>
            <a:endParaRPr lang="en-US" sz="1080" dirty="0"/>
          </a:p>
        </p:txBody>
      </p:sp>
      <p:sp>
        <p:nvSpPr>
          <p:cNvPr id="34" name="Shape 32"/>
          <p:cNvSpPr/>
          <p:nvPr/>
        </p:nvSpPr>
        <p:spPr>
          <a:xfrm>
            <a:off x="502920" y="4983480"/>
            <a:ext cx="11155680" cy="1234440"/>
          </a:xfrm>
          <a:prstGeom prst="roundRect">
            <a:avLst>
              <a:gd name="adj" fmla="val 5926"/>
            </a:avLst>
          </a:prstGeom>
          <a:solidFill>
            <a:srgbClr val="0B2545"/>
          </a:solidFill>
          <a:ln w="12700">
            <a:solidFill>
              <a:srgbClr val="DCE7E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77240" y="51023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777240" y="5394960"/>
            <a:ext cx="10607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55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can AI and optimization techniques be used to automatically prioritize doctor visits and generate an efficient daily visit schedule for a Medical Representative?</a:t>
            </a:r>
            <a:endParaRPr lang="en-US" sz="1550" dirty="0"/>
          </a:p>
        </p:txBody>
      </p:sp>
      <p:sp>
        <p:nvSpPr>
          <p:cNvPr id="37" name="Text 35"/>
          <p:cNvSpPr/>
          <p:nvPr/>
        </p:nvSpPr>
        <p:spPr>
          <a:xfrm>
            <a:off x="457200" y="647395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4F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AI-Based MR Visit Prioritization &amp; Route Optimization System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F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0159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·  MOTIVATION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Manual Planning Breaks Down at Scale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536192"/>
            <a:ext cx="56692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Medical Representative may be responsible for 10 or more doctors spread across a territory — each with a different priority, availability window and distance. </a:t>
            </a:r>
            <a:r>
              <a:rPr lang="en-US" sz="1250" b="1" dirty="0">
                <a:solidFill>
                  <a:srgbClr val="1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manually created route rarely accounts for all of these variables together.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02920" y="27432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159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Scenario — MR with 10 Doctors</a:t>
            </a:r>
            <a:endParaRPr lang="en-US" sz="12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3063240"/>
          <a:ext cx="5669280" cy="2560320"/>
        </p:xfrm>
        <a:graphic>
          <a:graphicData uri="http://schemas.openxmlformats.org/drawingml/2006/table">
            <a:tbl>
              <a:tblPr/>
              <a:tblGrid>
                <a:gridCol w="1554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Doctor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Constraint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Doctor 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 priority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Doctor B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 priority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Doctor C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 priority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Doctor 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Unavailable before 4:00 PM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Doctor 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 km away from base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Doctor F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Only 1 km from Doctor 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6492240" y="1536192"/>
            <a:ext cx="5166360" cy="2606040"/>
          </a:xfrm>
          <a:prstGeom prst="roundRect">
            <a:avLst>
              <a:gd name="adj" fmla="val 2807"/>
            </a:avLst>
          </a:prstGeom>
          <a:solidFill>
            <a:srgbClr val="F6FAF9"/>
          </a:solidFill>
          <a:ln w="12700">
            <a:solidFill>
              <a:srgbClr val="DCE7E5"/>
            </a:solidFill>
            <a:prstDash val="solid"/>
          </a:ln>
          <a:effectLst>
            <a:outerShdw blurRad="76200" dist="25400" dir="5400000" algn="bl" rotWithShape="0">
              <a:srgbClr val="1B2A3A">
                <a:alpha val="1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6766560" y="1737360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F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system combines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766560" y="2084832"/>
            <a:ext cx="384048" cy="38404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0" name="Text 7"/>
          <p:cNvSpPr/>
          <p:nvPr/>
        </p:nvSpPr>
        <p:spPr>
          <a:xfrm>
            <a:off x="6720840" y="2084832"/>
            <a:ext cx="4754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7269480" y="2084832"/>
            <a:ext cx="4114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Artificial Intelligence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6766560" y="2596896"/>
            <a:ext cx="384048" cy="38404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3" name="Text 10"/>
          <p:cNvSpPr/>
          <p:nvPr/>
        </p:nvSpPr>
        <p:spPr>
          <a:xfrm>
            <a:off x="6720840" y="2596896"/>
            <a:ext cx="4754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7269480" y="2596896"/>
            <a:ext cx="4114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Appointment Scheduling</a:t>
            </a:r>
            <a:endParaRPr lang="en-US" sz="1350" dirty="0"/>
          </a:p>
        </p:txBody>
      </p:sp>
      <p:sp>
        <p:nvSpPr>
          <p:cNvPr id="15" name="Shape 12"/>
          <p:cNvSpPr/>
          <p:nvPr/>
        </p:nvSpPr>
        <p:spPr>
          <a:xfrm>
            <a:off x="6766560" y="3108960"/>
            <a:ext cx="384048" cy="38404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6" name="Text 13"/>
          <p:cNvSpPr/>
          <p:nvPr/>
        </p:nvSpPr>
        <p:spPr>
          <a:xfrm>
            <a:off x="6720840" y="3108960"/>
            <a:ext cx="4754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7269480" y="3108960"/>
            <a:ext cx="4114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Optimization</a:t>
            </a:r>
            <a:endParaRPr lang="en-US" sz="1350" dirty="0"/>
          </a:p>
        </p:txBody>
      </p:sp>
      <p:sp>
        <p:nvSpPr>
          <p:cNvPr id="18" name="Text 15"/>
          <p:cNvSpPr/>
          <p:nvPr/>
        </p:nvSpPr>
        <p:spPr>
          <a:xfrm>
            <a:off x="6766560" y="3675888"/>
            <a:ext cx="4617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80" i="1" dirty="0">
                <a:solidFill>
                  <a:srgbClr val="4F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…to make MR planning decisions fully data-driven, instead of relying on habit or memory.</a:t>
            </a:r>
            <a:endParaRPr lang="en-US" sz="1080" dirty="0"/>
          </a:p>
        </p:txBody>
      </p:sp>
      <p:sp>
        <p:nvSpPr>
          <p:cNvPr id="19" name="Shape 16"/>
          <p:cNvSpPr/>
          <p:nvPr/>
        </p:nvSpPr>
        <p:spPr>
          <a:xfrm>
            <a:off x="6492240" y="4251960"/>
            <a:ext cx="5166360" cy="1965960"/>
          </a:xfrm>
          <a:prstGeom prst="roundRect">
            <a:avLst>
              <a:gd name="adj" fmla="val 3721"/>
            </a:avLst>
          </a:prstGeom>
          <a:solidFill>
            <a:srgbClr val="0B2545"/>
          </a:solidFill>
          <a:ln w="12700">
            <a:solidFill>
              <a:srgbClr val="DCE7E5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766560" y="440740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EVIDENCE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6766560" y="4700016"/>
            <a:ext cx="461772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published pharmaceutical sales-force case study reports that scheduling and routing optimization improved visits per day and reduced total travel distance — confirming this is a genuine operational problem, not only an academic exercise.</a:t>
            </a:r>
            <a:endParaRPr lang="en-US" sz="1150" dirty="0"/>
          </a:p>
        </p:txBody>
      </p:sp>
      <p:sp>
        <p:nvSpPr>
          <p:cNvPr id="22" name="Text 19"/>
          <p:cNvSpPr/>
          <p:nvPr/>
        </p:nvSpPr>
        <p:spPr>
          <a:xfrm>
            <a:off x="457200" y="647395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4F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AI-Based MR Visit Prioritization &amp; Route Optimization System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F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0159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·  AIM &amp; OBJECTIVES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Set Out to Build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554480"/>
            <a:ext cx="11155680" cy="1051560"/>
          </a:xfrm>
          <a:prstGeom prst="roundRect">
            <a:avLst>
              <a:gd name="adj" fmla="val 6957"/>
            </a:avLst>
          </a:prstGeom>
          <a:solidFill>
            <a:srgbClr val="CFE8E3"/>
          </a:solidFill>
          <a:ln w="12700">
            <a:solidFill>
              <a:srgbClr val="BEDBD6"/>
            </a:solidFill>
            <a:prstDash val="solid"/>
          </a:ln>
          <a:effectLst>
            <a:outerShdw blurRad="76200" dist="25400" dir="5400000" algn="bl" rotWithShape="0">
              <a:srgbClr val="1B2A3A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167335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0159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AIM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77240" y="1920240"/>
            <a:ext cx="10607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50" i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 develop an AI-assisted web application that prioritizes Medical Representative doctor visits and generates optimized daily visit routes — considering appointment availability, visit duration and travel constraints.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502920" y="274320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0159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02920" y="3063240"/>
            <a:ext cx="11155680" cy="530352"/>
          </a:xfrm>
          <a:prstGeom prst="roundRect">
            <a:avLst>
              <a:gd name="adj" fmla="val 13793"/>
            </a:avLst>
          </a:prstGeom>
          <a:solidFill>
            <a:srgbClr val="F6FAF9"/>
          </a:solidFill>
          <a:ln w="12700">
            <a:solidFill>
              <a:srgbClr val="DCE7E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13232" y="3136392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0" name="Text 8"/>
          <p:cNvSpPr/>
          <p:nvPr/>
        </p:nvSpPr>
        <p:spPr>
          <a:xfrm>
            <a:off x="667512" y="3136392"/>
            <a:ext cx="4754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280160" y="3063240"/>
            <a:ext cx="101498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 and manage doctor, MR, appointment and visit information.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02920" y="3703320"/>
            <a:ext cx="11155680" cy="530352"/>
          </a:xfrm>
          <a:prstGeom prst="roundRect">
            <a:avLst>
              <a:gd name="adj" fmla="val 13793"/>
            </a:avLst>
          </a:prstGeom>
          <a:solidFill>
            <a:srgbClr val="F6FAF9"/>
          </a:solidFill>
          <a:ln w="12700">
            <a:solidFill>
              <a:srgbClr val="DCE7E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13232" y="3776472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4" name="Text 12"/>
          <p:cNvSpPr/>
          <p:nvPr/>
        </p:nvSpPr>
        <p:spPr>
          <a:xfrm>
            <a:off x="667512" y="3776472"/>
            <a:ext cx="4754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280160" y="3703320"/>
            <a:ext cx="101498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 an ML model to predict visit priority.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502920" y="4343400"/>
            <a:ext cx="11155680" cy="530352"/>
          </a:xfrm>
          <a:prstGeom prst="roundRect">
            <a:avLst>
              <a:gd name="adj" fmla="val 13793"/>
            </a:avLst>
          </a:prstGeom>
          <a:solidFill>
            <a:srgbClr val="F6FAF9"/>
          </a:solidFill>
          <a:ln w="12700">
            <a:solidFill>
              <a:srgbClr val="DCE7E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13232" y="4416552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8" name="Text 16"/>
          <p:cNvSpPr/>
          <p:nvPr/>
        </p:nvSpPr>
        <p:spPr>
          <a:xfrm>
            <a:off x="667512" y="4416552"/>
            <a:ext cx="4754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280160" y="4343400"/>
            <a:ext cx="101498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optimized visit sequences using Google OR-Tools.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502920" y="4983480"/>
            <a:ext cx="11155680" cy="530352"/>
          </a:xfrm>
          <a:prstGeom prst="roundRect">
            <a:avLst>
              <a:gd name="adj" fmla="val 13793"/>
            </a:avLst>
          </a:prstGeom>
          <a:solidFill>
            <a:srgbClr val="F6FAF9"/>
          </a:solidFill>
          <a:ln w="12700">
            <a:solidFill>
              <a:srgbClr val="DCE7E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13232" y="5056632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2" name="Text 20"/>
          <p:cNvSpPr/>
          <p:nvPr/>
        </p:nvSpPr>
        <p:spPr>
          <a:xfrm>
            <a:off x="667512" y="5056632"/>
            <a:ext cx="4754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280160" y="4983480"/>
            <a:ext cx="101498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 role-based dashboards for MRs and managers.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502920" y="5623560"/>
            <a:ext cx="11155680" cy="530352"/>
          </a:xfrm>
          <a:prstGeom prst="roundRect">
            <a:avLst>
              <a:gd name="adj" fmla="val 13793"/>
            </a:avLst>
          </a:prstGeom>
          <a:solidFill>
            <a:srgbClr val="F6FAF9"/>
          </a:solidFill>
          <a:ln w="12700">
            <a:solidFill>
              <a:srgbClr val="DCE7E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13232" y="5696712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6" name="Text 24"/>
          <p:cNvSpPr/>
          <p:nvPr/>
        </p:nvSpPr>
        <p:spPr>
          <a:xfrm>
            <a:off x="667512" y="5696712"/>
            <a:ext cx="4754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280160" y="5623560"/>
            <a:ext cx="101498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the system using ML and route-optimization metrics.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457200" y="647395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4F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AI-Based MR Visit Prioritization &amp; Route Optimization System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F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0159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·  LITERATURE REVIEW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Positioning Our Work Against Existing Research</a:t>
            </a:r>
            <a:endParaRPr lang="en-US" sz="30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536192"/>
          <a:ext cx="11155680" cy="3401568"/>
        </p:xfrm>
        <a:graphic>
          <a:graphicData uri="http://schemas.openxmlformats.org/drawingml/2006/table">
            <a:tbl>
              <a:tblPr/>
              <a:tblGrid>
                <a:gridCol w="2788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88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88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88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Research Area</a:t>
                      </a:r>
                      <a:endParaRPr lang="en-US" sz="1150" dirty="0"/>
                    </a:p>
                  </a:txBody>
                  <a:tcPr anchor="ctr">
                    <a:lnL w="9525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Existing Approach</a:t>
                      </a:r>
                      <a:endParaRPr lang="en-US" sz="1150" dirty="0"/>
                    </a:p>
                  </a:txBody>
                  <a:tcPr anchor="ctr">
                    <a:lnL w="9525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Limitation</a:t>
                      </a:r>
                      <a:endParaRPr lang="en-US" sz="1150" dirty="0"/>
                    </a:p>
                  </a:txBody>
                  <a:tcPr anchor="ctr">
                    <a:lnL w="9525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Our Contribution</a:t>
                      </a:r>
                      <a:endParaRPr lang="en-US" sz="1150" dirty="0"/>
                    </a:p>
                  </a:txBody>
                  <a:tcPr anchor="ctr">
                    <a:lnL w="9525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6262E"/>
                          </a:solidFill>
                        </a:rPr>
                        <a:t>Pharma sales-force scheduling</a:t>
                      </a:r>
                      <a:endParaRPr lang="en-US" sz="1100" dirty="0"/>
                    </a:p>
                  </a:txBody>
                  <a:tcPr anchor="ctr">
                    <a:lnL w="9525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6262E"/>
                          </a:solidFill>
                        </a:rPr>
                        <a:t>Mathematical optimization</a:t>
                      </a:r>
                      <a:endParaRPr lang="en-US" sz="1100" dirty="0"/>
                    </a:p>
                  </a:txBody>
                  <a:tcPr anchor="ctr">
                    <a:lnL w="9525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6262E"/>
                          </a:solidFill>
                        </a:rPr>
                        <a:t>Limited application interface</a:t>
                      </a:r>
                      <a:endParaRPr lang="en-US" sz="1100" dirty="0"/>
                    </a:p>
                  </a:txBody>
                  <a:tcPr anchor="ctr">
                    <a:lnL w="9525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6262E"/>
                          </a:solidFill>
                        </a:rPr>
                        <a:t>Web-based system</a:t>
                      </a:r>
                      <a:endParaRPr lang="en-US" sz="1100" dirty="0"/>
                    </a:p>
                  </a:txBody>
                  <a:tcPr anchor="ctr">
                    <a:lnL w="9525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6262E"/>
                          </a:solidFill>
                        </a:rPr>
                        <a:t>Pharmaceutical rep routing</a:t>
                      </a:r>
                      <a:endParaRPr lang="en-US" sz="1100" dirty="0"/>
                    </a:p>
                  </a:txBody>
                  <a:tcPr anchor="ctr">
                    <a:lnL w="9525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6262E"/>
                          </a:solidFill>
                        </a:rPr>
                        <a:t>Time-window routing</a:t>
                      </a:r>
                      <a:endParaRPr lang="en-US" sz="1100" dirty="0"/>
                    </a:p>
                  </a:txBody>
                  <a:tcPr anchor="ctr">
                    <a:lnL w="9525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6262E"/>
                          </a:solidFill>
                        </a:rPr>
                        <a:t>Focus on routing only</a:t>
                      </a:r>
                      <a:endParaRPr lang="en-US" sz="1100" dirty="0"/>
                    </a:p>
                  </a:txBody>
                  <a:tcPr anchor="ctr">
                    <a:lnL w="9525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6262E"/>
                          </a:solidFill>
                        </a:rPr>
                        <a:t>Priority + routing combined</a:t>
                      </a:r>
                      <a:endParaRPr lang="en-US" sz="1100" dirty="0"/>
                    </a:p>
                  </a:txBody>
                  <a:tcPr anchor="ctr">
                    <a:lnL w="9525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6262E"/>
                          </a:solidFill>
                        </a:rPr>
                        <a:t>Appointment prediction</a:t>
                      </a:r>
                      <a:endParaRPr lang="en-US" sz="1100" dirty="0"/>
                    </a:p>
                  </a:txBody>
                  <a:tcPr anchor="ctr">
                    <a:lnL w="9525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6262E"/>
                          </a:solidFill>
                        </a:rPr>
                        <a:t>ML classification</a:t>
                      </a:r>
                      <a:endParaRPr lang="en-US" sz="1100" dirty="0"/>
                    </a:p>
                  </a:txBody>
                  <a:tcPr anchor="ctr">
                    <a:lnL w="9525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6262E"/>
                          </a:solidFill>
                        </a:rPr>
                        <a:t>Not integrated with routing</a:t>
                      </a:r>
                      <a:endParaRPr lang="en-US" sz="1100" dirty="0"/>
                    </a:p>
                  </a:txBody>
                  <a:tcPr anchor="ctr">
                    <a:lnL w="9525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6262E"/>
                          </a:solidFill>
                        </a:rPr>
                        <a:t>ML → optimization pipeline</a:t>
                      </a:r>
                      <a:endParaRPr lang="en-US" sz="1100" dirty="0"/>
                    </a:p>
                  </a:txBody>
                  <a:tcPr anchor="ctr">
                    <a:lnL w="9525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6262E"/>
                          </a:solidFill>
                        </a:rPr>
                        <a:t>VRPTW</a:t>
                      </a:r>
                      <a:endParaRPr lang="en-US" sz="1100" dirty="0"/>
                    </a:p>
                  </a:txBody>
                  <a:tcPr anchor="ctr">
                    <a:lnL w="9525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6262E"/>
                          </a:solidFill>
                        </a:rPr>
                        <a:t>OR / heuristic optimization</a:t>
                      </a:r>
                      <a:endParaRPr lang="en-US" sz="1100" dirty="0"/>
                    </a:p>
                  </a:txBody>
                  <a:tcPr anchor="ctr">
                    <a:lnL w="9525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6262E"/>
                          </a:solidFill>
                        </a:rPr>
                        <a:t>Generic routing, not domain-specific</a:t>
                      </a:r>
                      <a:endParaRPr lang="en-US" sz="1100" dirty="0"/>
                    </a:p>
                  </a:txBody>
                  <a:tcPr anchor="ctr">
                    <a:lnL w="9525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6262E"/>
                          </a:solidFill>
                        </a:rPr>
                        <a:t>MR-specific workflow</a:t>
                      </a:r>
                      <a:endParaRPr lang="en-US" sz="1100" dirty="0"/>
                    </a:p>
                  </a:txBody>
                  <a:tcPr anchor="ctr">
                    <a:lnL w="9525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6262E"/>
                          </a:solidFill>
                        </a:rPr>
                        <a:t>Field-force software</a:t>
                      </a:r>
                      <a:endParaRPr lang="en-US" sz="1100" dirty="0"/>
                    </a:p>
                  </a:txBody>
                  <a:tcPr anchor="ctr">
                    <a:lnL w="9525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6262E"/>
                          </a:solidFill>
                        </a:rPr>
                        <a:t>CRM / SFA platforms</a:t>
                      </a:r>
                      <a:endParaRPr lang="en-US" sz="1100" dirty="0"/>
                    </a:p>
                  </a:txBody>
                  <a:tcPr anchor="ctr">
                    <a:lnL w="9525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6262E"/>
                          </a:solidFill>
                        </a:rPr>
                        <a:t>Mostly operational, not predictive</a:t>
                      </a:r>
                      <a:endParaRPr lang="en-US" sz="1100" dirty="0"/>
                    </a:p>
                  </a:txBody>
                  <a:tcPr anchor="ctr">
                    <a:lnL w="9525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6262E"/>
                          </a:solidFill>
                        </a:rPr>
                        <a:t>AI-assisted prioritization</a:t>
                      </a:r>
                      <a:endParaRPr lang="en-US" sz="1100" dirty="0"/>
                    </a:p>
                  </a:txBody>
                  <a:tcPr anchor="ctr">
                    <a:lnL w="9525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02920" y="4892040"/>
            <a:ext cx="11155680" cy="1417320"/>
          </a:xfrm>
          <a:prstGeom prst="roundRect">
            <a:avLst>
              <a:gd name="adj" fmla="val 5161"/>
            </a:avLst>
          </a:prstGeom>
          <a:solidFill>
            <a:srgbClr val="F6FAF9"/>
          </a:solidFill>
          <a:ln w="12700">
            <a:solidFill>
              <a:srgbClr val="DCE7E5"/>
            </a:solidFill>
            <a:prstDash val="solid"/>
          </a:ln>
          <a:effectLst>
            <a:outerShdw blurRad="76200" dist="25400" dir="5400000" algn="bl" rotWithShape="0">
              <a:srgbClr val="1B2A3A">
                <a:alpha val="12000"/>
              </a:srgbClr>
            </a:outerShdw>
          </a:effectLst>
        </p:spPr>
      </p:sp>
      <p:sp>
        <p:nvSpPr>
          <p:cNvPr id="4" name="Text 3"/>
          <p:cNvSpPr/>
          <p:nvPr/>
        </p:nvSpPr>
        <p:spPr>
          <a:xfrm>
            <a:off x="777240" y="5029200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0159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REFERENCE THREADS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777240" y="5303520"/>
            <a:ext cx="106070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n-US" sz="1100" dirty="0">
                <a:solidFill>
                  <a:srgbClr val="1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relevant research line models a pharmaceutical representative's daily decisions as a stochastic orienteering problem with time windows.
</a:t>
            </a:r>
            <a:r>
              <a:rPr lang="en-US" sz="11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n-US" sz="1100" dirty="0">
                <a:solidFill>
                  <a:srgbClr val="1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mathematical-programming study assigns representatives to physicians while balancing sales opportunity against travel and workload constraints.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7395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4F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AI-Based MR Visit Prioritization &amp; Route Optimization System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F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66960" y="-1554480"/>
            <a:ext cx="4023360" cy="4023360"/>
          </a:xfrm>
          <a:prstGeom prst="ellipse">
            <a:avLst/>
          </a:prstGeom>
          <a:solidFill>
            <a:srgbClr val="13315C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657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502920" y="621792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Overview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02920" y="1508760"/>
            <a:ext cx="649224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DCE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Representatives currently plan visits manually, without any objective way to weigh doctor priority, appointment windows and travel distance together. This project proposes a web-based platform that predicts each doctor visit's priority using a Random Forest model, then feeds that priority — together with time-window and duration constraints — into a Google OR-Tools route optimizer to generate a daily visit sequence. Role-based dashboards give MRs their route and give managers real-time visibility into field performance. In effect, the system converts a habit-driven task into a repeatable, data-driven decision.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7315200" y="1508760"/>
            <a:ext cx="4343400" cy="4434840"/>
          </a:xfrm>
          <a:prstGeom prst="roundRect">
            <a:avLst>
              <a:gd name="adj" fmla="val 1684"/>
            </a:avLst>
          </a:prstGeom>
          <a:solidFill>
            <a:srgbClr val="13315C"/>
          </a:solidFill>
          <a:ln w="12700">
            <a:solidFill>
              <a:srgbClr val="1E3A5F"/>
            </a:solidFill>
            <a:prstDash val="solid"/>
          </a:ln>
          <a:effectLst>
            <a:outerShdw blurRad="76200" dist="25400" dir="5400000" algn="bl" rotWithShape="0">
              <a:srgbClr val="1B2A3A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589520" y="169164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2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GAP WE ADDRESS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7589520" y="2057400"/>
            <a:ext cx="347472" cy="347472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9" name="Text 7"/>
          <p:cNvSpPr/>
          <p:nvPr/>
        </p:nvSpPr>
        <p:spPr>
          <a:xfrm>
            <a:off x="7543800" y="2057400"/>
            <a:ext cx="4389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065008" y="2057400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Visit Priority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7758684" y="2423160"/>
            <a:ext cx="0" cy="182880"/>
          </a:xfrm>
          <a:prstGeom prst="line">
            <a:avLst/>
          </a:prstGeom>
          <a:noFill/>
          <a:ln w="15875">
            <a:solidFill>
              <a:srgbClr val="02C39A"/>
            </a:solidFill>
            <a:prstDash val="dash"/>
          </a:ln>
        </p:spPr>
      </p:sp>
      <p:sp>
        <p:nvSpPr>
          <p:cNvPr id="12" name="Shape 10"/>
          <p:cNvSpPr/>
          <p:nvPr/>
        </p:nvSpPr>
        <p:spPr>
          <a:xfrm>
            <a:off x="7589520" y="2624328"/>
            <a:ext cx="347472" cy="347472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3" name="Text 11"/>
          <p:cNvSpPr/>
          <p:nvPr/>
        </p:nvSpPr>
        <p:spPr>
          <a:xfrm>
            <a:off x="7543800" y="2624328"/>
            <a:ext cx="4389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065008" y="2624328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Appointment Constraints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7758684" y="2990088"/>
            <a:ext cx="0" cy="182880"/>
          </a:xfrm>
          <a:prstGeom prst="line">
            <a:avLst/>
          </a:prstGeom>
          <a:noFill/>
          <a:ln w="15875">
            <a:solidFill>
              <a:srgbClr val="02C39A"/>
            </a:solidFill>
            <a:prstDash val="dash"/>
          </a:ln>
        </p:spPr>
      </p:sp>
      <p:sp>
        <p:nvSpPr>
          <p:cNvPr id="16" name="Shape 14"/>
          <p:cNvSpPr/>
          <p:nvPr/>
        </p:nvSpPr>
        <p:spPr>
          <a:xfrm>
            <a:off x="7589520" y="3191256"/>
            <a:ext cx="347472" cy="347472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7" name="Text 15"/>
          <p:cNvSpPr/>
          <p:nvPr/>
        </p:nvSpPr>
        <p:spPr>
          <a:xfrm>
            <a:off x="7543800" y="3191256"/>
            <a:ext cx="4389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065008" y="3191256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Optimization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7758684" y="3557016"/>
            <a:ext cx="0" cy="182880"/>
          </a:xfrm>
          <a:prstGeom prst="line">
            <a:avLst/>
          </a:prstGeom>
          <a:noFill/>
          <a:ln w="15875">
            <a:solidFill>
              <a:srgbClr val="02C39A"/>
            </a:solidFill>
            <a:prstDash val="dash"/>
          </a:ln>
        </p:spPr>
      </p:sp>
      <p:sp>
        <p:nvSpPr>
          <p:cNvPr id="20" name="Shape 18"/>
          <p:cNvSpPr/>
          <p:nvPr/>
        </p:nvSpPr>
        <p:spPr>
          <a:xfrm>
            <a:off x="7589520" y="3758184"/>
            <a:ext cx="347472" cy="347472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1" name="Text 19"/>
          <p:cNvSpPr/>
          <p:nvPr/>
        </p:nvSpPr>
        <p:spPr>
          <a:xfrm>
            <a:off x="7543800" y="3758184"/>
            <a:ext cx="4389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065008" y="3758184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Application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7758684" y="4123944"/>
            <a:ext cx="0" cy="182880"/>
          </a:xfrm>
          <a:prstGeom prst="line">
            <a:avLst/>
          </a:prstGeom>
          <a:noFill/>
          <a:ln w="15875">
            <a:solidFill>
              <a:srgbClr val="02C39A"/>
            </a:solidFill>
            <a:prstDash val="dash"/>
          </a:ln>
        </p:spPr>
      </p:sp>
      <p:sp>
        <p:nvSpPr>
          <p:cNvPr id="24" name="Shape 22"/>
          <p:cNvSpPr/>
          <p:nvPr/>
        </p:nvSpPr>
        <p:spPr>
          <a:xfrm>
            <a:off x="7589520" y="4325112"/>
            <a:ext cx="347472" cy="347472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5" name="Text 23"/>
          <p:cNvSpPr/>
          <p:nvPr/>
        </p:nvSpPr>
        <p:spPr>
          <a:xfrm>
            <a:off x="7543800" y="4325112"/>
            <a:ext cx="4389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8065008" y="4325112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 Analytics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7589520" y="5074920"/>
            <a:ext cx="3840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80" i="1" dirty="0">
                <a:solidFill>
                  <a:srgbClr val="AFC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work isolates ML prediction, routing or CRM visibility. Our contribution integrates all three into one role-based platform.</a:t>
            </a:r>
            <a:endParaRPr lang="en-US" sz="1080" dirty="0"/>
          </a:p>
        </p:txBody>
      </p:sp>
      <p:sp>
        <p:nvSpPr>
          <p:cNvPr id="28" name="Text 26"/>
          <p:cNvSpPr/>
          <p:nvPr/>
        </p:nvSpPr>
        <p:spPr>
          <a:xfrm>
            <a:off x="457200" y="647395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9FB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AI-Based MR Visit Prioritization &amp; Route Optimization System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FB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0159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·  REQUIREMENTS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 Environment &amp; Tools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508760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159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Requirements</a:t>
            </a:r>
            <a:endParaRPr lang="en-US" sz="13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828800"/>
          <a:ext cx="5303520" cy="2103120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Component</a:t>
                      </a:r>
                      <a:endParaRPr lang="en-US" sz="1150" dirty="0"/>
                    </a:p>
                  </a:txBody>
                  <a:tcPr anchor="ctr">
                    <a:lnL w="9525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Specification</a:t>
                      </a:r>
                      <a:endParaRPr lang="en-US" sz="1150" dirty="0"/>
                    </a:p>
                  </a:txBody>
                  <a:tcPr anchor="ctr">
                    <a:lnL w="9525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6262E"/>
                          </a:solidFill>
                        </a:rPr>
                        <a:t>Processor</a:t>
                      </a:r>
                      <a:endParaRPr lang="en-US" sz="1150" dirty="0"/>
                    </a:p>
                  </a:txBody>
                  <a:tcPr anchor="ctr">
                    <a:lnL w="9525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6262E"/>
                          </a:solidFill>
                        </a:rPr>
                        <a:t>Intel i5 / AMD Ryzen 5 or higher</a:t>
                      </a:r>
                      <a:endParaRPr lang="en-US" sz="1150" dirty="0"/>
                    </a:p>
                  </a:txBody>
                  <a:tcPr anchor="ctr">
                    <a:lnL w="9525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6262E"/>
                          </a:solidFill>
                        </a:rPr>
                        <a:t>RAM</a:t>
                      </a:r>
                      <a:endParaRPr lang="en-US" sz="1150" dirty="0"/>
                    </a:p>
                  </a:txBody>
                  <a:tcPr anchor="ctr">
                    <a:lnL w="9525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6262E"/>
                          </a:solidFill>
                        </a:rPr>
                        <a:t>8 GB (16 GB recommended)</a:t>
                      </a:r>
                      <a:endParaRPr lang="en-US" sz="1150" dirty="0"/>
                    </a:p>
                  </a:txBody>
                  <a:tcPr anchor="ctr">
                    <a:lnL w="9525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6262E"/>
                          </a:solidFill>
                        </a:rPr>
                        <a:t>Storage</a:t>
                      </a:r>
                      <a:endParaRPr lang="en-US" sz="1150" dirty="0"/>
                    </a:p>
                  </a:txBody>
                  <a:tcPr anchor="ctr">
                    <a:lnL w="9525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6262E"/>
                          </a:solidFill>
                        </a:rPr>
                        <a:t>SSD, minimum 256 GB</a:t>
                      </a:r>
                      <a:endParaRPr lang="en-US" sz="1150" dirty="0"/>
                    </a:p>
                  </a:txBody>
                  <a:tcPr anchor="ctr">
                    <a:lnL w="9525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6262E"/>
                          </a:solidFill>
                        </a:rPr>
                        <a:t>Connectivity</a:t>
                      </a:r>
                      <a:endParaRPr lang="en-US" sz="1150" dirty="0"/>
                    </a:p>
                  </a:txBody>
                  <a:tcPr anchor="ctr">
                    <a:lnL w="9525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6262E"/>
                          </a:solidFill>
                        </a:rPr>
                        <a:t>Stable internet connection</a:t>
                      </a:r>
                      <a:endParaRPr lang="en-US" sz="1150" dirty="0"/>
                    </a:p>
                  </a:txBody>
                  <a:tcPr anchor="ctr">
                    <a:lnL w="9525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02920" y="3977640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159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 Environment</a:t>
            </a:r>
            <a:endParaRPr lang="en-US" sz="1350" dirty="0"/>
          </a:p>
        </p:txBody>
      </p:sp>
      <p:graphicFrame>
        <p:nvGraphicFramePr>
          <p:cNvPr id="1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4297680"/>
          <a:ext cx="5303520" cy="2103120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Aspect</a:t>
                      </a:r>
                      <a:endParaRPr lang="en-US" sz="1150" dirty="0"/>
                    </a:p>
                  </a:txBody>
                  <a:tcPr anchor="ctr">
                    <a:lnL w="9525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Detail</a:t>
                      </a:r>
                      <a:endParaRPr lang="en-US" sz="1150" dirty="0"/>
                    </a:p>
                  </a:txBody>
                  <a:tcPr anchor="ctr">
                    <a:lnL w="9525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6262E"/>
                          </a:solidFill>
                        </a:rPr>
                        <a:t>IDE</a:t>
                      </a:r>
                      <a:endParaRPr lang="en-US" sz="1150" dirty="0"/>
                    </a:p>
                  </a:txBody>
                  <a:tcPr anchor="ctr">
                    <a:lnL w="9525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6262E"/>
                          </a:solidFill>
                        </a:rPr>
                        <a:t>Visual Studio Code</a:t>
                      </a:r>
                      <a:endParaRPr lang="en-US" sz="1150" dirty="0"/>
                    </a:p>
                  </a:txBody>
                  <a:tcPr anchor="ctr">
                    <a:lnL w="9525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6262E"/>
                          </a:solidFill>
                        </a:rPr>
                        <a:t>Version Control</a:t>
                      </a:r>
                      <a:endParaRPr lang="en-US" sz="1150" dirty="0"/>
                    </a:p>
                  </a:txBody>
                  <a:tcPr anchor="ctr">
                    <a:lnL w="9525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6262E"/>
                          </a:solidFill>
                        </a:rPr>
                        <a:t>Git &amp; GitHub</a:t>
                      </a:r>
                      <a:endParaRPr lang="en-US" sz="1150" dirty="0"/>
                    </a:p>
                  </a:txBody>
                  <a:tcPr anchor="ctr">
                    <a:lnL w="9525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6262E"/>
                          </a:solidFill>
                        </a:rPr>
                        <a:t>API Style</a:t>
                      </a:r>
                      <a:endParaRPr lang="en-US" sz="1150" dirty="0"/>
                    </a:p>
                  </a:txBody>
                  <a:tcPr anchor="ctr">
                    <a:lnL w="9525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6262E"/>
                          </a:solidFill>
                        </a:rPr>
                        <a:t>REST</a:t>
                      </a:r>
                      <a:endParaRPr lang="en-US" sz="1150" dirty="0"/>
                    </a:p>
                  </a:txBody>
                  <a:tcPr anchor="ctr">
                    <a:lnL w="9525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6262E"/>
                          </a:solidFill>
                        </a:rPr>
                        <a:t>Deployment Target</a:t>
                      </a:r>
                      <a:endParaRPr lang="en-US" sz="1150" dirty="0"/>
                    </a:p>
                  </a:txBody>
                  <a:tcPr anchor="ctr">
                    <a:lnL w="9525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6262E"/>
                          </a:solidFill>
                        </a:rPr>
                        <a:t>Cloud platform</a:t>
                      </a:r>
                      <a:endParaRPr lang="en-US" sz="1150" dirty="0"/>
                    </a:p>
                  </a:txBody>
                  <a:tcPr anchor="ctr">
                    <a:lnL w="9525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 4"/>
          <p:cNvSpPr/>
          <p:nvPr/>
        </p:nvSpPr>
        <p:spPr>
          <a:xfrm>
            <a:off x="6172200" y="15087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159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/ Technology Stack</a:t>
            </a:r>
            <a:endParaRPr lang="en-US" sz="1350" dirty="0"/>
          </a:p>
        </p:txBody>
      </p:sp>
      <p:graphicFrame>
        <p:nvGraphicFramePr>
          <p:cNvPr id="22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72200" y="1828800"/>
          <a:ext cx="5486400" cy="3182112"/>
        </p:xfrm>
        <a:graphic>
          <a:graphicData uri="http://schemas.openxmlformats.org/drawingml/2006/table">
            <a:tbl>
              <a:tblPr/>
              <a:tblGrid>
                <a:gridCol w="2834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51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77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Category</a:t>
                      </a:r>
                      <a:endParaRPr lang="en-US" sz="1150" dirty="0"/>
                    </a:p>
                  </a:txBody>
                  <a:tcPr anchor="ctr">
                    <a:lnL w="9525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Tool / Technology</a:t>
                      </a:r>
                      <a:endParaRPr lang="en-US" sz="1150" dirty="0"/>
                    </a:p>
                  </a:txBody>
                  <a:tcPr anchor="ctr">
                    <a:lnL w="9525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77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6262E"/>
                          </a:solidFill>
                        </a:rPr>
                        <a:t>Programming Language</a:t>
                      </a:r>
                      <a:endParaRPr lang="en-US" sz="1150" dirty="0"/>
                    </a:p>
                  </a:txBody>
                  <a:tcPr anchor="ctr">
                    <a:lnL w="9525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6262E"/>
                          </a:solidFill>
                        </a:rPr>
                        <a:t>Python</a:t>
                      </a:r>
                      <a:endParaRPr lang="en-US" sz="1150" dirty="0"/>
                    </a:p>
                  </a:txBody>
                  <a:tcPr anchor="ctr">
                    <a:lnL w="9525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77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6262E"/>
                          </a:solidFill>
                        </a:rPr>
                        <a:t>Frontend</a:t>
                      </a:r>
                      <a:endParaRPr lang="en-US" sz="1150" dirty="0"/>
                    </a:p>
                  </a:txBody>
                  <a:tcPr anchor="ctr">
                    <a:lnL w="9525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6262E"/>
                          </a:solidFill>
                        </a:rPr>
                        <a:t>React.js</a:t>
                      </a:r>
                      <a:endParaRPr lang="en-US" sz="1150" dirty="0"/>
                    </a:p>
                  </a:txBody>
                  <a:tcPr anchor="ctr">
                    <a:lnL w="9525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77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6262E"/>
                          </a:solidFill>
                        </a:rPr>
                        <a:t>Backend</a:t>
                      </a:r>
                      <a:endParaRPr lang="en-US" sz="1150" dirty="0"/>
                    </a:p>
                  </a:txBody>
                  <a:tcPr anchor="ctr">
                    <a:lnL w="9525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6262E"/>
                          </a:solidFill>
                        </a:rPr>
                        <a:t>FastAPI</a:t>
                      </a:r>
                      <a:endParaRPr lang="en-US" sz="1150" dirty="0"/>
                    </a:p>
                  </a:txBody>
                  <a:tcPr anchor="ctr">
                    <a:lnL w="9525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77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6262E"/>
                          </a:solidFill>
                        </a:rPr>
                        <a:t>Database</a:t>
                      </a:r>
                      <a:endParaRPr lang="en-US" sz="1150" dirty="0"/>
                    </a:p>
                  </a:txBody>
                  <a:tcPr anchor="ctr">
                    <a:lnL w="9525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6262E"/>
                          </a:solidFill>
                        </a:rPr>
                        <a:t>MySQL</a:t>
                      </a:r>
                      <a:endParaRPr lang="en-US" sz="1150" dirty="0"/>
                    </a:p>
                  </a:txBody>
                  <a:tcPr anchor="ctr">
                    <a:lnL w="9525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77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6262E"/>
                          </a:solidFill>
                        </a:rPr>
                        <a:t>ML Library</a:t>
                      </a:r>
                      <a:endParaRPr lang="en-US" sz="1150" dirty="0"/>
                    </a:p>
                  </a:txBody>
                  <a:tcPr anchor="ctr">
                    <a:lnL w="9525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6262E"/>
                          </a:solidFill>
                        </a:rPr>
                        <a:t>Scikit-learn</a:t>
                      </a:r>
                      <a:endParaRPr lang="en-US" sz="1150" dirty="0"/>
                    </a:p>
                  </a:txBody>
                  <a:tcPr anchor="ctr">
                    <a:lnL w="9525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77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6262E"/>
                          </a:solidFill>
                        </a:rPr>
                        <a:t>Data Handling</a:t>
                      </a:r>
                      <a:endParaRPr lang="en-US" sz="1150" dirty="0"/>
                    </a:p>
                  </a:txBody>
                  <a:tcPr anchor="ctr">
                    <a:lnL w="9525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6262E"/>
                          </a:solidFill>
                        </a:rPr>
                        <a:t>Pandas / NumPy</a:t>
                      </a:r>
                      <a:endParaRPr lang="en-US" sz="1150" dirty="0"/>
                    </a:p>
                  </a:txBody>
                  <a:tcPr anchor="ctr">
                    <a:lnL w="9525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977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6262E"/>
                          </a:solidFill>
                        </a:rPr>
                        <a:t>Optimization Engine</a:t>
                      </a:r>
                      <a:endParaRPr lang="en-US" sz="1150" dirty="0"/>
                    </a:p>
                  </a:txBody>
                  <a:tcPr anchor="ctr">
                    <a:lnL w="9525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6262E"/>
                          </a:solidFill>
                        </a:rPr>
                        <a:t>Google OR-Tools</a:t>
                      </a:r>
                      <a:endParaRPr lang="en-US" sz="1150" dirty="0"/>
                    </a:p>
                  </a:txBody>
                  <a:tcPr anchor="ctr">
                    <a:lnL w="9525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0" name="Text 5"/>
          <p:cNvSpPr/>
          <p:nvPr/>
        </p:nvSpPr>
        <p:spPr>
          <a:xfrm>
            <a:off x="457200" y="647395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4F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AI-Based MR Visit Prioritization &amp; Route Optimization System</a:t>
            </a:r>
            <a:endParaRPr lang="en-US" sz="900" dirty="0"/>
          </a:p>
        </p:txBody>
      </p:sp>
      <p:sp>
        <p:nvSpPr>
          <p:cNvPr id="11" name="Text 6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F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0159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·  SYSTEM OVERVIEW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Proposed System — End-to-End Flow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965960"/>
            <a:ext cx="1218438" cy="1417320"/>
          </a:xfrm>
          <a:prstGeom prst="roundRect">
            <a:avLst>
              <a:gd name="adj" fmla="val 6004"/>
            </a:avLst>
          </a:prstGeom>
          <a:solidFill>
            <a:srgbClr val="F6FAF9"/>
          </a:solidFill>
          <a:ln w="12700">
            <a:solidFill>
              <a:srgbClr val="DCE7E5"/>
            </a:solidFill>
            <a:prstDash val="solid"/>
          </a:ln>
          <a:effectLst>
            <a:outerShdw blurRad="76200" dist="25400" dir="5400000" algn="bl" rotWithShape="0">
              <a:srgbClr val="1B2A3A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8675" y="2130552"/>
            <a:ext cx="566928" cy="566928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828675" y="2130552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57784" y="2770632"/>
            <a:ext cx="110871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8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</a:t>
            </a:r>
            <a:endParaRPr lang="en-US" sz="108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08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080" dirty="0"/>
          </a:p>
        </p:txBody>
      </p:sp>
      <p:sp>
        <p:nvSpPr>
          <p:cNvPr id="8" name="Text 6"/>
          <p:cNvSpPr/>
          <p:nvPr/>
        </p:nvSpPr>
        <p:spPr>
          <a:xfrm>
            <a:off x="1703070" y="2350008"/>
            <a:ext cx="23774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4F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1922526" y="1965960"/>
            <a:ext cx="1218438" cy="1417320"/>
          </a:xfrm>
          <a:prstGeom prst="roundRect">
            <a:avLst>
              <a:gd name="adj" fmla="val 6004"/>
            </a:avLst>
          </a:prstGeom>
          <a:solidFill>
            <a:srgbClr val="F6FAF9"/>
          </a:solidFill>
          <a:ln w="12700">
            <a:solidFill>
              <a:srgbClr val="DCE7E5"/>
            </a:solidFill>
            <a:prstDash val="solid"/>
          </a:ln>
          <a:effectLst>
            <a:outerShdw blurRad="76200" dist="25400" dir="5400000" algn="bl" rotWithShape="0">
              <a:srgbClr val="1B2A3A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248281" y="2130552"/>
            <a:ext cx="566928" cy="566928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/>
        </p:spPr>
      </p:sp>
      <p:sp>
        <p:nvSpPr>
          <p:cNvPr id="11" name="Text 9"/>
          <p:cNvSpPr/>
          <p:nvPr/>
        </p:nvSpPr>
        <p:spPr>
          <a:xfrm>
            <a:off x="2248281" y="2130552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977390" y="2770632"/>
            <a:ext cx="110871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8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08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08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</a:t>
            </a:r>
            <a:endParaRPr lang="en-US" sz="1080" dirty="0"/>
          </a:p>
        </p:txBody>
      </p:sp>
      <p:sp>
        <p:nvSpPr>
          <p:cNvPr id="13" name="Text 11"/>
          <p:cNvSpPr/>
          <p:nvPr/>
        </p:nvSpPr>
        <p:spPr>
          <a:xfrm>
            <a:off x="3122676" y="2350008"/>
            <a:ext cx="23774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4F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3342132" y="1965960"/>
            <a:ext cx="1218438" cy="1417320"/>
          </a:xfrm>
          <a:prstGeom prst="roundRect">
            <a:avLst>
              <a:gd name="adj" fmla="val 6004"/>
            </a:avLst>
          </a:prstGeom>
          <a:solidFill>
            <a:srgbClr val="F6FAF9"/>
          </a:solidFill>
          <a:ln w="12700">
            <a:solidFill>
              <a:srgbClr val="DCE7E5"/>
            </a:solidFill>
            <a:prstDash val="solid"/>
          </a:ln>
          <a:effectLst>
            <a:outerShdw blurRad="76200" dist="25400" dir="5400000" algn="bl" rotWithShape="0">
              <a:srgbClr val="1B2A3A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67887" y="2130552"/>
            <a:ext cx="566928" cy="566928"/>
          </a:xfrm>
          <a:prstGeom prst="roundRect">
            <a:avLst>
              <a:gd name="adj" fmla="val 50000"/>
            </a:avLst>
          </a:prstGeom>
          <a:solidFill>
            <a:srgbClr val="02C39A"/>
          </a:solidFill>
          <a:ln/>
        </p:spPr>
      </p:sp>
      <p:sp>
        <p:nvSpPr>
          <p:cNvPr id="16" name="Text 14"/>
          <p:cNvSpPr/>
          <p:nvPr/>
        </p:nvSpPr>
        <p:spPr>
          <a:xfrm>
            <a:off x="3667887" y="2130552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3396996" y="2770632"/>
            <a:ext cx="110871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8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Priority</a:t>
            </a:r>
            <a:endParaRPr lang="en-US" sz="108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08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</a:t>
            </a:r>
            <a:endParaRPr lang="en-US" sz="1080" dirty="0"/>
          </a:p>
        </p:txBody>
      </p:sp>
      <p:sp>
        <p:nvSpPr>
          <p:cNvPr id="18" name="Text 16"/>
          <p:cNvSpPr/>
          <p:nvPr/>
        </p:nvSpPr>
        <p:spPr>
          <a:xfrm>
            <a:off x="4542282" y="2350008"/>
            <a:ext cx="23774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4F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4761738" y="1965960"/>
            <a:ext cx="1218438" cy="1417320"/>
          </a:xfrm>
          <a:prstGeom prst="roundRect">
            <a:avLst>
              <a:gd name="adj" fmla="val 6004"/>
            </a:avLst>
          </a:prstGeom>
          <a:solidFill>
            <a:srgbClr val="F6FAF9"/>
          </a:solidFill>
          <a:ln w="12700">
            <a:solidFill>
              <a:srgbClr val="DCE7E5"/>
            </a:solidFill>
            <a:prstDash val="solid"/>
          </a:ln>
          <a:effectLst>
            <a:outerShdw blurRad="76200" dist="25400" dir="5400000" algn="bl" rotWithShape="0">
              <a:srgbClr val="1B2A3A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087493" y="2130552"/>
            <a:ext cx="566928" cy="566928"/>
          </a:xfrm>
          <a:prstGeom prst="roundRect">
            <a:avLst>
              <a:gd name="adj" fmla="val 50000"/>
            </a:avLst>
          </a:prstGeom>
          <a:solidFill>
            <a:srgbClr val="02C39A"/>
          </a:solidFill>
          <a:ln/>
        </p:spPr>
      </p:sp>
      <p:sp>
        <p:nvSpPr>
          <p:cNvPr id="21" name="Text 19"/>
          <p:cNvSpPr/>
          <p:nvPr/>
        </p:nvSpPr>
        <p:spPr>
          <a:xfrm>
            <a:off x="5087493" y="2130552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4816602" y="2770632"/>
            <a:ext cx="110871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8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</a:t>
            </a:r>
            <a:endParaRPr lang="en-US" sz="108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08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</a:t>
            </a:r>
            <a:endParaRPr lang="en-US" sz="1080" dirty="0"/>
          </a:p>
        </p:txBody>
      </p:sp>
      <p:sp>
        <p:nvSpPr>
          <p:cNvPr id="23" name="Text 21"/>
          <p:cNvSpPr/>
          <p:nvPr/>
        </p:nvSpPr>
        <p:spPr>
          <a:xfrm>
            <a:off x="5961888" y="2350008"/>
            <a:ext cx="23774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4F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000" dirty="0"/>
          </a:p>
        </p:txBody>
      </p:sp>
      <p:sp>
        <p:nvSpPr>
          <p:cNvPr id="24" name="Shape 22"/>
          <p:cNvSpPr/>
          <p:nvPr/>
        </p:nvSpPr>
        <p:spPr>
          <a:xfrm>
            <a:off x="6181344" y="1965960"/>
            <a:ext cx="1218438" cy="1417320"/>
          </a:xfrm>
          <a:prstGeom prst="roundRect">
            <a:avLst>
              <a:gd name="adj" fmla="val 6004"/>
            </a:avLst>
          </a:prstGeom>
          <a:solidFill>
            <a:srgbClr val="F6FAF9"/>
          </a:solidFill>
          <a:ln w="12700">
            <a:solidFill>
              <a:srgbClr val="DCE7E5"/>
            </a:solidFill>
            <a:prstDash val="solid"/>
          </a:ln>
          <a:effectLst>
            <a:outerShdw blurRad="76200" dist="25400" dir="5400000" algn="bl" rotWithShape="0">
              <a:srgbClr val="1B2A3A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507099" y="2130552"/>
            <a:ext cx="566928" cy="566928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/>
        </p:spPr>
      </p:sp>
      <p:sp>
        <p:nvSpPr>
          <p:cNvPr id="26" name="Text 24"/>
          <p:cNvSpPr/>
          <p:nvPr/>
        </p:nvSpPr>
        <p:spPr>
          <a:xfrm>
            <a:off x="6507099" y="2130552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6236208" y="2770632"/>
            <a:ext cx="110871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8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Appointment</a:t>
            </a:r>
            <a:endParaRPr lang="en-US" sz="108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08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Constraints</a:t>
            </a:r>
            <a:endParaRPr lang="en-US" sz="1080" dirty="0"/>
          </a:p>
        </p:txBody>
      </p:sp>
      <p:sp>
        <p:nvSpPr>
          <p:cNvPr id="28" name="Text 26"/>
          <p:cNvSpPr/>
          <p:nvPr/>
        </p:nvSpPr>
        <p:spPr>
          <a:xfrm>
            <a:off x="7381494" y="2350008"/>
            <a:ext cx="23774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4F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000" dirty="0"/>
          </a:p>
        </p:txBody>
      </p:sp>
      <p:sp>
        <p:nvSpPr>
          <p:cNvPr id="29" name="Shape 27"/>
          <p:cNvSpPr/>
          <p:nvPr/>
        </p:nvSpPr>
        <p:spPr>
          <a:xfrm>
            <a:off x="7600950" y="1965960"/>
            <a:ext cx="1218438" cy="1417320"/>
          </a:xfrm>
          <a:prstGeom prst="roundRect">
            <a:avLst>
              <a:gd name="adj" fmla="val 6004"/>
            </a:avLst>
          </a:prstGeom>
          <a:solidFill>
            <a:srgbClr val="F6FAF9"/>
          </a:solidFill>
          <a:ln w="12700">
            <a:solidFill>
              <a:srgbClr val="DCE7E5"/>
            </a:solidFill>
            <a:prstDash val="solid"/>
          </a:ln>
          <a:effectLst>
            <a:outerShdw blurRad="76200" dist="25400" dir="5400000" algn="bl" rotWithShape="0">
              <a:srgbClr val="1B2A3A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7926705" y="2130552"/>
            <a:ext cx="566928" cy="566928"/>
          </a:xfrm>
          <a:prstGeom prst="roundRect">
            <a:avLst>
              <a:gd name="adj" fmla="val 50000"/>
            </a:avLst>
          </a:prstGeom>
          <a:solidFill>
            <a:srgbClr val="02C39A"/>
          </a:solidFill>
          <a:ln/>
        </p:spPr>
      </p:sp>
      <p:sp>
        <p:nvSpPr>
          <p:cNvPr id="31" name="Text 29"/>
          <p:cNvSpPr/>
          <p:nvPr/>
        </p:nvSpPr>
        <p:spPr>
          <a:xfrm>
            <a:off x="7926705" y="2130552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7655814" y="2770632"/>
            <a:ext cx="110871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8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OR-Tools Route</a:t>
            </a:r>
            <a:endParaRPr lang="en-US" sz="108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08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Optimization</a:t>
            </a:r>
            <a:endParaRPr lang="en-US" sz="1080" dirty="0"/>
          </a:p>
        </p:txBody>
      </p:sp>
      <p:sp>
        <p:nvSpPr>
          <p:cNvPr id="33" name="Text 31"/>
          <p:cNvSpPr/>
          <p:nvPr/>
        </p:nvSpPr>
        <p:spPr>
          <a:xfrm>
            <a:off x="8801100" y="2350008"/>
            <a:ext cx="23774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4F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000" dirty="0"/>
          </a:p>
        </p:txBody>
      </p:sp>
      <p:sp>
        <p:nvSpPr>
          <p:cNvPr id="34" name="Shape 32"/>
          <p:cNvSpPr/>
          <p:nvPr/>
        </p:nvSpPr>
        <p:spPr>
          <a:xfrm>
            <a:off x="9020556" y="1965960"/>
            <a:ext cx="1218438" cy="1417320"/>
          </a:xfrm>
          <a:prstGeom prst="roundRect">
            <a:avLst>
              <a:gd name="adj" fmla="val 6004"/>
            </a:avLst>
          </a:prstGeom>
          <a:solidFill>
            <a:srgbClr val="F6FAF9"/>
          </a:solidFill>
          <a:ln w="12700">
            <a:solidFill>
              <a:srgbClr val="DCE7E5"/>
            </a:solidFill>
            <a:prstDash val="solid"/>
          </a:ln>
          <a:effectLst>
            <a:outerShdw blurRad="76200" dist="25400" dir="5400000" algn="bl" rotWithShape="0">
              <a:srgbClr val="1B2A3A">
                <a:alpha val="12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9346311" y="2130552"/>
            <a:ext cx="566928" cy="566928"/>
          </a:xfrm>
          <a:prstGeom prst="roundRect">
            <a:avLst>
              <a:gd name="adj" fmla="val 50000"/>
            </a:avLst>
          </a:prstGeom>
          <a:solidFill>
            <a:srgbClr val="01596A"/>
          </a:solidFill>
          <a:ln/>
        </p:spPr>
      </p:sp>
      <p:sp>
        <p:nvSpPr>
          <p:cNvPr id="36" name="Text 34"/>
          <p:cNvSpPr/>
          <p:nvPr/>
        </p:nvSpPr>
        <p:spPr>
          <a:xfrm>
            <a:off x="9346311" y="2130552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500" dirty="0"/>
          </a:p>
        </p:txBody>
      </p:sp>
      <p:sp>
        <p:nvSpPr>
          <p:cNvPr id="37" name="Text 35"/>
          <p:cNvSpPr/>
          <p:nvPr/>
        </p:nvSpPr>
        <p:spPr>
          <a:xfrm>
            <a:off x="9075420" y="2770632"/>
            <a:ext cx="110871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8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MR</a:t>
            </a:r>
            <a:endParaRPr lang="en-US" sz="108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08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</a:t>
            </a:r>
            <a:endParaRPr lang="en-US" sz="1080" dirty="0"/>
          </a:p>
        </p:txBody>
      </p:sp>
      <p:sp>
        <p:nvSpPr>
          <p:cNvPr id="38" name="Text 36"/>
          <p:cNvSpPr/>
          <p:nvPr/>
        </p:nvSpPr>
        <p:spPr>
          <a:xfrm>
            <a:off x="10220706" y="2350008"/>
            <a:ext cx="23774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4F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000" dirty="0"/>
          </a:p>
        </p:txBody>
      </p:sp>
      <p:sp>
        <p:nvSpPr>
          <p:cNvPr id="39" name="Shape 37"/>
          <p:cNvSpPr/>
          <p:nvPr/>
        </p:nvSpPr>
        <p:spPr>
          <a:xfrm>
            <a:off x="10440162" y="1965960"/>
            <a:ext cx="1218438" cy="1417320"/>
          </a:xfrm>
          <a:prstGeom prst="roundRect">
            <a:avLst>
              <a:gd name="adj" fmla="val 6004"/>
            </a:avLst>
          </a:prstGeom>
          <a:solidFill>
            <a:srgbClr val="F6FAF9"/>
          </a:solidFill>
          <a:ln w="12700">
            <a:solidFill>
              <a:srgbClr val="DCE7E5"/>
            </a:solidFill>
            <a:prstDash val="solid"/>
          </a:ln>
          <a:effectLst>
            <a:outerShdw blurRad="76200" dist="25400" dir="5400000" algn="bl" rotWithShape="0">
              <a:srgbClr val="1B2A3A">
                <a:alpha val="12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10765917" y="2130552"/>
            <a:ext cx="566928" cy="566928"/>
          </a:xfrm>
          <a:prstGeom prst="roundRect">
            <a:avLst>
              <a:gd name="adj" fmla="val 50000"/>
            </a:avLst>
          </a:prstGeom>
          <a:solidFill>
            <a:srgbClr val="0B2545"/>
          </a:solidFill>
          <a:ln/>
        </p:spPr>
      </p:sp>
      <p:sp>
        <p:nvSpPr>
          <p:cNvPr id="41" name="Text 39"/>
          <p:cNvSpPr/>
          <p:nvPr/>
        </p:nvSpPr>
        <p:spPr>
          <a:xfrm>
            <a:off x="10765917" y="2130552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500" dirty="0"/>
          </a:p>
        </p:txBody>
      </p:sp>
      <p:sp>
        <p:nvSpPr>
          <p:cNvPr id="42" name="Text 40"/>
          <p:cNvSpPr/>
          <p:nvPr/>
        </p:nvSpPr>
        <p:spPr>
          <a:xfrm>
            <a:off x="10495026" y="2770632"/>
            <a:ext cx="110871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8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&amp;</a:t>
            </a:r>
            <a:endParaRPr lang="en-US" sz="108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08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</a:t>
            </a:r>
            <a:endParaRPr lang="en-US" sz="1080" dirty="0"/>
          </a:p>
        </p:txBody>
      </p:sp>
      <p:sp>
        <p:nvSpPr>
          <p:cNvPr id="43" name="Shape 41"/>
          <p:cNvSpPr/>
          <p:nvPr/>
        </p:nvSpPr>
        <p:spPr>
          <a:xfrm>
            <a:off x="502920" y="3794760"/>
            <a:ext cx="11155680" cy="2514600"/>
          </a:xfrm>
          <a:prstGeom prst="roundRect">
            <a:avLst>
              <a:gd name="adj" fmla="val 2909"/>
            </a:avLst>
          </a:prstGeom>
          <a:solidFill>
            <a:srgbClr val="0B2545"/>
          </a:solidFill>
          <a:ln w="12700">
            <a:solidFill>
              <a:srgbClr val="DCE7E5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77240" y="395020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PIECES CONNECT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777240" y="4315968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 layer</a:t>
            </a:r>
            <a:endParaRPr lang="en-US" sz="1250" dirty="0"/>
          </a:p>
        </p:txBody>
      </p:sp>
      <p:sp>
        <p:nvSpPr>
          <p:cNvPr id="46" name="Text 44"/>
          <p:cNvSpPr/>
          <p:nvPr/>
        </p:nvSpPr>
        <p:spPr>
          <a:xfrm>
            <a:off x="777240" y="4617720"/>
            <a:ext cx="342900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DCE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visit and doctor data is cleaned and fed to a Random Forest model that outputs a priority score per doctor.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4416552" y="4315968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Constraint layer</a:t>
            </a:r>
            <a:endParaRPr lang="en-US" sz="1250" dirty="0"/>
          </a:p>
        </p:txBody>
      </p:sp>
      <p:sp>
        <p:nvSpPr>
          <p:cNvPr id="48" name="Text 46"/>
          <p:cNvSpPr/>
          <p:nvPr/>
        </p:nvSpPr>
        <p:spPr>
          <a:xfrm>
            <a:off x="4416552" y="4617720"/>
            <a:ext cx="342900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DCE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 availability windows, visit duration and MR working hours are applied on top of the priority score.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8055864" y="4315968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Optimization layer</a:t>
            </a:r>
            <a:endParaRPr lang="en-US" sz="1250" dirty="0"/>
          </a:p>
        </p:txBody>
      </p:sp>
      <p:sp>
        <p:nvSpPr>
          <p:cNvPr id="50" name="Text 48"/>
          <p:cNvSpPr/>
          <p:nvPr/>
        </p:nvSpPr>
        <p:spPr>
          <a:xfrm>
            <a:off x="8055864" y="4617720"/>
            <a:ext cx="342900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DCE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OR-Tools solves a Vehicle Routing Problem with Time Windows to sequence the day's visits and minimize travel.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457200" y="647395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4F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AI-Based MR Visit Prioritization &amp; Route Optimization System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F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0159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·  SYSTEM OVERVIEW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Proposed Outcome — How We Will Measure Success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554480"/>
            <a:ext cx="3596640" cy="2743200"/>
          </a:xfrm>
          <a:prstGeom prst="roundRect">
            <a:avLst>
              <a:gd name="adj" fmla="val 2667"/>
            </a:avLst>
          </a:prstGeom>
          <a:solidFill>
            <a:srgbClr val="F6FAF9"/>
          </a:solidFill>
          <a:ln w="12700">
            <a:solidFill>
              <a:srgbClr val="DCE7E5"/>
            </a:solidFill>
            <a:prstDash val="solid"/>
          </a:ln>
          <a:effectLst>
            <a:outerShdw blurRad="76200" dist="25400" dir="5400000" algn="bl" rotWithShape="0">
              <a:srgbClr val="1B2A3A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783080"/>
            <a:ext cx="457200" cy="457200"/>
          </a:xfrm>
          <a:prstGeom prst="roundRect">
            <a:avLst>
              <a:gd name="adj" fmla="val 18000"/>
            </a:avLst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7830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325880" y="1783080"/>
            <a:ext cx="259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Evaluation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2395728"/>
            <a:ext cx="313944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1130" dirty="0">
                <a:solidFill>
                  <a:srgbClr val="1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Accuracy</a:t>
            </a:r>
            <a:endParaRPr lang="en-US" sz="113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130" dirty="0">
                <a:solidFill>
                  <a:srgbClr val="1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Precision</a:t>
            </a:r>
            <a:endParaRPr lang="en-US" sz="113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130" dirty="0">
                <a:solidFill>
                  <a:srgbClr val="1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Recall</a:t>
            </a:r>
            <a:endParaRPr lang="en-US" sz="113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130" dirty="0">
                <a:solidFill>
                  <a:srgbClr val="1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F1-score</a:t>
            </a:r>
            <a:endParaRPr lang="en-US" sz="1130" dirty="0"/>
          </a:p>
        </p:txBody>
      </p:sp>
      <p:sp>
        <p:nvSpPr>
          <p:cNvPr id="9" name="Shape 7"/>
          <p:cNvSpPr/>
          <p:nvPr/>
        </p:nvSpPr>
        <p:spPr>
          <a:xfrm>
            <a:off x="4282440" y="1554480"/>
            <a:ext cx="3596640" cy="2743200"/>
          </a:xfrm>
          <a:prstGeom prst="roundRect">
            <a:avLst>
              <a:gd name="adj" fmla="val 2667"/>
            </a:avLst>
          </a:prstGeom>
          <a:solidFill>
            <a:srgbClr val="F6FAF9"/>
          </a:solidFill>
          <a:ln w="12700">
            <a:solidFill>
              <a:srgbClr val="DCE7E5"/>
            </a:solidFill>
            <a:prstDash val="solid"/>
          </a:ln>
          <a:effectLst>
            <a:outerShdw blurRad="76200" dist="25400" dir="5400000" algn="bl" rotWithShape="0">
              <a:srgbClr val="1B2A3A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11040" y="1783080"/>
            <a:ext cx="457200" cy="457200"/>
          </a:xfrm>
          <a:prstGeom prst="roundRect">
            <a:avLst>
              <a:gd name="adj" fmla="val 18000"/>
            </a:avLst>
          </a:prstGeom>
          <a:solidFill>
            <a:srgbClr val="02C39A"/>
          </a:solidFill>
          <a:ln/>
        </p:spPr>
      </p:sp>
      <p:sp>
        <p:nvSpPr>
          <p:cNvPr id="11" name="Text 9"/>
          <p:cNvSpPr/>
          <p:nvPr/>
        </p:nvSpPr>
        <p:spPr>
          <a:xfrm>
            <a:off x="4511040" y="17830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105400" y="1783080"/>
            <a:ext cx="259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Evaluation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11040" y="2395728"/>
            <a:ext cx="313944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1130" dirty="0">
                <a:solidFill>
                  <a:srgbClr val="1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Total distance &amp; travel time</a:t>
            </a:r>
            <a:endParaRPr lang="en-US" sz="113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130" dirty="0">
                <a:solidFill>
                  <a:srgbClr val="1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Visits completed</a:t>
            </a:r>
            <a:endParaRPr lang="en-US" sz="113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130" dirty="0">
                <a:solidFill>
                  <a:srgbClr val="1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Late appointments</a:t>
            </a:r>
            <a:endParaRPr lang="en-US" sz="113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130" dirty="0">
                <a:solidFill>
                  <a:srgbClr val="1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Waiting time</a:t>
            </a:r>
            <a:endParaRPr lang="en-US" sz="113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130" dirty="0">
                <a:solidFill>
                  <a:srgbClr val="1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Improvement vs. baseline</a:t>
            </a:r>
            <a:endParaRPr lang="en-US" sz="1130" dirty="0"/>
          </a:p>
        </p:txBody>
      </p:sp>
      <p:sp>
        <p:nvSpPr>
          <p:cNvPr id="14" name="Shape 12"/>
          <p:cNvSpPr/>
          <p:nvPr/>
        </p:nvSpPr>
        <p:spPr>
          <a:xfrm>
            <a:off x="8061960" y="1554480"/>
            <a:ext cx="3596640" cy="2743200"/>
          </a:xfrm>
          <a:prstGeom prst="roundRect">
            <a:avLst>
              <a:gd name="adj" fmla="val 2667"/>
            </a:avLst>
          </a:prstGeom>
          <a:solidFill>
            <a:srgbClr val="F6FAF9"/>
          </a:solidFill>
          <a:ln w="12700">
            <a:solidFill>
              <a:srgbClr val="DCE7E5"/>
            </a:solidFill>
            <a:prstDash val="solid"/>
          </a:ln>
          <a:effectLst>
            <a:outerShdw blurRad="76200" dist="25400" dir="5400000" algn="bl" rotWithShape="0">
              <a:srgbClr val="1B2A3A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290560" y="1783080"/>
            <a:ext cx="457200" cy="457200"/>
          </a:xfrm>
          <a:prstGeom prst="roundRect">
            <a:avLst>
              <a:gd name="adj" fmla="val 18000"/>
            </a:avLst>
          </a:prstGeom>
          <a:solidFill>
            <a:srgbClr val="0B2545"/>
          </a:solidFill>
          <a:ln/>
        </p:spPr>
      </p:sp>
      <p:sp>
        <p:nvSpPr>
          <p:cNvPr id="16" name="Text 14"/>
          <p:cNvSpPr/>
          <p:nvPr/>
        </p:nvSpPr>
        <p:spPr>
          <a:xfrm>
            <a:off x="8290560" y="17830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884920" y="1783080"/>
            <a:ext cx="259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Evaluation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290560" y="2395728"/>
            <a:ext cx="313944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1130" dirty="0">
                <a:solidFill>
                  <a:srgbClr val="1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API response time</a:t>
            </a:r>
            <a:endParaRPr lang="en-US" sz="113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130" dirty="0">
                <a:solidFill>
                  <a:srgbClr val="1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Appointment creation success</a:t>
            </a:r>
            <a:endParaRPr lang="en-US" sz="113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130" dirty="0">
                <a:solidFill>
                  <a:srgbClr val="1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Dashboard functionality</a:t>
            </a:r>
            <a:endParaRPr lang="en-US" sz="113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130" dirty="0">
                <a:solidFill>
                  <a:srgbClr val="1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Role-based access control</a:t>
            </a:r>
            <a:endParaRPr lang="en-US" sz="1130" dirty="0"/>
          </a:p>
        </p:txBody>
      </p:sp>
      <p:sp>
        <p:nvSpPr>
          <p:cNvPr id="19" name="Text 17"/>
          <p:cNvSpPr/>
          <p:nvPr/>
        </p:nvSpPr>
        <p:spPr>
          <a:xfrm>
            <a:off x="502920" y="45262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159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Target — Route Efficiency Improvement</a:t>
            </a:r>
            <a:endParaRPr lang="en-US" sz="1200" dirty="0"/>
          </a:p>
        </p:txBody>
      </p:sp>
      <p:graphicFrame>
        <p:nvGraphicFramePr>
          <p:cNvPr id="20" name="Chart 0"/>
          <p:cNvGraphicFramePr/>
          <p:nvPr/>
        </p:nvGraphicFramePr>
        <p:xfrm>
          <a:off x="502920" y="4773168"/>
          <a:ext cx="5394960" cy="157276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1" name="Shape 18"/>
          <p:cNvSpPr/>
          <p:nvPr/>
        </p:nvSpPr>
        <p:spPr>
          <a:xfrm>
            <a:off x="6172200" y="4526280"/>
            <a:ext cx="5486400" cy="2057400"/>
          </a:xfrm>
          <a:prstGeom prst="roundRect">
            <a:avLst>
              <a:gd name="adj" fmla="val 3556"/>
            </a:avLst>
          </a:prstGeom>
          <a:solidFill>
            <a:srgbClr val="F6FAF9"/>
          </a:solidFill>
          <a:ln w="12700">
            <a:solidFill>
              <a:srgbClr val="DCE7E5"/>
            </a:solidFill>
            <a:prstDash val="solid"/>
          </a:ln>
          <a:effectLst>
            <a:outerShdw blurRad="76200" dist="25400" dir="5400000" algn="bl" rotWithShape="0">
              <a:srgbClr val="1B2A3A">
                <a:alpha val="12000"/>
              </a:srgbClr>
            </a:outerShdw>
          </a:effectLst>
        </p:spPr>
      </p:sp>
      <p:sp>
        <p:nvSpPr>
          <p:cNvPr id="22" name="Text 19"/>
          <p:cNvSpPr/>
          <p:nvPr/>
        </p:nvSpPr>
        <p:spPr>
          <a:xfrm>
            <a:off x="6400800" y="4709160"/>
            <a:ext cx="50292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i="1" dirty="0">
                <a:solidFill>
                  <a:srgbClr val="4F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are indicative planning targets used to design the evaluation methodology — actual figures will be measured after model training and route-optimizer testing, and compared against the manual baseline.</a:t>
            </a:r>
            <a:endParaRPr lang="en-US" sz="1150" dirty="0"/>
          </a:p>
        </p:txBody>
      </p:sp>
      <p:sp>
        <p:nvSpPr>
          <p:cNvPr id="23" name="Text 20"/>
          <p:cNvSpPr/>
          <p:nvPr/>
        </p:nvSpPr>
        <p:spPr>
          <a:xfrm>
            <a:off x="457200" y="647395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4F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AI-Based MR Visit Prioritization &amp; Route Optimization System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F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0159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 ·  ARCHITECTURE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Layered System Architecture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90956" y="1371600"/>
            <a:ext cx="3291840" cy="548640"/>
          </a:xfrm>
          <a:prstGeom prst="roundRect">
            <a:avLst>
              <a:gd name="adj" fmla="val 13333"/>
            </a:avLst>
          </a:prstGeom>
          <a:solidFill>
            <a:srgbClr val="0B2545"/>
          </a:solidFill>
          <a:ln w="12700">
            <a:solidFill>
              <a:srgbClr val="DCE7E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90956" y="137160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Representative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4448556" y="1371600"/>
            <a:ext cx="3291840" cy="548640"/>
          </a:xfrm>
          <a:prstGeom prst="roundRect">
            <a:avLst>
              <a:gd name="adj" fmla="val 13333"/>
            </a:avLst>
          </a:prstGeom>
          <a:solidFill>
            <a:srgbClr val="0B2545"/>
          </a:solidFill>
          <a:ln w="12700">
            <a:solidFill>
              <a:srgbClr val="DCE7E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448556" y="137160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8106156" y="1371600"/>
            <a:ext cx="3291840" cy="548640"/>
          </a:xfrm>
          <a:prstGeom prst="roundRect">
            <a:avLst>
              <a:gd name="adj" fmla="val 13333"/>
            </a:avLst>
          </a:prstGeom>
          <a:solidFill>
            <a:srgbClr val="0B2545"/>
          </a:solidFill>
          <a:ln w="12700">
            <a:solidFill>
              <a:srgbClr val="DCE7E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106156" y="137160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094476" y="1920240"/>
            <a:ext cx="0" cy="219456"/>
          </a:xfrm>
          <a:prstGeom prst="line">
            <a:avLst/>
          </a:prstGeom>
          <a:noFill/>
          <a:ln w="19050">
            <a:solidFill>
              <a:srgbClr val="4F657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57316" y="2075688"/>
            <a:ext cx="274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F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02920" y="2377440"/>
            <a:ext cx="11155680" cy="530352"/>
          </a:xfrm>
          <a:prstGeom prst="roundRect">
            <a:avLst>
              <a:gd name="adj" fmla="val 13793"/>
            </a:avLst>
          </a:prstGeom>
          <a:solidFill>
            <a:srgbClr val="CFE8E3"/>
          </a:solidFill>
          <a:ln w="12700">
            <a:solidFill>
              <a:srgbClr val="BEDBD6"/>
            </a:solidFill>
            <a:prstDash val="solid"/>
          </a:ln>
          <a:effectLst>
            <a:outerShdw blurRad="76200" dist="25400" dir="5400000" algn="bl" rotWithShape="0">
              <a:srgbClr val="1B2A3A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02920" y="2377440"/>
            <a:ext cx="111556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React.js Frontend  —  Role-based UI for MR, Doctor &amp; Manager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094476" y="2907792"/>
            <a:ext cx="0" cy="201168"/>
          </a:xfrm>
          <a:prstGeom prst="line">
            <a:avLst/>
          </a:prstGeom>
          <a:noFill/>
          <a:ln w="19050">
            <a:solidFill>
              <a:srgbClr val="4F657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57316" y="3044952"/>
            <a:ext cx="274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F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02920" y="3319272"/>
            <a:ext cx="11155680" cy="530352"/>
          </a:xfrm>
          <a:prstGeom prst="roundRect">
            <a:avLst>
              <a:gd name="adj" fmla="val 13793"/>
            </a:avLst>
          </a:prstGeom>
          <a:solidFill>
            <a:srgbClr val="028090"/>
          </a:solidFill>
          <a:ln w="12700">
            <a:solidFill>
              <a:srgbClr val="DCE7E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3319272"/>
            <a:ext cx="111556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Backend  —  REST APIs, business logic, orchestration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094476" y="3849624"/>
            <a:ext cx="0" cy="201168"/>
          </a:xfrm>
          <a:prstGeom prst="line">
            <a:avLst/>
          </a:prstGeom>
          <a:noFill/>
          <a:ln w="19050">
            <a:solidFill>
              <a:srgbClr val="4F657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957316" y="3986784"/>
            <a:ext cx="274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F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02920" y="4261104"/>
            <a:ext cx="3596640" cy="914400"/>
          </a:xfrm>
          <a:prstGeom prst="roundRect">
            <a:avLst>
              <a:gd name="adj" fmla="val 8000"/>
            </a:avLst>
          </a:prstGeom>
          <a:solidFill>
            <a:srgbClr val="F6FAF9"/>
          </a:solidFill>
          <a:ln w="12700">
            <a:solidFill>
              <a:srgbClr val="DCE7E5"/>
            </a:solidFill>
            <a:prstDash val="solid"/>
          </a:ln>
          <a:effectLst>
            <a:outerShdw blurRad="76200" dist="25400" dir="5400000" algn="bl" rotWithShape="0">
              <a:srgbClr val="1B2A3A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85800" y="4361688"/>
            <a:ext cx="3230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Database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685800" y="4663440"/>
            <a:ext cx="3230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F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Doctors, MRs, appointments, visit history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282440" y="4261104"/>
            <a:ext cx="3596640" cy="914400"/>
          </a:xfrm>
          <a:prstGeom prst="roundRect">
            <a:avLst>
              <a:gd name="adj" fmla="val 8000"/>
            </a:avLst>
          </a:prstGeom>
          <a:solidFill>
            <a:srgbClr val="F6FAF9"/>
          </a:solidFill>
          <a:ln w="12700">
            <a:solidFill>
              <a:srgbClr val="DCE7E5"/>
            </a:solidFill>
            <a:prstDash val="solid"/>
          </a:ln>
          <a:effectLst>
            <a:outerShdw blurRad="76200" dist="25400" dir="5400000" algn="bl" rotWithShape="0">
              <a:srgbClr val="1B2A3A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4465320" y="4361688"/>
            <a:ext cx="3230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Engine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4465320" y="4663440"/>
            <a:ext cx="3230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F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Predicts visit priority score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8061960" y="4261104"/>
            <a:ext cx="3596640" cy="914400"/>
          </a:xfrm>
          <a:prstGeom prst="roundRect">
            <a:avLst>
              <a:gd name="adj" fmla="val 8000"/>
            </a:avLst>
          </a:prstGeom>
          <a:solidFill>
            <a:srgbClr val="F6FAF9"/>
          </a:solidFill>
          <a:ln w="12700">
            <a:solidFill>
              <a:srgbClr val="DCE7E5"/>
            </a:solidFill>
            <a:prstDash val="solid"/>
          </a:ln>
          <a:effectLst>
            <a:outerShdw blurRad="76200" dist="25400" dir="5400000" algn="bl" rotWithShape="0">
              <a:srgbClr val="1B2A3A">
                <a:alpha val="12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8244840" y="4361688"/>
            <a:ext cx="3230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159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OR-Tools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8244840" y="4663440"/>
            <a:ext cx="3230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F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VRPTW route optimization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094476" y="5175504"/>
            <a:ext cx="0" cy="182880"/>
          </a:xfrm>
          <a:prstGeom prst="line">
            <a:avLst/>
          </a:prstGeom>
          <a:noFill/>
          <a:ln w="19050">
            <a:solidFill>
              <a:srgbClr val="4F657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957316" y="5294376"/>
            <a:ext cx="274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F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502920" y="5541264"/>
            <a:ext cx="11155680" cy="502920"/>
          </a:xfrm>
          <a:prstGeom prst="roundRect">
            <a:avLst>
              <a:gd name="adj" fmla="val 14545"/>
            </a:avLst>
          </a:prstGeom>
          <a:solidFill>
            <a:srgbClr val="0B2545"/>
          </a:solidFill>
          <a:ln w="12700">
            <a:solidFill>
              <a:srgbClr val="DCE7E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02920" y="5541264"/>
            <a:ext cx="11155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 Dashboard &amp; Analytics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457200" y="647395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4F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AI-Based MR Visit Prioritization &amp; Route Optimization System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F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0159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 ·  REFERENCES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Literature &amp; Tools Consulted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600200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600200"/>
            <a:ext cx="4754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[1]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051560" y="1545336"/>
            <a:ext cx="10607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on stochastic orienteering problems with time windows, applied to a pharmaceutical representative's daily visit-decision planning.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02920" y="2313432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2313432"/>
            <a:ext cx="4754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[2]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051560" y="2258568"/>
            <a:ext cx="10607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mathematical-programming study on assigning pharmaceutical representatives to physicians, balancing sales opportunity against travel and workload constraints.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02920" y="3026664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3026664"/>
            <a:ext cx="4754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[3]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051560" y="2971800"/>
            <a:ext cx="10607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pharmaceutical sales-force case study on scheduling and routing optimization, reporting improvements in visits per day and reduced travel distance.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02920" y="3739896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3739896"/>
            <a:ext cx="4754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[4]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051560" y="3685032"/>
            <a:ext cx="10607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OR-Tools Routing Library documentation — Vehicle Routing Problem with Time Windows (VRPTW).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02920" y="4453128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4453128"/>
            <a:ext cx="4754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[5]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051560" y="4398264"/>
            <a:ext cx="10607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on machine-learning classification approaches for appointment and lead-priority prediction.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02920" y="5166360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0" name="Text 18"/>
          <p:cNvSpPr/>
          <p:nvPr/>
        </p:nvSpPr>
        <p:spPr>
          <a:xfrm>
            <a:off x="457200" y="5166360"/>
            <a:ext cx="4754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[6]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051560" y="5111496"/>
            <a:ext cx="10607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Field-force automation and CRM / SFA platform literature, for comparison with existing operational tools.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02920" y="5989320"/>
            <a:ext cx="11155680" cy="0"/>
          </a:xfrm>
          <a:prstGeom prst="line">
            <a:avLst/>
          </a:prstGeom>
          <a:noFill/>
          <a:ln w="12700">
            <a:solidFill>
              <a:srgbClr val="DCE7E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647395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4F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AI-Based MR Visit Prioritization &amp; Route Optimization System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F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0159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 ·  PROJECT PLAN 1.0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Eight-Phase Delivery Timeline</a:t>
            </a:r>
            <a:endParaRPr lang="en-US" sz="30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508760"/>
          <a:ext cx="11155680" cy="4114800"/>
        </p:xfrm>
        <a:graphic>
          <a:graphicData uri="http://schemas.openxmlformats.org/drawingml/2006/table">
            <a:tbl>
              <a:tblPr/>
              <a:tblGrid>
                <a:gridCol w="548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9494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#</a:t>
                      </a:r>
                      <a:endParaRPr lang="en-US" sz="1150" dirty="0"/>
                    </a:p>
                  </a:txBody>
                  <a:tcPr anchor="ctr">
                    <a:lnL w="9525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Phase</a:t>
                      </a:r>
                      <a:endParaRPr lang="en-US" sz="1150" dirty="0"/>
                    </a:p>
                  </a:txBody>
                  <a:tcPr anchor="ctr">
                    <a:lnL w="9525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Duration</a:t>
                      </a:r>
                      <a:endParaRPr lang="en-US" sz="1150" dirty="0"/>
                    </a:p>
                  </a:txBody>
                  <a:tcPr anchor="ctr">
                    <a:lnL w="9525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Key Activities</a:t>
                      </a:r>
                      <a:endParaRPr lang="en-US" sz="1150" dirty="0"/>
                    </a:p>
                  </a:txBody>
                  <a:tcPr anchor="ctr">
                    <a:lnL w="9525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16262E"/>
                          </a:solidFill>
                        </a:rPr>
                        <a:t>1</a:t>
                      </a:r>
                      <a:endParaRPr lang="en-US" sz="1150" dirty="0"/>
                    </a:p>
                  </a:txBody>
                  <a:tcPr anchor="ctr">
                    <a:lnL w="9525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6262E"/>
                          </a:solidFill>
                        </a:rPr>
                        <a:t>Research</a:t>
                      </a:r>
                      <a:endParaRPr lang="en-US" sz="1150" dirty="0"/>
                    </a:p>
                  </a:txBody>
                  <a:tcPr anchor="ctr">
                    <a:lnL w="9525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1596A"/>
                          </a:solidFill>
                        </a:rPr>
                        <a:t>Weeks 1–2</a:t>
                      </a:r>
                      <a:endParaRPr lang="en-US" sz="1100" dirty="0"/>
                    </a:p>
                  </a:txBody>
                  <a:tcPr anchor="ctr">
                    <a:lnL w="9525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F6570"/>
                          </a:solidFill>
                        </a:rPr>
                        <a:t>Literature review + problem definition</a:t>
                      </a:r>
                      <a:endParaRPr lang="en-US" sz="1100" dirty="0"/>
                    </a:p>
                  </a:txBody>
                  <a:tcPr anchor="ctr">
                    <a:lnL w="9525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16262E"/>
                          </a:solidFill>
                        </a:rPr>
                        <a:t>2</a:t>
                      </a:r>
                      <a:endParaRPr lang="en-US" sz="1150" dirty="0"/>
                    </a:p>
                  </a:txBody>
                  <a:tcPr anchor="ctr">
                    <a:lnL w="9525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6262E"/>
                          </a:solidFill>
                        </a:rPr>
                        <a:t>Dataset</a:t>
                      </a:r>
                      <a:endParaRPr lang="en-US" sz="1150" dirty="0"/>
                    </a:p>
                  </a:txBody>
                  <a:tcPr anchor="ctr">
                    <a:lnL w="9525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1596A"/>
                          </a:solidFill>
                        </a:rPr>
                        <a:t>Weeks 3–4</a:t>
                      </a:r>
                      <a:endParaRPr lang="en-US" sz="1100" dirty="0"/>
                    </a:p>
                  </a:txBody>
                  <a:tcPr anchor="ctr">
                    <a:lnL w="9525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F6570"/>
                          </a:solidFill>
                        </a:rPr>
                        <a:t>Data acquisition + preprocessing</a:t>
                      </a:r>
                      <a:endParaRPr lang="en-US" sz="1100" dirty="0"/>
                    </a:p>
                  </a:txBody>
                  <a:tcPr anchor="ctr">
                    <a:lnL w="9525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16262E"/>
                          </a:solidFill>
                        </a:rPr>
                        <a:t>3</a:t>
                      </a:r>
                      <a:endParaRPr lang="en-US" sz="1150" dirty="0"/>
                    </a:p>
                  </a:txBody>
                  <a:tcPr anchor="ctr">
                    <a:lnL w="9525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6262E"/>
                          </a:solidFill>
                        </a:rPr>
                        <a:t>ML</a:t>
                      </a:r>
                      <a:endParaRPr lang="en-US" sz="1150" dirty="0"/>
                    </a:p>
                  </a:txBody>
                  <a:tcPr anchor="ctr">
                    <a:lnL w="9525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1596A"/>
                          </a:solidFill>
                        </a:rPr>
                        <a:t>Weeks 5–7</a:t>
                      </a:r>
                      <a:endParaRPr lang="en-US" sz="1100" dirty="0"/>
                    </a:p>
                  </a:txBody>
                  <a:tcPr anchor="ctr">
                    <a:lnL w="9525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F6570"/>
                          </a:solidFill>
                        </a:rPr>
                        <a:t>Feature engineering, model training &amp; evaluation</a:t>
                      </a:r>
                      <a:endParaRPr lang="en-US" sz="1100" dirty="0"/>
                    </a:p>
                  </a:txBody>
                  <a:tcPr anchor="ctr">
                    <a:lnL w="9525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16262E"/>
                          </a:solidFill>
                        </a:rPr>
                        <a:t>4</a:t>
                      </a:r>
                      <a:endParaRPr lang="en-US" sz="1150" dirty="0"/>
                    </a:p>
                  </a:txBody>
                  <a:tcPr anchor="ctr">
                    <a:lnL w="9525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6262E"/>
                          </a:solidFill>
                        </a:rPr>
                        <a:t>Optimization</a:t>
                      </a:r>
                      <a:endParaRPr lang="en-US" sz="1150" dirty="0"/>
                    </a:p>
                  </a:txBody>
                  <a:tcPr anchor="ctr">
                    <a:lnL w="9525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1596A"/>
                          </a:solidFill>
                        </a:rPr>
                        <a:t>Weeks 8–9</a:t>
                      </a:r>
                      <a:endParaRPr lang="en-US" sz="1100" dirty="0"/>
                    </a:p>
                  </a:txBody>
                  <a:tcPr anchor="ctr">
                    <a:lnL w="9525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F6570"/>
                          </a:solidFill>
                        </a:rPr>
                        <a:t>OR-Tools routing engine</a:t>
                      </a:r>
                      <a:endParaRPr lang="en-US" sz="1100" dirty="0"/>
                    </a:p>
                  </a:txBody>
                  <a:tcPr anchor="ctr">
                    <a:lnL w="9525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16262E"/>
                          </a:solidFill>
                        </a:rPr>
                        <a:t>5</a:t>
                      </a:r>
                      <a:endParaRPr lang="en-US" sz="1150" dirty="0"/>
                    </a:p>
                  </a:txBody>
                  <a:tcPr anchor="ctr">
                    <a:lnL w="9525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6262E"/>
                          </a:solidFill>
                        </a:rPr>
                        <a:t>Backend</a:t>
                      </a:r>
                      <a:endParaRPr lang="en-US" sz="1150" dirty="0"/>
                    </a:p>
                  </a:txBody>
                  <a:tcPr anchor="ctr">
                    <a:lnL w="9525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1596A"/>
                          </a:solidFill>
                        </a:rPr>
                        <a:t>Weeks 10–11</a:t>
                      </a:r>
                      <a:endParaRPr lang="en-US" sz="1100" dirty="0"/>
                    </a:p>
                  </a:txBody>
                  <a:tcPr anchor="ctr">
                    <a:lnL w="9525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F6570"/>
                          </a:solidFill>
                        </a:rPr>
                        <a:t>FastAPI + MySQL</a:t>
                      </a:r>
                      <a:endParaRPr lang="en-US" sz="1100" dirty="0"/>
                    </a:p>
                  </a:txBody>
                  <a:tcPr anchor="ctr">
                    <a:lnL w="9525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16262E"/>
                          </a:solidFill>
                        </a:rPr>
                        <a:t>6</a:t>
                      </a:r>
                      <a:endParaRPr lang="en-US" sz="1150" dirty="0"/>
                    </a:p>
                  </a:txBody>
                  <a:tcPr anchor="ctr">
                    <a:lnL w="9525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6262E"/>
                          </a:solidFill>
                        </a:rPr>
                        <a:t>Frontend</a:t>
                      </a:r>
                      <a:endParaRPr lang="en-US" sz="1150" dirty="0"/>
                    </a:p>
                  </a:txBody>
                  <a:tcPr anchor="ctr">
                    <a:lnL w="9525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1596A"/>
                          </a:solidFill>
                        </a:rPr>
                        <a:t>Weeks 12–13</a:t>
                      </a:r>
                      <a:endParaRPr lang="en-US" sz="1100" dirty="0"/>
                    </a:p>
                  </a:txBody>
                  <a:tcPr anchor="ctr">
                    <a:lnL w="9525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F6570"/>
                          </a:solidFill>
                        </a:rPr>
                        <a:t>React dashboard</a:t>
                      </a:r>
                      <a:endParaRPr lang="en-US" sz="1100" dirty="0"/>
                    </a:p>
                  </a:txBody>
                  <a:tcPr anchor="ctr">
                    <a:lnL w="9525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16262E"/>
                          </a:solidFill>
                        </a:rPr>
                        <a:t>7</a:t>
                      </a:r>
                      <a:endParaRPr lang="en-US" sz="1150" dirty="0"/>
                    </a:p>
                  </a:txBody>
                  <a:tcPr anchor="ctr">
                    <a:lnL w="9525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6262E"/>
                          </a:solidFill>
                        </a:rPr>
                        <a:t>Integration</a:t>
                      </a:r>
                      <a:endParaRPr lang="en-US" sz="1150" dirty="0"/>
                    </a:p>
                  </a:txBody>
                  <a:tcPr anchor="ctr">
                    <a:lnL w="9525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1596A"/>
                          </a:solidFill>
                        </a:rPr>
                        <a:t>Weeks 14–15</a:t>
                      </a:r>
                      <a:endParaRPr lang="en-US" sz="1100" dirty="0"/>
                    </a:p>
                  </a:txBody>
                  <a:tcPr anchor="ctr">
                    <a:lnL w="9525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F6570"/>
                          </a:solidFill>
                        </a:rPr>
                        <a:t>ML + backend + optimizer integration</a:t>
                      </a:r>
                      <a:endParaRPr lang="en-US" sz="1100" dirty="0"/>
                    </a:p>
                  </a:txBody>
                  <a:tcPr anchor="ctr">
                    <a:lnL w="9525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16262E"/>
                          </a:solidFill>
                        </a:rPr>
                        <a:t>8</a:t>
                      </a:r>
                      <a:endParaRPr lang="en-US" sz="1150" dirty="0"/>
                    </a:p>
                  </a:txBody>
                  <a:tcPr anchor="ctr">
                    <a:lnL w="9525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6262E"/>
                          </a:solidFill>
                        </a:rPr>
                        <a:t>Testing &amp; Deployment</a:t>
                      </a:r>
                      <a:endParaRPr lang="en-US" sz="1150" dirty="0"/>
                    </a:p>
                  </a:txBody>
                  <a:tcPr anchor="ctr">
                    <a:lnL w="9525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1596A"/>
                          </a:solidFill>
                        </a:rPr>
                        <a:t>Weeks 16–17</a:t>
                      </a:r>
                      <a:endParaRPr lang="en-US" sz="1100" dirty="0"/>
                    </a:p>
                  </a:txBody>
                  <a:tcPr anchor="ctr">
                    <a:lnL w="9525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F6570"/>
                          </a:solidFill>
                        </a:rPr>
                        <a:t>Testing, deployment &amp; documentation</a:t>
                      </a:r>
                      <a:endParaRPr lang="en-US" sz="1100" dirty="0"/>
                    </a:p>
                  </a:txBody>
                  <a:tcPr anchor="ctr">
                    <a:lnL w="9525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647395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4F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AI-Based MR Visit Prioritization &amp; Route Optimization System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F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-1645920"/>
            <a:ext cx="4754880" cy="4754880"/>
          </a:xfrm>
          <a:prstGeom prst="ellipse">
            <a:avLst/>
          </a:prstGeom>
          <a:solidFill>
            <a:srgbClr val="13315C"/>
          </a:solidFill>
          <a:ln/>
        </p:spPr>
      </p:sp>
      <p:sp>
        <p:nvSpPr>
          <p:cNvPr id="3" name="Shape 1"/>
          <p:cNvSpPr/>
          <p:nvPr/>
        </p:nvSpPr>
        <p:spPr>
          <a:xfrm>
            <a:off x="9875520" y="4114800"/>
            <a:ext cx="4023360" cy="4023360"/>
          </a:xfrm>
          <a:prstGeom prst="ellipse">
            <a:avLst/>
          </a:prstGeom>
          <a:solidFill>
            <a:srgbClr val="13315C"/>
          </a:solidFill>
          <a:ln/>
        </p:spPr>
      </p:sp>
      <p:sp>
        <p:nvSpPr>
          <p:cNvPr id="4" name="Text 2"/>
          <p:cNvSpPr/>
          <p:nvPr/>
        </p:nvSpPr>
        <p:spPr>
          <a:xfrm>
            <a:off x="0" y="2286000"/>
            <a:ext cx="1218895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0" y="3200400"/>
            <a:ext cx="12188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Suggestions Welcome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997196" y="3886200"/>
            <a:ext cx="2194560" cy="0"/>
          </a:xfrm>
          <a:prstGeom prst="line">
            <a:avLst/>
          </a:prstGeom>
          <a:noFill/>
          <a:ln w="25400">
            <a:solidFill>
              <a:srgbClr val="02C39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0" y="4160520"/>
            <a:ext cx="12188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AFC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AI-Based Medical Representative Visit Prioritization &amp; Route Optimization System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0" y="4526280"/>
            <a:ext cx="12188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8FA6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Bhakti Jayantilal Gundecha  •  Parth Lokhande  •  Udaykiran Bitla    |    Guide: Prof. M. U. Buchade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1422</Words>
  <Application>Microsoft Office PowerPoint</Application>
  <PresentationFormat>Widescreen</PresentationFormat>
  <Paragraphs>337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Gundecha</cp:lastModifiedBy>
  <cp:revision>2</cp:revision>
  <dcterms:created xsi:type="dcterms:W3CDTF">2026-08-15T09:35:37Z</dcterms:created>
  <dcterms:modified xsi:type="dcterms:W3CDTF">2026-08-15T09:45:05Z</dcterms:modified>
</cp:coreProperties>
</file>