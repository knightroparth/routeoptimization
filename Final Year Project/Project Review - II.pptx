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.jpg" ContentType="image/jpeg"/>
  <Override PartName="/ppt/media/image4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74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333333"/>
                </a:solidFill>
                <a:latin typeface="Times New Roman"/>
              </a:defRPr>
            </a:pPr>
            <a:r>
              <a:t>Pune Vidyarthi Griha's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BB0000"/>
                </a:solidFill>
                <a:latin typeface="Times New Roman"/>
              </a:defRPr>
            </a:pPr>
            <a:r>
              <a:t>COLLEGE OF ENGINEERING, TECHNOLOGY &amp; MANAGEMENT, PUNE.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7030A0"/>
                </a:solidFill>
                <a:latin typeface="Times New Roman"/>
              </a:defRPr>
            </a:pPr>
            <a:r>
              <a:t>Artificial Intelligence &amp; Data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144000" cy="254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46464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7030A0"/>
                </a:solidFill>
                <a:latin typeface="Times New Roman"/>
              </a:defRPr>
            </a:pPr>
            <a:r>
              <a:rPr dirty="0"/>
              <a:t>AI-Based Medical Representative Visit Prioritization &amp; Route Optimization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" y="3646784"/>
            <a:ext cx="103327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333333"/>
                </a:solidFill>
                <a:latin typeface="Times New Roman"/>
              </a:defRPr>
            </a:pPr>
            <a:r>
              <a:rPr dirty="0"/>
              <a:t>Bhakti Jayantilal </a:t>
            </a:r>
            <a:r>
              <a:rPr dirty="0" err="1"/>
              <a:t>Gundecha</a:t>
            </a:r>
            <a:r>
              <a:rPr dirty="0"/>
              <a:t> (3071)</a:t>
            </a:r>
            <a:endParaRPr lang="en-US" dirty="0"/>
          </a:p>
          <a:p>
            <a:pPr algn="ctr">
              <a:defRPr sz="2200" b="0" i="0">
                <a:solidFill>
                  <a:srgbClr val="333333"/>
                </a:solidFill>
                <a:latin typeface="Times New Roman"/>
              </a:defRPr>
            </a:pPr>
            <a:r>
              <a:rPr dirty="0"/>
              <a:t>Parth Lokhande (1020)</a:t>
            </a:r>
            <a:endParaRPr lang="en-US" dirty="0"/>
          </a:p>
          <a:p>
            <a:pPr algn="ctr">
              <a:defRPr sz="2200" b="0" i="0">
                <a:solidFill>
                  <a:srgbClr val="333333"/>
                </a:solidFill>
                <a:latin typeface="Times New Roman"/>
              </a:defRPr>
            </a:pPr>
            <a:r>
              <a:rPr dirty="0" err="1"/>
              <a:t>Udaykiran</a:t>
            </a:r>
            <a:r>
              <a:rPr dirty="0"/>
              <a:t> </a:t>
            </a:r>
            <a:r>
              <a:rPr dirty="0" err="1"/>
              <a:t>Bitla</a:t>
            </a:r>
            <a:r>
              <a:rPr dirty="0"/>
              <a:t> (3056)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7487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333333"/>
                </a:solidFill>
                <a:latin typeface="Times New Roman"/>
              </a:defRPr>
            </a:pPr>
            <a:r>
              <a:rPr dirty="0"/>
              <a:t>Internal Guide: Prof. Mrs. M. U. </a:t>
            </a:r>
            <a:r>
              <a:rPr dirty="0" err="1"/>
              <a:t>Buchade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3657600" y="6035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66666"/>
                </a:solidFill>
                <a:latin typeface="Times New Roman"/>
              </a:defRPr>
            </a:pPr>
            <a:r>
              <a:t>Academic Year 2026-27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t>1</a:t>
            </a:r>
          </a:p>
        </p:txBody>
      </p:sp>
      <p:pic>
        <p:nvPicPr>
          <p:cNvPr id="13" name="Image 0" descr="assets/logo-000.jpg">
            <a:extLst>
              <a:ext uri="{FF2B5EF4-FFF2-40B4-BE49-F238E27FC236}">
                <a16:creationId xmlns:a16="http://schemas.microsoft.com/office/drawing/2014/main" id="{6404231C-26E7-99F9-FE14-9D4B99702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49878"/>
            <a:ext cx="1234440" cy="1463040"/>
          </a:xfrm>
          <a:prstGeom prst="rect">
            <a:avLst/>
          </a:prstGeom>
        </p:spPr>
      </p:pic>
      <p:pic>
        <p:nvPicPr>
          <p:cNvPr id="15" name="Image 1" descr="assets/logo-001.jpg">
            <a:extLst>
              <a:ext uri="{FF2B5EF4-FFF2-40B4-BE49-F238E27FC236}">
                <a16:creationId xmlns:a16="http://schemas.microsoft.com/office/drawing/2014/main" id="{9E019702-28AD-99F2-6113-8634716F5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350227"/>
            <a:ext cx="146304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rPr sz="1050"/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rPr sz="1200"/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rPr sz="3200"/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4112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What does a Medical Representative (MR)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068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A Medical Representative is a pharmaceutical field-sales professional who visits doctors, clinics, and hospitals to promote medications. In India, there are over 5 lakh MRs working across territories every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A typical MR's day: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502920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Visiting 8 to 12 doctors in a single working day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Covering multiple locations across a territory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Working within each doctor's availability window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Prioritizing high-value doctors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Recording visit details and samples distributed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Reporting daily activity to managers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Why is this harder than it looks?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108960"/>
            <a:ext cx="50292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Every doctor has a different schedule and location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Some doctors are high-value, some are low-value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Travel between locations eats into productive time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Manual planning means the MR falls back on habit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Managers cannot see what is really happening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2356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7030A0"/>
                </a:solidFill>
                <a:latin typeface="Times New Roman"/>
              </a:defRPr>
            </a:pPr>
            <a:r>
              <a:rPr sz="1600" dirty="0"/>
              <a:t>Our project tackles this workflow: which doctors should the MR visit, in what order, and when?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rPr sz="1050"/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rPr sz="1200"/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rPr sz="3200"/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  <a:latin typeface="Times New Roman"/>
              </a:defRPr>
            </a:pPr>
            <a:r>
              <a:t>MRs currently plan their daily doctor visits using manual methods: spreadsheets, memory, or fixed routes they repeat every cycle. This approach ignores real-time constraints like doctor availability, visit urgency, and geographic efficiency.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Specific problems: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33272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High-priority doctors receive the same attention as low-priority ones (no scoring mechanism)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Routes are based on habit, not on shortest-path or time-window optimization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Doctor availability windows are tracked informally, leading to wasted trips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Managers lack visibility into field activity and cannot measure route efficiency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No feedback loop: yesterday's data does not improve today's plan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Time and fuel wasted on overlapping, inefficient travel paths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7030A0"/>
                </a:solidFill>
                <a:latin typeface="Times New Roman"/>
              </a:defRPr>
            </a:pPr>
            <a:r>
              <a:rPr dirty="0"/>
              <a:t>Problem Statement: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  <a:latin typeface="Times New Roman"/>
              </a:defRPr>
            </a:pPr>
            <a:r>
              <a:t>"How can AI-based priority prediction and constraint-based route optimization be integrated into a single web platform to automate and improve daily doctor-visit planning for Medical Representatives?"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t>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Times New Roman"/>
              </a:defRPr>
            </a:pPr>
            <a:r>
              <a:t>Our system takes raw data about doctors, visits, and appointments, runs it through an ML model to score priorities, applies real-world constraints, and produces an optimized daily route.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95457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Full Pipeline: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98115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Three operating layers: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314430"/>
              </p:ext>
            </p:extLst>
          </p:nvPr>
        </p:nvGraphicFramePr>
        <p:xfrm>
          <a:off x="457200" y="3977640"/>
          <a:ext cx="11247120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Layer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What It Does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Input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Output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Random Forest scores each visit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Doctor and visit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Priority score (0 to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Constraint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Applies real-world scheduling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Time windows, working hours, visit durations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Feasible visit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OR-Tools solves VRPTW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Priority-weighted doctors + constraints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Ordered daily route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6172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66666"/>
                </a:solidFill>
                <a:latin typeface="Times New Roman"/>
              </a:defRPr>
            </a:pPr>
            <a:r>
              <a:rPr dirty="0"/>
              <a:t>Each layer is modular and independently testable. The ML model and the optimizer can be evaluated, tuned, and replaced without affecting the other.</a:t>
            </a:r>
          </a:p>
        </p:txBody>
      </p:sp>
      <p:pic>
        <p:nvPicPr>
          <p:cNvPr id="12" name="Picture 11" descr="pipeline_diagram_1788999304656.jpg"/>
          <p:cNvPicPr>
            <a:picLocks noChangeAspect="1"/>
          </p:cNvPicPr>
          <p:nvPr/>
        </p:nvPicPr>
        <p:blipFill>
          <a:blip r:embed="rId2"/>
          <a:srcRect t="36577" b="34996"/>
          <a:stretch>
            <a:fillRect/>
          </a:stretch>
        </p:blipFill>
        <p:spPr>
          <a:xfrm>
            <a:off x="1111763" y="2512142"/>
            <a:ext cx="9937993" cy="9168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t>Literature Survey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562219"/>
              </p:ext>
            </p:extLst>
          </p:nvPr>
        </p:nvGraphicFramePr>
        <p:xfrm>
          <a:off x="274320" y="132588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 dirty="0"/>
                        <a:t>Research Paper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Year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Key Point Handled / Proposed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Improvements Suggested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Zhang, Ohlmann &amp; Thomas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(European J. of 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2014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Models a pharma rep's daily visits as a stochastic orienteering problem with time windows.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Strong optimization but no ML-based priority prediction or web dashboard.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Bouatouche &amp; Belkadi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Hybrid Firefly + Local Search for sales-rep route planning with coordinates and time windows.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Algorithm/benchmark only. No priority scoring, no end-user application.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Liu, Chen, Por &amp; Ku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(Sustainability)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Systematic review of 64 VRPTW studies. Most use metaheuristic methods.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General logistics domain. Not adapted for pharma MR constraints.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Ala &amp; Chen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Review of 150+ healthcare appointment scheduling papers including AI methods.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Focuses on patient scheduling, not pharmaceutical field-force routing.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Yi, Anandalingam &amp; Sorrell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(Expert Systems)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2003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Expert system for physician-detailing planning in pharma sales optimization.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Addresses sales effectiveness, not geographic route optimization.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80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030A0"/>
                </a:solidFill>
                <a:latin typeface="Times New Roman"/>
              </a:defRPr>
            </a:pPr>
            <a:r>
              <a:t>Key gap: existing work isolates ML prediction, routing, or CRM visibility. Nobody integrates all three into one platform.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t>Literature Survey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7030A0"/>
                </a:solidFill>
                <a:latin typeface="Times New Roman"/>
              </a:defRPr>
            </a:pPr>
            <a:r>
              <a:t>Research Gap: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Times New Roman"/>
              </a:defRPr>
            </a:pPr>
            <a:r>
              <a:t>Existing research handles routing, prediction, or CRM management as isolated problems. Optimization papers focus on algorithms without building a usable application. ML papers predict priorities without connecting to route planning. Commercial CRM tools track visits but do not optimize them.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494771"/>
              </p:ext>
            </p:extLst>
          </p:nvPr>
        </p:nvGraphicFramePr>
        <p:xfrm>
          <a:off x="457200" y="260604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 dirty="0"/>
                        <a:t>Feature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Manual Planning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Commercial CRM (Veeva)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Our Proposed System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Visit Priority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Based on gut feel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No ML-based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Random Forest predicts score (0 to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Route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Fixed familiar routes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No optimization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Google OR-Tools solves VRPTW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Time Window Constraints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Informal, often missed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Basic calendar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Hard constraints in optimization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Manager Visibility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End-of-day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Visit logs and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Real-time dashboards with route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Data-Driven 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Historical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ML model improves with more visit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715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030A0"/>
                </a:solidFill>
                <a:latin typeface="Times New Roman"/>
              </a:defRPr>
            </a:pPr>
            <a:r>
              <a:t>Our contribution: integrating predictive visit prioritization + constraint-based scheduling + route optimization into a single web platform for the Medical Representative workflow.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rPr sz="1050"/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rPr sz="1200"/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rPr sz="3200"/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Layered System Architecture: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56816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      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03704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React.js Frontend (role-based dashboards)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50592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      |  REST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      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44368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FastAPI Backend (authentication, business logic, model orchestration)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91256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      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38144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      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85032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Three backend services: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12483"/>
            <a:ext cx="1051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Key architectural decision: the ML model and OR-Tools are separate, independently testable modules. The backend orchestrates both. The model scores visits, the optimizer sequences them. Either can be improved or replaced without affecting the other.</a:t>
            </a:r>
          </a:p>
        </p:txBody>
      </p:sp>
      <p:pic>
        <p:nvPicPr>
          <p:cNvPr id="19" name="Picture 18" descr="architecture_diagram_17889992949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85044"/>
            <a:ext cx="8160774" cy="35610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rPr sz="1050"/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rPr sz="1200"/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rPr sz="3200" dirty="0"/>
              <a:t>Software Requirement</a:t>
            </a:r>
            <a:r>
              <a:rPr lang="en-US" sz="3200" dirty="0"/>
              <a:t>s</a:t>
            </a:r>
            <a:endParaRPr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2158181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Functional Requirements: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23941"/>
            <a:ext cx="566928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FR1: User registration and role-based login (MR, Manager, Doctor)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FR2: Doctor profile management (specialty, location, availability)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FR3: MR profile and territory management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FR4: Appointment creation with time-window constraints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FR5: ML-based visit priority prediction (Random Forest)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FR6: Optimized daily route generation (OR-Tools VRPTW)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FR7: MR dashboard showing optimized daily plan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FR8: Manager dashboard with team-wide analytics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FR9: Visit logging and history tracking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FR10: Report generation (visits, routes, performance)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40223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Non-Functional Requirements: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05983"/>
            <a:ext cx="5303520" cy="2174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/>
              <a:t>NFR1: API response time under 3 seconds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/>
              <a:t>NFR2: Support up to 50 doctors per territory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/>
              <a:t>NFR3: Role-based access control on all endpoints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/>
              <a:t>NFR4: Responsive web UI (desktop and tablet)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/>
              <a:t>NFR5: Input validation on all forms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/>
              <a:t>NFR6: Secure password storage (bcrypt)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/>
              <a:t>NFR7: Handle concurrent MR requests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/>
              <a:t>NFR8: Database backup capability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96899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Hardware Requirements: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562659"/>
            <a:ext cx="5303520" cy="106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Intel i5 or equivalent processor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8 GB RAM minimum, 16 GB preferred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SSD, 50 GB+ free space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Stable internet connection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rPr sz="1050"/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rPr sz="1200"/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rPr sz="3200"/>
              <a:t>Design / Algorithms /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1. Random Forest Classifier: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20"/>
            <a:ext cx="5029200" cy="157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Ensemble of 100-500 decision trees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Each tree trained on a bootstrap sample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Final prediction by majority vote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Handles mixed feature types (categorical + numerical)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Provides feature importance rankings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Classifies visits as High / Medium / Low priority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2. VRPTW (Google OR-Tools):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74520"/>
            <a:ext cx="5029200" cy="1777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Vehicle Routing Problem with Time Windows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Input: locations, travel times, service durations, time windows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Goal: minimum-cost route visiting all locations within time windows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MR working hours as outer constraint (9 AM to 6 PM)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Priority score from RF used as visit weight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Output: ordered visit sequence with arrival times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1980" y="3762481"/>
            <a:ext cx="3063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3. Feature Engineering Pipeline: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298325"/>
              </p:ext>
            </p:extLst>
          </p:nvPr>
        </p:nvGraphicFramePr>
        <p:xfrm>
          <a:off x="1683774" y="4229346"/>
          <a:ext cx="851965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8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56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3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257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Feature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Type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Source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 dirty="0"/>
                        <a:t>Purpose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Days since last visit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Numerical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Visit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Recency indicator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Visit frequency (monthly)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Numerical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Visit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Engagement 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Doctor specialty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Categorical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Doctor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Some specialties need more visits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Prescription volume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Numerical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Sales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High-volume = higher priority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Geographic distance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Numerical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Location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Travel cost for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Availability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Time 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Appointment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Hard constraint for VRPTW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t>Modules Split-Up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The system has 8 independent modules: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676194"/>
              </p:ext>
            </p:extLst>
          </p:nvPr>
        </p:nvGraphicFramePr>
        <p:xfrm>
          <a:off x="274320" y="1371600"/>
          <a:ext cx="116128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Module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Responsibility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Key Technologies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M1: Data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Doctor profiles, MR records, visit history, appointment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MySQL, FastAPI CRUD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M2: User 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Registration, login, role-based access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FastAPI, JWT, bcrypt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M3: Data Preprocessing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Cleaning, encoding, normalization, train/test splits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Pandas, NumPy, 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M4: ML Priority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Random Forest training, prediction,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Scikit-learn, joblib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M5: Constraint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Doctor time windows, MR hours, visit durations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Python constraint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M6: Route Optimizer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VRPTW formulation and solving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Google OR-Tools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M7: Frontend Dashboards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MR daily plan, manager analytics, doctor schedule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React.js, Axios, Chart.js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M8: Reporting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Visit reports, route metrics, CSV/PDF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 err="1"/>
                        <a:t>FastAPI</a:t>
                      </a:r>
                      <a:r>
                        <a:rPr sz="1400" dirty="0"/>
                        <a:t> endpoints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4360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66666"/>
                </a:solidFill>
                <a:latin typeface="Times New Roman"/>
              </a:defRPr>
            </a:pPr>
            <a:r>
              <a:rPr sz="1400" dirty="0"/>
              <a:t>Modules M4, M5, and M6 form the core intelligence pipeline. Each module has clear inputs and outputs.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rPr sz="1050"/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rPr sz="1200"/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rPr sz="3200"/>
              <a:t>Proposed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55174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How a daily visit plan gets generated, step by step: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0934"/>
            <a:ext cx="1033272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Step 1: MR logs into the dashboard. System pulls territory data from MySQL.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Step 2: Preprocessing cleans the data (missing values, encoding, normalization).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Step 3: Feature engineering extracts signals: days since last visit, visit frequency, prescription volume, distance.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Step 4: Random Forest scores each doctor visit with a priority between 0 (low) and 1 (high).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Step 5: Constraint engine applies rules: Doctor A only available 10-12, Doctor B needs 30-min visits, MR works 9 to 6.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Step 6: OR-Tools takes priority-weighted doctors and constraints, solves VRPTW, produces optimized sequence.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Step 7: MR sees the final daily plan on the dashboard: doctors in visit order with estimated arrival times.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What makes this different from existing approaches: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0332720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Data-driven priority, not gut-feel ranking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Time-window aware routing, not just shortest path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Integrated pipeline, not separate disconnected tools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Manager visibility through dashboards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t>Software Tools and Technologies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86327"/>
              </p:ext>
            </p:extLst>
          </p:nvPr>
        </p:nvGraphicFramePr>
        <p:xfrm>
          <a:off x="274320" y="1127969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8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6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8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Category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Technology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Why We Chose It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Python 3.x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Rich ML ecosystem, OR-Tools support, FastAPI compatibility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React.js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Component-based UI, large community, fast dashboard rendering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FastAPI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Async support, auto-generated docs, type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MySQL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Relational structure fits our data model, ACID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Built-in Random Forest, pipeline support, evaluation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Data 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Pandas, NumPy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Industry standard for tabular data 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Google OR-Tools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Production-grade VRPTW solver, well-documented Python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Version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Git / GitHub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Collaboration, branching, code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Visual Studio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Lightweight, extensible, integrated terminal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Cloud (TBD)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Scalable hosting for web app and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rPr sz="1100"/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rPr sz="1400"/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rPr sz="3600"/>
              <a:t>Proposed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19367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Three-level evaluation: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31634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030A0"/>
                </a:solidFill>
                <a:latin typeface="Times New Roman"/>
              </a:defRPr>
            </a:pPr>
            <a:r>
              <a:t>ML Model Evaluation: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97394"/>
            <a:ext cx="32918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Accuracy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Precision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Recall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F1-Score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Confusion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31634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030A0"/>
                </a:solidFill>
                <a:latin typeface="Times New Roman"/>
              </a:defRPr>
            </a:pPr>
            <a:r>
              <a:t>Route Evaluation: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497394"/>
            <a:ext cx="347472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Total travel distance (km)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Total travel time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Visits completed per day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Time-window violations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Idle/waiting time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% improvement over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31634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030A0"/>
                </a:solidFill>
                <a:latin typeface="Times New Roman"/>
              </a:defRPr>
            </a:pPr>
            <a:r>
              <a:t>System Evaluation: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497394"/>
            <a:ext cx="34747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API response time (under 3 sec)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Route generation time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Dashboard load time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Role-based access enforcement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Data validation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57714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Times New Roman"/>
              </a:defRPr>
            </a:pPr>
            <a:r>
              <a:t>These are evaluation criteria and planning targets. We will not claim specific improvement percentages until we have measured experimental evidence. The baseline for route comparison will be a nearest-neighbour heuristic and a simulated manual planning approach.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rPr sz="1100"/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rPr sz="1400"/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rPr sz="3600"/>
              <a:t>Feasibility and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3868" y="1677805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Feasibility Analysis: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6389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Technical: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65058"/>
            <a:ext cx="5029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Python ecosystem provides all required libraries. RF is well-understood. OR-Tools has production-grade solvers. React and </a:t>
            </a:r>
            <a:r>
              <a:rPr sz="1600" dirty="0" err="1"/>
              <a:t>FastAPI</a:t>
            </a:r>
            <a:r>
              <a:rPr sz="1600" dirty="0"/>
              <a:t> are mature frameworks.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82112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Operational: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MRs only need a web browser. No specialized hardware required on the client side.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32538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Economic: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81392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All tools and libraries are open-source and free. No licensing costs.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73669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Schedule: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74837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17-week timeline mapped to specific deliverables with buffer time for integration.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1974" y="1417320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Current Scope: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414" y="1783080"/>
            <a:ext cx="5029200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Single-MR, single-territory optimization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Random Forest for priority prediction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Google OR-Tools for VRPTW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Role-based web dashboard (MR + Manager)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MySQL database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 dirty="0" err="1"/>
              <a:t>FastAPI</a:t>
            </a:r>
            <a:r>
              <a:rPr sz="1600" dirty="0"/>
              <a:t> REST endpoints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Three-level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836055"/>
            <a:ext cx="53035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Times New Roman"/>
              </a:defRPr>
            </a:pPr>
            <a:r>
              <a:t>Future Scope: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414" y="4195424"/>
            <a:ext cx="5029200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666666"/>
                </a:solidFill>
                <a:latin typeface="Times New Roman"/>
              </a:defRPr>
            </a:pPr>
            <a:r>
              <a:rPr sz="1600" dirty="0"/>
              <a:t>Multi-MR, multi-territory optimization</a:t>
            </a:r>
          </a:p>
          <a:p>
            <a:pPr>
              <a:spcAft>
                <a:spcPts val="300"/>
              </a:spcAft>
              <a:defRPr sz="1300">
                <a:solidFill>
                  <a:srgbClr val="666666"/>
                </a:solidFill>
                <a:latin typeface="Times New Roman"/>
              </a:defRPr>
            </a:pPr>
            <a:r>
              <a:rPr sz="1600" dirty="0"/>
              <a:t>Real-time re-routing on cancellations</a:t>
            </a:r>
          </a:p>
          <a:p>
            <a:pPr>
              <a:spcAft>
                <a:spcPts val="300"/>
              </a:spcAft>
              <a:defRPr sz="1300">
                <a:solidFill>
                  <a:srgbClr val="666666"/>
                </a:solidFill>
                <a:latin typeface="Times New Roman"/>
              </a:defRPr>
            </a:pPr>
            <a:r>
              <a:rPr sz="1600" dirty="0"/>
              <a:t>Mobile application for field use</a:t>
            </a:r>
          </a:p>
          <a:p>
            <a:pPr>
              <a:spcAft>
                <a:spcPts val="300"/>
              </a:spcAft>
              <a:defRPr sz="1300">
                <a:solidFill>
                  <a:srgbClr val="666666"/>
                </a:solidFill>
                <a:latin typeface="Times New Roman"/>
              </a:defRPr>
            </a:pPr>
            <a:r>
              <a:rPr sz="1600" dirty="0"/>
              <a:t>Integration with live traffic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7275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rPr dirty="0"/>
              <a:t>Project Plan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320" y="1325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Updated Five-Phase Delivery Timeline: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337217"/>
              </p:ext>
            </p:extLst>
          </p:nvPr>
        </p:nvGraphicFramePr>
        <p:xfrm>
          <a:off x="289560" y="178308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2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1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Phase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 dirty="0"/>
                        <a:t>Duration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Deliverables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 dirty="0"/>
                        <a:t>Milestone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Phase 1: Research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and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Weeks 1-4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Literature survey, dataset acquired, preprocessing pipeline built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Dataset ready for ML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Phase 2: ML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Weeks 5-8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Random Forest trained and evaluated, model serialized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Priority model achieving target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Phase 3: Optimization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Weeks 8-10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VRPTW formulation, OR-Tools integration, route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Optimizer generates valid routes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Phase 4: Web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Weeks 10-14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FastAPI backend, MySQL schema, React frontend, dashboards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Full web app running in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Phase 5: Integration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and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Weeks 14-17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End-to-end pipeline, system testing, evaluation,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Complete working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5320" y="5806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66666"/>
                </a:solidFill>
                <a:latin typeface="Times New Roman"/>
              </a:defRPr>
            </a:pPr>
            <a:r>
              <a:t>This is Project Plan 2.0, refined based on Review-I feedback. Main change: overlapping phases 3 and 4 for parallel development.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rPr sz="1100"/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rPr sz="1400"/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rPr sz="3600"/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[1]  J. C. Yi et al., "An expert system to physician-detailing planning," Expert Systems with Applications, 2003.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[2]  S. Zhang et al., "A priori orienteering with time windows and stochastic wait times," European J. of OR, 2014.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[3]  A. Bouatouche and A. Belkadi, "A hybrid firefly algorithm for the sales representative planning problem," 2025.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[4]  X. Liu et al., "A Systematic Literature Review of VRPTW," Sustainability, 2023.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[5]  A. Ala and F. Chen, "Appointment Scheduling Problem in Healthcare Services," 2022.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[6]  Google OR-Tools Documentation, "VRPTW."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[7]  F. Pedregosa et al., "Scikit-learn: Machine Learning in Python," JMLR, 2011.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[8]  S. Ramirez, "FastAPI Documentation," https://fastapi.tiangolo.com/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1208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[9]  React.js Documentation, https://react.dev/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1500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[10] MySQL Reference Manual, https://dev.mysql.com/doc/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86000"/>
            <a:ext cx="121916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 i="0">
                <a:solidFill>
                  <a:srgbClr val="7030A0"/>
                </a:solidFill>
                <a:latin typeface="Times New Roman"/>
              </a:defRPr>
            </a:pPr>
            <a:r>
              <a:rPr sz="5400" dirty="0"/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00400"/>
            <a:ext cx="121916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666666"/>
                </a:solidFill>
                <a:latin typeface="Times New Roman"/>
              </a:defRPr>
            </a:pPr>
            <a:r>
              <a:rPr sz="2800"/>
              <a:t>Questions &amp; Suggestions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rPr sz="1400"/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2494</Words>
  <Application>Microsoft Office PowerPoint</Application>
  <PresentationFormat>Widescreen</PresentationFormat>
  <Paragraphs>396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Knightrovert Morningstar</cp:lastModifiedBy>
  <cp:revision>7</cp:revision>
  <dcterms:created xsi:type="dcterms:W3CDTF">2013-01-27T09:14:16Z</dcterms:created>
  <dcterms:modified xsi:type="dcterms:W3CDTF">2026-09-10T08:53:04Z</dcterms:modified>
  <cp:category/>
</cp:coreProperties>
</file>