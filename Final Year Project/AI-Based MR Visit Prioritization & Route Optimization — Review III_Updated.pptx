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92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21F1A"/>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18642"/>
            <a:ext cx="10566400" cy="4226558"/>
          </a:xfrm>
          <a:prstGeom prst="rect">
            <a:avLst/>
          </a:prstGeom>
          <a:noFill/>
          <a:ln/>
        </p:spPr>
        <p:txBody>
          <a:bodyPr wrap="square" lIns="0" tIns="0" rIns="0" bIns="0" rtlCol="0" anchor="t"/>
          <a:lstStyle>
            <a:lvl1pPr marL="0" indent="0" algn="l">
              <a:lnSpc>
                <a:spcPct val="140000"/>
              </a:lnSpc>
              <a:buNone/>
              <a:defRPr lang="en-US" sz="1600" dirty="0">
                <a:solidFill>
                  <a:srgbClr val="221F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21F1A"/>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18642"/>
            <a:ext cx="10566400" cy="4226558"/>
          </a:xfrm>
          <a:prstGeom prst="rect">
            <a:avLst/>
          </a:prstGeom>
          <a:noFill/>
          <a:ln/>
        </p:spPr>
        <p:txBody>
          <a:bodyPr wrap="square" lIns="0" tIns="0" rIns="0" bIns="0" rtlCol="0" anchor="t"/>
          <a:lstStyle>
            <a:lvl1pPr marL="0" indent="0" algn="l">
              <a:lnSpc>
                <a:spcPct val="140000"/>
              </a:lnSpc>
              <a:buNone/>
              <a:defRPr lang="en-US" sz="1600" dirty="0">
                <a:solidFill>
                  <a:srgbClr val="221F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B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600" i="1" dirty="0">
                <a:solidFill>
                  <a:srgbClr val="D8A24A"/>
                </a:solidFill>
                <a:latin typeface="Times New Roman" panose="02020603050405020304" pitchFamily="18" charset="0"/>
                <a:ea typeface="Georgia" pitchFamily="18" charset="-122"/>
                <a:cs typeface="Times New Roman" panose="02020603050405020304" pitchFamily="18" charset="0"/>
              </a:rPr>
              <a:t>Project Review III</a:t>
            </a:r>
            <a:endParaRPr lang="en-US" sz="16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2121297"/>
            <a:ext cx="10883392" cy="683736"/>
          </a:xfrm>
          <a:prstGeom prst="rect">
            <a:avLst/>
          </a:prstGeom>
          <a:noFill/>
          <a:ln/>
        </p:spPr>
        <p:txBody>
          <a:bodyPr wrap="square" lIns="0" tIns="0" rIns="0" bIns="0" rtlCol="0" anchor="t">
            <a:normAutofit/>
          </a:bodyPr>
          <a:lstStyle/>
          <a:p>
            <a:pPr marL="0" indent="0" algn="l">
              <a:lnSpc>
                <a:spcPts val="5184"/>
              </a:lnSpc>
              <a:buNone/>
            </a:pPr>
            <a:r>
              <a:rPr lang="en-US" sz="5400" b="0" i="0" dirty="0">
                <a:solidFill>
                  <a:srgbClr val="F5EFE3"/>
                </a:solidFill>
                <a:latin typeface="Times New Roman" panose="02020603050405020304" pitchFamily="18" charset="0"/>
                <a:ea typeface="Georgia" pitchFamily="18" charset="-122"/>
                <a:cs typeface="Times New Roman" panose="02020603050405020304" pitchFamily="18" charset="0"/>
              </a:rPr>
              <a:t>AI-Based Medical Representative</a:t>
            </a:r>
            <a:endParaRPr lang="en-US" sz="54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932033"/>
            <a:ext cx="10883392" cy="421640"/>
          </a:xfrm>
          <a:prstGeom prst="rect">
            <a:avLst/>
          </a:prstGeom>
          <a:noFill/>
          <a:ln/>
        </p:spPr>
        <p:txBody>
          <a:bodyPr wrap="square" lIns="0" tIns="0" rIns="0" bIns="0" rtlCol="0" anchor="t">
            <a:normAutofit/>
          </a:bodyPr>
          <a:lstStyle/>
          <a:p>
            <a:pPr marL="0" indent="0" algn="l">
              <a:lnSpc>
                <a:spcPts val="3120"/>
              </a:lnSpc>
              <a:buNone/>
            </a:pPr>
            <a:r>
              <a:rPr lang="en-US" sz="2800" i="1" dirty="0">
                <a:solidFill>
                  <a:srgbClr val="D8A24A"/>
                </a:solidFill>
                <a:latin typeface="Times New Roman" panose="02020603050405020304" pitchFamily="18" charset="0"/>
                <a:ea typeface="Georgia" pitchFamily="18" charset="-122"/>
                <a:cs typeface="Times New Roman" panose="02020603050405020304" pitchFamily="18" charset="0"/>
              </a:rPr>
              <a:t>Visit prioritization and route optimization</a:t>
            </a:r>
            <a:endParaRPr lang="en-US" sz="2800" dirty="0">
              <a:latin typeface="Times New Roman" panose="02020603050405020304" pitchFamily="18" charset="0"/>
              <a:cs typeface="Times New Roman" panose="02020603050405020304" pitchFamily="18" charset="0"/>
            </a:endParaRPr>
          </a:p>
        </p:txBody>
      </p:sp>
      <p:sp>
        <p:nvSpPr>
          <p:cNvPr id="5" name="Text 3"/>
          <p:cNvSpPr/>
          <p:nvPr/>
        </p:nvSpPr>
        <p:spPr>
          <a:xfrm>
            <a:off x="812800" y="3480673"/>
            <a:ext cx="8502650" cy="596900"/>
          </a:xfrm>
          <a:prstGeom prst="rect">
            <a:avLst/>
          </a:prstGeom>
          <a:noFill/>
          <a:ln/>
        </p:spPr>
        <p:txBody>
          <a:bodyPr wrap="square" lIns="0" tIns="0" rIns="0" bIns="0" rtlCol="0" anchor="t">
            <a:normAutofit/>
          </a:bodyPr>
          <a:lstStyle/>
          <a:p>
            <a:pPr marL="0" indent="0" algn="l">
              <a:lnSpc>
                <a:spcPts val="2250"/>
              </a:lnSpc>
              <a:buNone/>
            </a:pPr>
            <a:r>
              <a:rPr lang="en-US" sz="1600" dirty="0">
                <a:solidFill>
                  <a:srgbClr val="C9C3B3"/>
                </a:solidFill>
                <a:latin typeface="Times New Roman" panose="02020603050405020304" pitchFamily="18" charset="0"/>
                <a:ea typeface="Arial" pitchFamily="34" charset="-122"/>
                <a:cs typeface="Times New Roman" panose="02020603050405020304" pitchFamily="18" charset="0"/>
              </a:rPr>
              <a:t>A predictive, constraint-based planner that turns daily doctor-visit planning from guesswork into a data-driven decision.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812800" y="5097145"/>
            <a:ext cx="10566400" cy="0"/>
          </a:xfrm>
          <a:prstGeom prst="line">
            <a:avLst/>
          </a:prstGeom>
          <a:noFill/>
          <a:ln w="6350">
            <a:solidFill>
              <a:srgbClr val="4A5A52"/>
            </a:solidFill>
            <a:prstDash val="solid"/>
          </a:ln>
        </p:spPr>
      </p:sp>
      <p:sp>
        <p:nvSpPr>
          <p:cNvPr id="7" name="Text 5"/>
          <p:cNvSpPr/>
          <p:nvPr/>
        </p:nvSpPr>
        <p:spPr>
          <a:xfrm>
            <a:off x="812800" y="5302250"/>
            <a:ext cx="2590283"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Bhakti Jayantilal Gundecha · 3071</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Parth Lokhande · 1020</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Udaykiran Bitla · 3056</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3835638" y="5302250"/>
            <a:ext cx="2079470"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Group 19</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Guide: Prof. M. U. Buchade</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6362541" y="5302250"/>
            <a:ext cx="4888370"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PVG's College of Engineering, Technology &amp; Management, Pune</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Department of AI &amp; Data Science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0"/>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Problem statement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96135"/>
            <a:ext cx="4114800" cy="577850"/>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need to visit multiple doctors during a working day. Manual planning becomes difficult when the number of doctors increases and each doctor has different: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910082" y="3073400"/>
            <a:ext cx="411480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Availability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Preferred visit time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Visit duration</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073400"/>
            <a:ext cx="4114800" cy="1102360"/>
          </a:xfrm>
          <a:prstGeom prst="line">
            <a:avLst/>
          </a:prstGeom>
          <a:noFill/>
          <a:ln w="6350">
            <a:solidFill>
              <a:srgbClr val="CDBFA6"/>
            </a:solidFill>
            <a:prstDash val="solid"/>
          </a:ln>
        </p:spPr>
      </p:sp>
      <p:sp>
        <p:nvSpPr>
          <p:cNvPr id="8" name="Text 6"/>
          <p:cNvSpPr/>
          <p:nvPr/>
        </p:nvSpPr>
        <p:spPr>
          <a:xfrm>
            <a:off x="6551422" y="3073400"/>
            <a:ext cx="411480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Location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Follow-up requirement</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Travel time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Working-hour constraints</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15975" y="4603750"/>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Multiple doctors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2372757" y="474662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2629932" y="4603750"/>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priorities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186793" y="474662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4443968" y="4603750"/>
            <a:ext cx="411480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time windows</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000750" y="474662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257925" y="4603750"/>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locations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7814787" y="474662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8071962" y="4603750"/>
            <a:ext cx="4114800" cy="552450"/>
          </a:xfrm>
          <a:prstGeom prst="rect">
            <a:avLst/>
          </a:prstGeom>
          <a:noFill/>
          <a:ln w="6350">
            <a:solidFill>
              <a:srgbClr val="221F1A"/>
            </a:solidFill>
            <a:prstDash val="solid"/>
          </a:ln>
        </p:spPr>
        <p:txBody>
          <a:bodyPr wrap="square" lIns="78105" tIns="65405" rIns="78106"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Limited MR working hours</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9628743" y="474662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885918" y="4603750"/>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Manual planning</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12800" y="6238241"/>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a:t>
            </a:r>
            <a:endParaRPr lang="en-US" sz="1600" dirty="0">
              <a:latin typeface="Times New Roman" panose="02020603050405020304" pitchFamily="18" charset="0"/>
              <a:cs typeface="Times New Roman" panose="02020603050405020304" pitchFamily="18" charset="0"/>
            </a:endParaRPr>
          </a:p>
        </p:txBody>
      </p:sp>
      <p:pic>
        <p:nvPicPr>
          <p:cNvPr id="22" name="Picture 21" descr="fig01_problem_context.png"/>
          <p:cNvPicPr>
            <a:picLocks noChangeAspect="1"/>
          </p:cNvPicPr>
          <p:nvPr/>
        </p:nvPicPr>
        <p:blipFill>
          <a:blip r:embed="rId3"/>
          <a:stretch>
            <a:fillRect/>
          </a:stretch>
        </p:blipFill>
        <p:spPr>
          <a:xfrm>
            <a:off x="6858000" y="1371600"/>
            <a:ext cx="5029200" cy="26569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1"/>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Abstract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347913"/>
            <a:ext cx="3275483" cy="1866900"/>
          </a:xfrm>
          <a:prstGeom prst="rect">
            <a:avLst/>
          </a:prstGeom>
          <a:noFill/>
          <a:ln/>
        </p:spPr>
        <p:txBody>
          <a:bodyPr wrap="square" lIns="0" tIns="0" rIns="0" bIns="0" rtlCol="0" anchor="t">
            <a:no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(MRs) are required to plan multiple doctor visits within limited working hours, where doctor priority, availability, visit duration, geographical distance and travel time make manual planning difficult. This project proposes an AI-based web application for visit prioritization and route optimization.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4250055" y="2347913"/>
            <a:ext cx="0" cy="2301875"/>
          </a:xfrm>
          <a:prstGeom prst="line">
            <a:avLst/>
          </a:prstGeom>
          <a:noFill/>
          <a:ln w="6350">
            <a:solidFill>
              <a:srgbClr val="CDBFA6"/>
            </a:solidFill>
            <a:prstDash val="solid"/>
          </a:ln>
        </p:spPr>
      </p:sp>
      <p:sp>
        <p:nvSpPr>
          <p:cNvPr id="7" name="Text 5"/>
          <p:cNvSpPr/>
          <p:nvPr/>
        </p:nvSpPr>
        <p:spPr>
          <a:xfrm>
            <a:off x="4505960" y="2347913"/>
            <a:ext cx="3275483" cy="2327275"/>
          </a:xfrm>
          <a:prstGeom prst="rect">
            <a:avLst/>
          </a:prstGeom>
          <a:noFill/>
          <a:ln/>
        </p:spPr>
        <p:txBody>
          <a:bodyPr wrap="square" lIns="0" tIns="0" rIns="0" bIns="0" rtlCol="0" anchor="t">
            <a:no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The system uses historical and operational data to estimate the priority of planned doctor visits using a Machine Learning model. The resulting priority information is combined with appointment time windows, visit duration, MR working hours and travel information. Google OR-Tools is then used to generate a feasible route using Vehicle Routing Problem with Time Windows (VRPTW) concepts.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7943215" y="2347913"/>
            <a:ext cx="0" cy="920750"/>
          </a:xfrm>
          <a:prstGeom prst="line">
            <a:avLst/>
          </a:prstGeom>
          <a:noFill/>
          <a:ln w="6350">
            <a:solidFill>
              <a:srgbClr val="CDBFA6"/>
            </a:solidFill>
            <a:prstDash val="solid"/>
          </a:ln>
        </p:spPr>
      </p:sp>
      <p:sp>
        <p:nvSpPr>
          <p:cNvPr id="9" name="Text 7"/>
          <p:cNvSpPr/>
          <p:nvPr/>
        </p:nvSpPr>
        <p:spPr>
          <a:xfrm>
            <a:off x="8199120" y="2347913"/>
            <a:ext cx="3275483" cy="946150"/>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The system provides role-based dashboards for Medical Representatives and managers, enabling data-driven visit planning, monitoring and analysis.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12800" y="5326380"/>
            <a:ext cx="1088339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Keywords: Medical Representative, Machine Learning, Visit Prioritization, Route Optimization, VRPTW, Random Forest, Google OR-Tools</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1"/>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Why this project?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08108"/>
            <a:ext cx="10883392" cy="301625"/>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spend significant time in field activities.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selection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73558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992755" y="2624297"/>
            <a:ext cx="1852930" cy="58547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scheduling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91236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16953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Travel planning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08914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34631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execution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926592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52309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Follow-up</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2800" y="3549810"/>
            <a:ext cx="10883392" cy="28321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The existing manual process creates three major challenges:</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Prioritization problem</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812800" y="4787027"/>
            <a:ext cx="3275483" cy="26479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Which doctor should be visited first?</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250055" y="4144407"/>
            <a:ext cx="0" cy="882015"/>
          </a:xfrm>
          <a:prstGeom prst="line">
            <a:avLst/>
          </a:prstGeom>
          <a:noFill/>
          <a:ln w="6350">
            <a:solidFill>
              <a:srgbClr val="CDBFA6"/>
            </a:solidFill>
            <a:prstDash val="solid"/>
          </a:ln>
        </p:spPr>
      </p:sp>
      <p:sp>
        <p:nvSpPr>
          <p:cNvPr id="20" name="Text 18"/>
          <p:cNvSpPr/>
          <p:nvPr/>
        </p:nvSpPr>
        <p:spPr>
          <a:xfrm>
            <a:off x="450596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450596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Scheduling problem</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505960" y="4787027"/>
            <a:ext cx="3275483" cy="26479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When can the doctor be visited?</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7943215" y="4144407"/>
            <a:ext cx="0" cy="1121410"/>
          </a:xfrm>
          <a:prstGeom prst="line">
            <a:avLst/>
          </a:prstGeom>
          <a:noFill/>
          <a:ln w="6350">
            <a:solidFill>
              <a:srgbClr val="CDBFA6"/>
            </a:solidFill>
            <a:prstDash val="solid"/>
          </a:ln>
        </p:spPr>
      </p:sp>
      <p:sp>
        <p:nvSpPr>
          <p:cNvPr id="24" name="Text 22"/>
          <p:cNvSpPr/>
          <p:nvPr/>
        </p:nvSpPr>
        <p:spPr>
          <a:xfrm>
            <a:off x="819912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819912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Routing problem</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8199120" y="4787027"/>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In what sequence should doctors be visited?</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5602607"/>
            <a:ext cx="5177460" cy="26479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Visit priority</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 Machine Learning → “Who to prioritize?”</a:t>
            </a:r>
            <a:endParaRPr lang="en-US" sz="1600" dirty="0">
              <a:latin typeface="Times New Roman" panose="02020603050405020304" pitchFamily="18" charset="0"/>
              <a:cs typeface="Times New Roman" panose="02020603050405020304" pitchFamily="18" charset="0"/>
            </a:endParaRPr>
          </a:p>
        </p:txBody>
      </p:sp>
      <p:sp>
        <p:nvSpPr>
          <p:cNvPr id="28" name="Shape 26"/>
          <p:cNvSpPr/>
          <p:nvPr/>
        </p:nvSpPr>
        <p:spPr>
          <a:xfrm>
            <a:off x="6096635" y="5602607"/>
            <a:ext cx="0" cy="239395"/>
          </a:xfrm>
          <a:prstGeom prst="line">
            <a:avLst/>
          </a:prstGeom>
          <a:noFill/>
          <a:ln w="6350">
            <a:solidFill>
              <a:srgbClr val="CDBFA6"/>
            </a:solidFill>
            <a:prstDash val="solid"/>
          </a:ln>
        </p:spPr>
      </p:sp>
      <p:sp>
        <p:nvSpPr>
          <p:cNvPr id="29" name="Text 27"/>
          <p:cNvSpPr/>
          <p:nvPr/>
        </p:nvSpPr>
        <p:spPr>
          <a:xfrm>
            <a:off x="6352540" y="5602607"/>
            <a:ext cx="5177460" cy="26479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Route sequence</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 Optimization → “Where and when to go?”</a:t>
            </a:r>
            <a:endParaRPr lang="en-US" sz="1600" dirty="0">
              <a:latin typeface="Times New Roman" panose="02020603050405020304" pitchFamily="18" charset="0"/>
              <a:cs typeface="Times New Roman" panose="02020603050405020304" pitchFamily="18" charset="0"/>
            </a:endParaRPr>
          </a:p>
        </p:txBody>
      </p:sp>
      <p:sp>
        <p:nvSpPr>
          <p:cNvPr id="30" name="Text 28"/>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Existing system</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1999614"/>
            <a:ext cx="1230948"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Manager / MR</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2113598"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370773" y="1999614"/>
            <a:ext cx="123102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doctors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3668475"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3925650" y="1999614"/>
            <a:ext cx="1230948"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Check availability</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5223272"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5480447" y="1999614"/>
            <a:ext cx="1231027"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Manually arrange visits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6778149"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7035324" y="1999614"/>
            <a:ext cx="1230948" cy="552450"/>
          </a:xfrm>
          <a:prstGeom prst="rect">
            <a:avLst/>
          </a:prstGeom>
          <a:noFill/>
          <a:ln w="6350">
            <a:solidFill>
              <a:srgbClr val="221F1A"/>
            </a:solidFill>
            <a:prstDash val="solid"/>
          </a:ln>
        </p:spPr>
        <p:txBody>
          <a:bodyPr wrap="square" lIns="86122" tIns="78105" rIns="86122"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Estimate travel</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332946"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8590121" y="1999614"/>
            <a:ext cx="1231027"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Prepare daily schedule</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9887824"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10144999" y="1999614"/>
            <a:ext cx="123102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doctors</a:t>
            </a:r>
            <a:endParaRPr lang="en-US" sz="1600" dirty="0">
              <a:latin typeface="Times New Roman" panose="02020603050405020304" pitchFamily="18" charset="0"/>
              <a:cs typeface="Times New Roman" panose="02020603050405020304" pitchFamily="18" charset="0"/>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890521"/>
          <a:ext cx="10556240" cy="2951480"/>
        </p:xfrm>
        <a:graphic>
          <a:graphicData uri="http://schemas.openxmlformats.org/drawingml/2006/table">
            <a:tbl>
              <a:tblPr/>
              <a:tblGrid>
                <a:gridCol w="4644746">
                  <a:extLst>
                    <a:ext uri="{9D8B030D-6E8A-4147-A177-3AD203B41FA5}">
                      <a16:colId xmlns:a16="http://schemas.microsoft.com/office/drawing/2014/main" val="20000"/>
                    </a:ext>
                  </a:extLst>
                </a:gridCol>
                <a:gridCol w="5911494">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Existing approach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Limitation</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Manual prioritization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Subjective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Spreadsheet planning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Difficult to scale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 navigation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Navigation ≠ visit scheduling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Separate appointment system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Doesn't optimize the entire route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Static plans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Difficult to handle changes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Limited analytics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Poor management visibility</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6"/>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19091"/>
            <a:ext cx="10566400" cy="0"/>
          </a:xfrm>
          <a:prstGeom prst="line">
            <a:avLst/>
          </a:prstGeom>
          <a:noFill/>
          <a:ln w="6350">
            <a:solidFill>
              <a:srgbClr val="CDBFA6"/>
            </a:solidFill>
            <a:prstDash val="solid"/>
          </a:ln>
        </p:spPr>
      </p:sp>
      <p:sp>
        <p:nvSpPr>
          <p:cNvPr id="3" name="Text 1"/>
          <p:cNvSpPr/>
          <p:nvPr/>
        </p:nvSpPr>
        <p:spPr>
          <a:xfrm>
            <a:off x="812800" y="812800"/>
            <a:ext cx="10883392" cy="239078"/>
          </a:xfrm>
          <a:prstGeom prst="rect">
            <a:avLst/>
          </a:prstGeom>
          <a:noFill/>
          <a:ln/>
        </p:spPr>
        <p:txBody>
          <a:bodyPr wrap="square" lIns="0" tIns="0" rIns="0" bIns="0" rtlCol="0" anchor="t">
            <a:normAutofit/>
          </a:bodyPr>
          <a:lstStyle/>
          <a:p>
            <a:pPr marL="0" indent="0" algn="l">
              <a:lnSpc>
                <a:spcPts val="1723"/>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Background</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77277"/>
            <a:ext cx="10883392" cy="412909"/>
          </a:xfrm>
          <a:prstGeom prst="rect">
            <a:avLst/>
          </a:prstGeom>
          <a:noFill/>
          <a:ln/>
        </p:spPr>
        <p:txBody>
          <a:bodyPr wrap="square" lIns="0" tIns="0" rIns="0" bIns="0" rtlCol="0" anchor="t">
            <a:normAutofit/>
          </a:bodyPr>
          <a:lstStyle/>
          <a:p>
            <a:pPr marL="0" indent="0" algn="l">
              <a:lnSpc>
                <a:spcPts val="3073"/>
              </a:lnSpc>
              <a:buNone/>
            </a:pPr>
            <a:r>
              <a:rPr lang="en-US" sz="3200" b="1" i="0" dirty="0">
                <a:solidFill>
                  <a:srgbClr val="221F1A"/>
                </a:solidFill>
                <a:latin typeface="Times New Roman" panose="02020603050405020304" pitchFamily="18" charset="0"/>
                <a:ea typeface="Georgia" pitchFamily="18" charset="-122"/>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35627"/>
          <a:ext cx="10556239" cy="4006377"/>
        </p:xfrm>
        <a:graphic>
          <a:graphicData uri="http://schemas.openxmlformats.org/drawingml/2006/table">
            <a:tbl>
              <a:tblPr/>
              <a:tblGrid>
                <a:gridCol w="1900123">
                  <a:extLst>
                    <a:ext uri="{9D8B030D-6E8A-4147-A177-3AD203B41FA5}">
                      <a16:colId xmlns:a16="http://schemas.microsoft.com/office/drawing/2014/main" val="20000"/>
                    </a:ext>
                  </a:extLst>
                </a:gridCol>
                <a:gridCol w="2744622">
                  <a:extLst>
                    <a:ext uri="{9D8B030D-6E8A-4147-A177-3AD203B41FA5}">
                      <a16:colId xmlns:a16="http://schemas.microsoft.com/office/drawing/2014/main" val="20001"/>
                    </a:ext>
                  </a:extLst>
                </a:gridCol>
                <a:gridCol w="2744622">
                  <a:extLst>
                    <a:ext uri="{9D8B030D-6E8A-4147-A177-3AD203B41FA5}">
                      <a16:colId xmlns:a16="http://schemas.microsoft.com/office/drawing/2014/main" val="20002"/>
                    </a:ext>
                  </a:extLst>
                </a:gridCol>
                <a:gridCol w="3166872">
                  <a:extLst>
                    <a:ext uri="{9D8B030D-6E8A-4147-A177-3AD203B41FA5}">
                      <a16:colId xmlns:a16="http://schemas.microsoft.com/office/drawing/2014/main" val="20003"/>
                    </a:ext>
                  </a:extLst>
                </a:gridCol>
              </a:tblGrid>
              <a:tr h="399098">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Study</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Main focus</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Technique</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Limitation / gap</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Yi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Physician detailing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Neural network + optimization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Older expert-system approach</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70243">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Zhang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Pharmaceutical sales representative routing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Orienteering + time windows</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Focuses strongly on routing/selection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Solomon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VRPTW</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Routing algorithms</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General routing benchmark</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Liu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VRPTW literature review</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Survey</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No MR-specific application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70243">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Rhee &amp; Yi</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Physician interest prediction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Predictive modelling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Targeting rather than route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670322">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Bouatouche &amp; Belkadi</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Sales representative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Hybrid optimization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Optimization-focused</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99177">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Shala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Field-service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Operations research</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Technician/service context</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Background</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Research gap</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40939"/>
            <a:ext cx="4114800" cy="577850"/>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Existing research commonly addresses physician targeting, sales representative planning, appointment scheduling, vehicle routing and field-service optimization. However, these areas are often treated as separate decision problems.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3766186"/>
            <a:ext cx="4114800"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 operational data</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372757" y="40081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629932" y="3766186"/>
            <a:ext cx="4114800" cy="750570"/>
          </a:xfrm>
          <a:prstGeom prst="rect">
            <a:avLst/>
          </a:prstGeom>
          <a:noFill/>
          <a:ln w="6350">
            <a:solidFill>
              <a:srgbClr val="221F1A"/>
            </a:solidFill>
            <a:prstDash val="solid"/>
          </a:ln>
        </p:spPr>
        <p:txBody>
          <a:bodyPr wrap="square" lIns="78105" tIns="78105" rIns="781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prioritization (ML model)</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186793" y="40081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4443968" y="3766186"/>
            <a:ext cx="4114800" cy="750570"/>
          </a:xfrm>
          <a:prstGeom prst="rect">
            <a:avLst/>
          </a:prstGeom>
          <a:noFill/>
          <a:ln w="6350">
            <a:solidFill>
              <a:srgbClr val="221F1A"/>
            </a:solidFill>
            <a:prstDash val="solid"/>
          </a:ln>
        </p:spPr>
        <p:txBody>
          <a:bodyPr wrap="square" lIns="84455" tIns="78105" rIns="8445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information</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00750" y="40081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6257925" y="3766186"/>
            <a:ext cx="4114800" cy="75057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constraints + travel information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7814787" y="40081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071962" y="3766186"/>
            <a:ext cx="4114800" cy="750570"/>
          </a:xfrm>
          <a:prstGeom prst="rect">
            <a:avLst/>
          </a:prstGeom>
          <a:noFill/>
          <a:ln w="6350">
            <a:solidFill>
              <a:srgbClr val="221F1A"/>
            </a:solidFill>
            <a:prstDash val="solid"/>
          </a:ln>
        </p:spPr>
        <p:txBody>
          <a:bodyPr wrap="square" lIns="78105" tIns="78105" rIns="78106"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Route optimization (OR-Tools)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9628743" y="40081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9885918" y="3766186"/>
            <a:ext cx="4114800"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Daily visit schedule</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831850" y="5289550"/>
            <a:ext cx="4114800" cy="552450"/>
          </a:xfrm>
          <a:prstGeom prst="line">
            <a:avLst/>
          </a:prstGeom>
          <a:noFill/>
          <a:ln w="38100">
            <a:solidFill>
              <a:srgbClr val="9E3B25"/>
            </a:solidFill>
            <a:prstDash val="solid"/>
          </a:ln>
        </p:spPr>
      </p:sp>
      <p:sp>
        <p:nvSpPr>
          <p:cNvPr id="18" name="Text 16"/>
          <p:cNvSpPr/>
          <p:nvPr/>
        </p:nvSpPr>
        <p:spPr>
          <a:xfrm>
            <a:off x="1051560" y="5289550"/>
            <a:ext cx="4114800" cy="577850"/>
          </a:xfrm>
          <a:prstGeom prst="rect">
            <a:avLst/>
          </a:prstGeom>
          <a:noFill/>
          <a:ln/>
        </p:spPr>
        <p:txBody>
          <a:bodyPr wrap="square" lIns="0" tIns="0" rIns="0" bIns="0" rtlCol="0" anchor="t">
            <a:normAutofit/>
          </a:bodyPr>
          <a:lstStyle/>
          <a:p>
            <a:pPr marL="0" indent="0" algn="l">
              <a:lnSpc>
                <a:spcPts val="2175"/>
              </a:lnSpc>
              <a:buNone/>
            </a:pPr>
            <a:r>
              <a:rPr lang="en-US" i="1" dirty="0">
                <a:solidFill>
                  <a:srgbClr val="221F1A"/>
                </a:solidFill>
                <a:latin typeface="Times New Roman" panose="02020603050405020304" pitchFamily="18" charset="0"/>
                <a:ea typeface="Georgia" pitchFamily="18" charset="-122"/>
                <a:cs typeface="Times New Roman" panose="02020603050405020304" pitchFamily="18" charset="0"/>
              </a:rPr>
              <a:t>Research contribution: integration of data-driven visit prioritization with constraint-based route optimization in a single MR decision-support workflow.</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812800" y="6238239"/>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7</a:t>
            </a:r>
            <a:endParaRPr lang="en-US" sz="1600" dirty="0">
              <a:latin typeface="Times New Roman" panose="02020603050405020304" pitchFamily="18" charset="0"/>
              <a:cs typeface="Times New Roman" panose="02020603050405020304" pitchFamily="18" charset="0"/>
            </a:endParaRPr>
          </a:p>
        </p:txBody>
      </p:sp>
      <p:pic>
        <p:nvPicPr>
          <p:cNvPr id="20" name="Picture 19" descr="fig02_research_gap.png"/>
          <p:cNvPicPr>
            <a:picLocks noChangeAspect="1"/>
          </p:cNvPicPr>
          <p:nvPr/>
        </p:nvPicPr>
        <p:blipFill>
          <a:blip r:embed="rId3"/>
          <a:stretch>
            <a:fillRect/>
          </a:stretch>
        </p:blipFill>
        <p:spPr>
          <a:xfrm>
            <a:off x="6858000" y="1371600"/>
            <a:ext cx="5029200" cy="22116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Proposed solution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Three intelligence layers</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1 · Prediction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Machine learning</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347721"/>
            <a:ext cx="3275483" cy="504190"/>
          </a:xfrm>
          <a:prstGeom prst="rect">
            <a:avLst/>
          </a:prstGeom>
          <a:noFill/>
          <a:ln/>
        </p:spPr>
        <p:txBody>
          <a:bodyPr wrap="square" lIns="0" tIns="0" rIns="0" bIns="0" rtlCol="0" anchor="t">
            <a:no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Predict visit priority.</a:t>
            </a:r>
            <a:endParaRPr lang="en-US" sz="1600" dirty="0">
              <a:latin typeface="Times New Roman" panose="02020603050405020304" pitchFamily="18" charset="0"/>
              <a:cs typeface="Times New Roman" panose="02020603050405020304" pitchFamily="18" charset="0"/>
            </a:endParaRPr>
          </a:p>
          <a:p>
            <a:pPr marL="0" indent="0" algn="l">
              <a:lnSpc>
                <a:spcPts val="1885"/>
              </a:lnSpc>
              <a:buNone/>
            </a:pPr>
            <a:r>
              <a:rPr lang="en-US" sz="1600" i="1" dirty="0">
                <a:solidFill>
                  <a:srgbClr val="221F1A"/>
                </a:solidFill>
                <a:latin typeface="Times New Roman" panose="02020603050405020304" pitchFamily="18" charset="0"/>
                <a:ea typeface="Arial" pitchFamily="34" charset="-122"/>
                <a:cs typeface="Times New Roman" panose="02020603050405020304" pitchFamily="18" charset="0"/>
              </a:rPr>
              <a:t>“Which planned visit is more important?”</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50055" y="2690496"/>
            <a:ext cx="0" cy="1375410"/>
          </a:xfrm>
          <a:prstGeom prst="line">
            <a:avLst/>
          </a:prstGeom>
          <a:noFill/>
          <a:ln w="6350">
            <a:solidFill>
              <a:srgbClr val="CDBFA6"/>
            </a:solidFill>
            <a:prstDash val="solid"/>
          </a:ln>
        </p:spPr>
      </p:sp>
      <p:sp>
        <p:nvSpPr>
          <p:cNvPr id="9" name="Text 7"/>
          <p:cNvSpPr/>
          <p:nvPr/>
        </p:nvSpPr>
        <p:spPr>
          <a:xfrm>
            <a:off x="450596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2 · Optimization</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0596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Google OR-Tools / VRPTW</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4505960" y="3347721"/>
            <a:ext cx="3275483" cy="74358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a feasible route.</a:t>
            </a:r>
            <a:endParaRPr lang="en-US" sz="1600" dirty="0">
              <a:latin typeface="Times New Roman" panose="02020603050405020304" pitchFamily="18" charset="0"/>
              <a:cs typeface="Times New Roman" panose="02020603050405020304" pitchFamily="18" charset="0"/>
            </a:endParaRPr>
          </a:p>
          <a:p>
            <a:pPr marL="0" indent="0" algn="l">
              <a:lnSpc>
                <a:spcPts val="1885"/>
              </a:lnSpc>
              <a:buNone/>
            </a:pPr>
            <a:r>
              <a:rPr lang="en-US" sz="1600" i="1" dirty="0">
                <a:solidFill>
                  <a:srgbClr val="221F1A"/>
                </a:solidFill>
                <a:latin typeface="Times New Roman" panose="02020603050405020304" pitchFamily="18" charset="0"/>
                <a:ea typeface="Arial" pitchFamily="34" charset="-122"/>
                <a:cs typeface="Times New Roman" panose="02020603050405020304" pitchFamily="18" charset="0"/>
              </a:rPr>
              <a:t>“In what sequence should visits be performed?”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43215" y="2690496"/>
            <a:ext cx="0" cy="1136015"/>
          </a:xfrm>
          <a:prstGeom prst="line">
            <a:avLst/>
          </a:prstGeom>
          <a:noFill/>
          <a:ln w="6350">
            <a:solidFill>
              <a:srgbClr val="CDBFA6"/>
            </a:solidFill>
            <a:prstDash val="solid"/>
          </a:ln>
        </p:spPr>
      </p:sp>
      <p:sp>
        <p:nvSpPr>
          <p:cNvPr id="13" name="Text 11"/>
          <p:cNvSpPr/>
          <p:nvPr/>
        </p:nvSpPr>
        <p:spPr>
          <a:xfrm>
            <a:off x="819912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3 · Application</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19912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Web dashboard</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199120" y="3347721"/>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Allow MRs and managers to interact with the results.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15975" y="5088254"/>
            <a:ext cx="1490107" cy="7505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Agency data</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2372757"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2629932" y="5088254"/>
            <a:ext cx="1490186"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 preprocessing</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4186793"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4443968" y="5088254"/>
            <a:ext cx="1490107" cy="750570"/>
          </a:xfrm>
          <a:prstGeom prst="rect">
            <a:avLst/>
          </a:prstGeom>
          <a:noFill/>
          <a:ln w="6350">
            <a:solidFill>
              <a:srgbClr val="221F1A"/>
            </a:solidFill>
            <a:prstDash val="solid"/>
          </a:ln>
        </p:spPr>
        <p:txBody>
          <a:bodyPr wrap="square" lIns="78105" tIns="78105" rIns="78105" bIns="78105" rtlCol="0" anchor="ctr">
            <a:normAutofit fontScale="85000" lnSpcReduction="10000"/>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prediction + constraints</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6000750"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6257925" y="5088254"/>
            <a:ext cx="1490186" cy="750570"/>
          </a:xfrm>
          <a:prstGeom prst="rect">
            <a:avLst/>
          </a:prstGeom>
          <a:noFill/>
          <a:ln w="6350">
            <a:solidFill>
              <a:srgbClr val="221F1A"/>
            </a:solidFill>
            <a:prstDash val="solid"/>
          </a:ln>
        </p:spPr>
        <p:txBody>
          <a:bodyPr wrap="square" lIns="78105" tIns="78105" rIns="781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Route optimization (OR-Tools)</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7814787"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8071962" y="5088254"/>
            <a:ext cx="1490107" cy="750570"/>
          </a:xfrm>
          <a:prstGeom prst="rect">
            <a:avLst/>
          </a:prstGeom>
          <a:noFill/>
          <a:ln w="6350">
            <a:solidFill>
              <a:srgbClr val="221F1A"/>
            </a:solidFill>
            <a:prstDash val="solid"/>
          </a:ln>
        </p:spPr>
        <p:txBody>
          <a:bodyPr wrap="square" lIns="78105" tIns="78105" rIns="78106"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schedule</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9628743"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9885918" y="5088254"/>
            <a:ext cx="1490107" cy="75057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dashboard | Manager dashboard</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Proposed solution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Proposed methodology</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1</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Data collection</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2983229"/>
            <a:ext cx="3275483"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MR, historical visit, appointment, location and visit-outcome information; existing priority/category information, if available.</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50055" y="2340614"/>
            <a:ext cx="0" cy="1526540"/>
          </a:xfrm>
          <a:prstGeom prst="line">
            <a:avLst/>
          </a:prstGeom>
          <a:noFill/>
          <a:ln w="6350">
            <a:solidFill>
              <a:srgbClr val="CDBFA6"/>
            </a:solidFill>
            <a:prstDash val="solid"/>
          </a:ln>
        </p:spPr>
      </p:sp>
      <p:sp>
        <p:nvSpPr>
          <p:cNvPr id="9" name="Text 7"/>
          <p:cNvSpPr/>
          <p:nvPr/>
        </p:nvSpPr>
        <p:spPr>
          <a:xfrm>
            <a:off x="450596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0596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Data preprocessing</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4505960" y="2983229"/>
            <a:ext cx="3275483" cy="90932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Remove duplicates, handle missing values, validate coordinates, encode categorical features, normalize/transform where required, detect inconsistent records.</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43215" y="2340614"/>
            <a:ext cx="0" cy="863600"/>
          </a:xfrm>
          <a:prstGeom prst="line">
            <a:avLst/>
          </a:prstGeom>
          <a:noFill/>
          <a:ln w="6350">
            <a:solidFill>
              <a:srgbClr val="CDBFA6"/>
            </a:solidFill>
            <a:prstDash val="solid"/>
          </a:ln>
        </p:spPr>
      </p:sp>
      <p:sp>
        <p:nvSpPr>
          <p:cNvPr id="13" name="Text 11"/>
          <p:cNvSpPr/>
          <p:nvPr/>
        </p:nvSpPr>
        <p:spPr>
          <a:xfrm>
            <a:off x="819912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3</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19912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Machine learning</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199120" y="2983229"/>
            <a:ext cx="3275483" cy="24638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Train priority prediction model.</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4</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Optimization</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812800" y="5179064"/>
            <a:ext cx="3275483"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Create travel-time matrix, distance matrix, time windows, visit duration and working-hour constraints. Then solve the routing problem.</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250055" y="4536442"/>
            <a:ext cx="0" cy="863600"/>
          </a:xfrm>
          <a:prstGeom prst="line">
            <a:avLst/>
          </a:prstGeom>
          <a:noFill/>
          <a:ln w="6350">
            <a:solidFill>
              <a:srgbClr val="CDBFA6"/>
            </a:solidFill>
            <a:prstDash val="solid"/>
          </a:ln>
        </p:spPr>
      </p:sp>
      <p:sp>
        <p:nvSpPr>
          <p:cNvPr id="20" name="Text 18"/>
          <p:cNvSpPr/>
          <p:nvPr/>
        </p:nvSpPr>
        <p:spPr>
          <a:xfrm>
            <a:off x="450596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5</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450596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Web application</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505960" y="5179064"/>
            <a:ext cx="3275483" cy="24638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FastAPI + React + MySQL.</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7943215" y="4536442"/>
            <a:ext cx="0" cy="1084580"/>
          </a:xfrm>
          <a:prstGeom prst="line">
            <a:avLst/>
          </a:prstGeom>
          <a:noFill/>
          <a:ln w="6350">
            <a:solidFill>
              <a:srgbClr val="CDBFA6"/>
            </a:solidFill>
            <a:prstDash val="solid"/>
          </a:ln>
        </p:spPr>
      </p:sp>
      <p:sp>
        <p:nvSpPr>
          <p:cNvPr id="24" name="Text 22"/>
          <p:cNvSpPr/>
          <p:nvPr/>
        </p:nvSpPr>
        <p:spPr>
          <a:xfrm>
            <a:off x="819912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6</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819912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Evaluation</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8199120" y="5179064"/>
            <a:ext cx="3275483"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Compare manual/baseline plan vs optimized plan.</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B26"/>
        </a:solidFill>
        <a:effectLst/>
      </p:bgPr>
    </p:bg>
    <p:spTree>
      <p:nvGrpSpPr>
        <p:cNvPr id="1" name=""/>
        <p:cNvGrpSpPr/>
        <p:nvPr/>
      </p:nvGrpSpPr>
      <p:grpSpPr>
        <a:xfrm>
          <a:off x="0" y="0"/>
          <a:ext cx="0" cy="0"/>
          <a:chOff x="0" y="0"/>
          <a:chExt cx="0" cy="0"/>
        </a:xfrm>
      </p:grpSpPr>
      <p:sp>
        <p:nvSpPr>
          <p:cNvPr id="2" name="Shape 0"/>
          <p:cNvSpPr/>
          <p:nvPr/>
        </p:nvSpPr>
        <p:spPr>
          <a:xfrm>
            <a:off x="812800" y="1734185"/>
            <a:ext cx="4114800" cy="0"/>
          </a:xfrm>
          <a:prstGeom prst="line">
            <a:avLst/>
          </a:prstGeom>
          <a:noFill/>
          <a:ln w="6350">
            <a:solidFill>
              <a:srgbClr val="4A5A52"/>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D8A24A"/>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107442"/>
            <a:ext cx="10883392" cy="472440"/>
          </a:xfrm>
          <a:prstGeom prst="rect">
            <a:avLst/>
          </a:prstGeom>
          <a:noFill/>
          <a:ln/>
        </p:spPr>
        <p:txBody>
          <a:bodyPr wrap="square" lIns="0" tIns="0" rIns="0" bIns="0" rtlCol="0" anchor="t">
            <a:normAutofit/>
          </a:bodyPr>
          <a:lstStyle/>
          <a:p>
            <a:pPr marL="0" indent="0" algn="l">
              <a:lnSpc>
                <a:spcPts val="3520"/>
              </a:lnSpc>
              <a:buNone/>
            </a:pPr>
            <a:r>
              <a:rPr lang="en-US" sz="4000" b="1" i="0" dirty="0">
                <a:solidFill>
                  <a:srgbClr val="F5EFE3"/>
                </a:solidFill>
                <a:latin typeface="Times New Roman" panose="02020603050405020304" pitchFamily="18" charset="0"/>
                <a:ea typeface="Georgia" pitchFamily="18" charset="-122"/>
                <a:cs typeface="Times New Roman" panose="02020603050405020304" pitchFamily="18" charset="0"/>
              </a:rPr>
              <a:t>System architecture</a:t>
            </a:r>
            <a:endParaRPr lang="en-US" sz="4000" dirty="0">
              <a:latin typeface="Times New Roman" panose="02020603050405020304" pitchFamily="18" charset="0"/>
              <a:cs typeface="Times New Roman" panose="02020603050405020304" pitchFamily="18" charset="0"/>
            </a:endParaRPr>
          </a:p>
        </p:txBody>
      </p:sp>
      <p:pic>
        <p:nvPicPr>
          <p:cNvPr id="5" name="Image 0" descr="Architecture: data flows through preprocessing into the ML priority engine and constraint engine, then the OR-Tools route optimizer, then MR and manager dashboards"/>
          <p:cNvPicPr>
            <a:picLocks noChangeAspect="1"/>
          </p:cNvPicPr>
          <p:nvPr/>
        </p:nvPicPr>
        <p:blipFill>
          <a:blip r:embed="rId3"/>
          <a:srcRect l="-20" r="-20"/>
          <a:stretch/>
        </p:blipFill>
        <p:spPr>
          <a:xfrm>
            <a:off x="812800" y="2794000"/>
            <a:ext cx="10566400" cy="3048000"/>
          </a:xfrm>
          <a:prstGeom prst="rect">
            <a:avLst/>
          </a:prstGeom>
        </p:spPr>
      </p:pic>
      <p:sp>
        <p:nvSpPr>
          <p:cNvPr id="6" name="Text 3"/>
          <p:cNvSpPr/>
          <p:nvPr/>
        </p:nvSpPr>
        <p:spPr>
          <a:xfrm>
            <a:off x="812800" y="6238242"/>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8D9A91"/>
                </a:solidFill>
                <a:latin typeface="Times New Roman" panose="02020603050405020304" pitchFamily="18" charset="0"/>
                <a:ea typeface="Arial" pitchFamily="34" charset="-122"/>
                <a:cs typeface="Times New Roman" panose="02020603050405020304" pitchFamily="18" charset="0"/>
              </a:rPr>
              <a:t>Group 19 · Project Review III · 10</a:t>
            </a:r>
            <a:endParaRPr lang="en-US" sz="1600" dirty="0">
              <a:latin typeface="Times New Roman" panose="02020603050405020304" pitchFamily="18" charset="0"/>
              <a:cs typeface="Times New Roman" panose="02020603050405020304" pitchFamily="18" charset="0"/>
            </a:endParaRPr>
          </a:p>
        </p:txBody>
      </p:sp>
      <p:pic>
        <p:nvPicPr>
          <p:cNvPr id="7" name="Picture 6" descr="fig06_architecture.png"/>
          <p:cNvPicPr>
            <a:picLocks noChangeAspect="1"/>
          </p:cNvPicPr>
          <p:nvPr/>
        </p:nvPicPr>
        <p:blipFill>
          <a:blip r:embed="rId4"/>
          <a:stretch>
            <a:fillRect/>
          </a:stretch>
        </p:blipFill>
        <p:spPr>
          <a:xfrm>
            <a:off x="6858000" y="1371600"/>
            <a:ext cx="5029200" cy="30011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 flow</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87532"/>
            <a:ext cx="4114800" cy="28321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Suppose an MR logs in.</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3564651"/>
            <a:ext cx="411480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login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735580" y="37075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992755" y="3564651"/>
            <a:ext cx="411480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date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912360" y="37075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169535" y="3564651"/>
            <a:ext cx="411480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assigned doctors</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089140" y="37075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346315" y="3564651"/>
            <a:ext cx="4114800"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appointment constraints</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9265920" y="37075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523095" y="3564651"/>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priority prediction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5975" y="4212351"/>
            <a:ext cx="411480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priority information</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2735580" y="43552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2992755" y="4212351"/>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travel matrix</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4912360" y="43552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5169535" y="4212351"/>
            <a:ext cx="411480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Apply constraints</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7089140" y="43552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7346315" y="4212351"/>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 optimization</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9265920" y="435522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9523095" y="4212351"/>
            <a:ext cx="411480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route</a:t>
            </a:r>
            <a:endParaRPr lang="en-US" sz="1600" dirty="0">
              <a:latin typeface="Times New Roman" panose="02020603050405020304" pitchFamily="18" charset="0"/>
              <a:cs typeface="Times New Roman" panose="02020603050405020304" pitchFamily="18" charset="0"/>
            </a:endParaRPr>
          </a:p>
        </p:txBody>
      </p:sp>
      <p:sp>
        <p:nvSpPr>
          <p:cNvPr id="24" name="Text 22"/>
          <p:cNvSpPr/>
          <p:nvPr/>
        </p:nvSpPr>
        <p:spPr>
          <a:xfrm>
            <a:off x="812800" y="5584192"/>
            <a:ext cx="4114800"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Display: doctor · visit order · time · priority · travel time · distance</a:t>
            </a:r>
            <a:endParaRPr lang="en-US" dirty="0">
              <a:latin typeface="Times New Roman" panose="02020603050405020304" pitchFamily="18" charset="0"/>
              <a:cs typeface="Times New Roman" panose="02020603050405020304" pitchFamily="18" charset="0"/>
            </a:endParaRPr>
          </a:p>
        </p:txBody>
      </p:sp>
      <p:sp>
        <p:nvSpPr>
          <p:cNvPr id="25" name="Text 23"/>
          <p:cNvSpPr/>
          <p:nvPr/>
        </p:nvSpPr>
        <p:spPr>
          <a:xfrm>
            <a:off x="812800" y="6238242"/>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11</a:t>
            </a:r>
            <a:endParaRPr lang="en-US" sz="1600" dirty="0">
              <a:latin typeface="Times New Roman" panose="02020603050405020304" pitchFamily="18" charset="0"/>
              <a:cs typeface="Times New Roman" panose="02020603050405020304" pitchFamily="18" charset="0"/>
            </a:endParaRPr>
          </a:p>
        </p:txBody>
      </p:sp>
      <p:pic>
        <p:nvPicPr>
          <p:cNvPr id="26" name="Picture 25" descr="fig07_data_flow.png"/>
          <p:cNvPicPr>
            <a:picLocks noChangeAspect="1"/>
          </p:cNvPicPr>
          <p:nvPr/>
        </p:nvPicPr>
        <p:blipFill>
          <a:blip r:embed="rId3"/>
          <a:stretch>
            <a:fillRect/>
          </a:stretch>
        </p:blipFill>
        <p:spPr>
          <a:xfrm>
            <a:off x="6858000" y="1371600"/>
            <a:ext cx="5029200" cy="22441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 design</a:t>
            </a:r>
            <a:endParaRPr lang="en-US" sz="3600" dirty="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E576E2A6-DC1A-495A-51BD-312C14968AEE}"/>
              </a:ext>
            </a:extLst>
          </p:cNvPr>
          <p:cNvGrpSpPr/>
          <p:nvPr/>
        </p:nvGrpSpPr>
        <p:grpSpPr>
          <a:xfrm>
            <a:off x="812800" y="2475549"/>
            <a:ext cx="10717200" cy="804543"/>
            <a:chOff x="812800" y="2977517"/>
            <a:chExt cx="10717200" cy="804543"/>
          </a:xfrm>
        </p:grpSpPr>
        <p:sp>
          <p:nvSpPr>
            <p:cNvPr id="5" name="Text 3"/>
            <p:cNvSpPr/>
            <p:nvPr/>
          </p:nvSpPr>
          <p:spPr>
            <a:xfrm>
              <a:off x="812800" y="2977517"/>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Doctor</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314700"/>
              <a:ext cx="517746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doctor_id, specialization, territory, latitude, longitude, availability_start, availability_end, typical_visit_duration, priority_category</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6096635" y="2977517"/>
              <a:ext cx="0" cy="558165"/>
            </a:xfrm>
            <a:prstGeom prst="line">
              <a:avLst/>
            </a:prstGeom>
            <a:noFill/>
            <a:ln w="6350">
              <a:solidFill>
                <a:srgbClr val="CDBFA6"/>
              </a:solidFill>
              <a:prstDash val="solid"/>
            </a:ln>
          </p:spPr>
        </p:sp>
        <p:sp>
          <p:nvSpPr>
            <p:cNvPr id="8" name="Text 6"/>
            <p:cNvSpPr/>
            <p:nvPr/>
          </p:nvSpPr>
          <p:spPr>
            <a:xfrm>
              <a:off x="6352540" y="2977517"/>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Medical Representative</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6352540" y="3314700"/>
              <a:ext cx="5177460" cy="24638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mr_id, territory, working_start, working_end, start_location, end_location</a:t>
              </a:r>
              <a:endParaRPr lang="en-US" sz="1600" dirty="0">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51AEFA4B-8029-1C04-5D72-A7A7BA528078}"/>
              </a:ext>
            </a:extLst>
          </p:cNvPr>
          <p:cNvGrpSpPr/>
          <p:nvPr/>
        </p:nvGrpSpPr>
        <p:grpSpPr>
          <a:xfrm>
            <a:off x="812800" y="3966524"/>
            <a:ext cx="10717200" cy="804548"/>
            <a:chOff x="812800" y="5062854"/>
            <a:chExt cx="10717200" cy="804548"/>
          </a:xfrm>
        </p:grpSpPr>
        <p:sp>
          <p:nvSpPr>
            <p:cNvPr id="10" name="Text 8"/>
            <p:cNvSpPr/>
            <p:nvPr/>
          </p:nvSpPr>
          <p:spPr>
            <a:xfrm>
              <a:off x="812800" y="5062854"/>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Visit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812800" y="5400042"/>
              <a:ext cx="517746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visit_id, doctor_id, mr_id, visit_date, planned_time, actual_arrival, actual_departure, visit_status, visit_outcome, follow_up_required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096635" y="5062854"/>
              <a:ext cx="0" cy="779145"/>
            </a:xfrm>
            <a:prstGeom prst="line">
              <a:avLst/>
            </a:prstGeom>
            <a:noFill/>
            <a:ln w="6350">
              <a:solidFill>
                <a:srgbClr val="CDBFA6"/>
              </a:solidFill>
              <a:prstDash val="solid"/>
            </a:ln>
          </p:spPr>
        </p:sp>
        <p:sp>
          <p:nvSpPr>
            <p:cNvPr id="13" name="Text 11"/>
            <p:cNvSpPr/>
            <p:nvPr/>
          </p:nvSpPr>
          <p:spPr>
            <a:xfrm>
              <a:off x="6352540" y="5062854"/>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Appointment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6352540" y="5400042"/>
              <a:ext cx="517746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appointment_id, doctor_id, mr_id, appointment_date, window_start, window_end, duration, status</a:t>
              </a:r>
              <a:endParaRPr lang="en-US" sz="1600" dirty="0">
                <a:latin typeface="Times New Roman" panose="02020603050405020304" pitchFamily="18" charset="0"/>
                <a:cs typeface="Times New Roman" panose="02020603050405020304" pitchFamily="18" charset="0"/>
              </a:endParaRPr>
            </a:p>
          </p:txBody>
        </p:sp>
      </p:grpSp>
      <p:sp>
        <p:nvSpPr>
          <p:cNvPr id="15" name="Text 13"/>
          <p:cNvSpPr/>
          <p:nvPr/>
        </p:nvSpPr>
        <p:spPr>
          <a:xfrm>
            <a:off x="812800" y="6238242"/>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12</a:t>
            </a:r>
            <a:endParaRPr lang="en-US" sz="1600" dirty="0">
              <a:latin typeface="Times New Roman" panose="02020603050405020304" pitchFamily="18" charset="0"/>
              <a:cs typeface="Times New Roman" panose="02020603050405020304" pitchFamily="18" charset="0"/>
            </a:endParaRPr>
          </a:p>
        </p:txBody>
      </p:sp>
      <p:pic>
        <p:nvPicPr>
          <p:cNvPr id="18" name="Picture 17" descr="fig12_er_diagram.png"/>
          <p:cNvPicPr>
            <a:picLocks noChangeAspect="1"/>
          </p:cNvPicPr>
          <p:nvPr/>
        </p:nvPicPr>
        <p:blipFill>
          <a:blip r:embed="rId3"/>
          <a:stretch>
            <a:fillRect/>
          </a:stretch>
        </p:blipFill>
        <p:spPr>
          <a:xfrm>
            <a:off x="6858000" y="1371600"/>
            <a:ext cx="5029200" cy="25950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Machine learning</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ML priority prediction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30493"/>
            <a:ext cx="4114800" cy="301625"/>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model does not generate the route. It predicts the importance/priority of a planned doctor visit.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910844" y="2665971"/>
            <a:ext cx="4114800" cy="2584450"/>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visit frequency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Days since last visit</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Previous visit outcome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Follow-up requirement</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Existing priority category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status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engagement indicator</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history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Territory information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Other approved operational features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062562" y="2662796"/>
            <a:ext cx="4114800" cy="1879600"/>
          </a:xfrm>
          <a:prstGeom prst="line">
            <a:avLst/>
          </a:prstGeom>
          <a:noFill/>
          <a:ln w="6350">
            <a:solidFill>
              <a:srgbClr val="CDBFA6"/>
            </a:solidFill>
            <a:prstDash val="solid"/>
          </a:ln>
        </p:spPr>
      </p:sp>
      <p:sp>
        <p:nvSpPr>
          <p:cNvPr id="8" name="Text 6"/>
          <p:cNvSpPr/>
          <p:nvPr/>
        </p:nvSpPr>
        <p:spPr>
          <a:xfrm>
            <a:off x="4254765" y="2669146"/>
            <a:ext cx="4114800"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data</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824016" y="34724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081192" y="2669146"/>
            <a:ext cx="4114800"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Feature engineering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296832" y="3456546"/>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554007" y="2669146"/>
            <a:ext cx="4114800"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Train/test split</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574696" y="3476187"/>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831872" y="2669146"/>
            <a:ext cx="4114800"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Random Forest classifier</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9833164" y="3472421"/>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10109738" y="2669146"/>
            <a:ext cx="4114800" cy="18732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Predicted priority:</a:t>
            </a:r>
          </a:p>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High / Medium / Low</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5584192"/>
            <a:ext cx="4114800" cy="283210"/>
          </a:xfrm>
          <a:prstGeom prst="rect">
            <a:avLst/>
          </a:prstGeom>
          <a:noFill/>
          <a:ln/>
        </p:spPr>
        <p:txBody>
          <a:bodyPr wrap="square" lIns="0" tIns="0" rIns="0" bIns="0" rtlCol="0" anchor="t">
            <a:no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 final ML formulation, classification or regression, will depend on the structure and reliability of the agency’s priority label.</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12800" y="6238242"/>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13</a:t>
            </a:r>
            <a:endParaRPr lang="en-US" sz="1600" dirty="0">
              <a:latin typeface="Times New Roman" panose="02020603050405020304" pitchFamily="18" charset="0"/>
              <a:cs typeface="Times New Roman" panose="02020603050405020304" pitchFamily="18" charset="0"/>
            </a:endParaRPr>
          </a:p>
        </p:txBody>
      </p:sp>
      <p:pic>
        <p:nvPicPr>
          <p:cNvPr id="19" name="Picture 18" descr="fig16_ml_pipeline.png"/>
          <p:cNvPicPr>
            <a:picLocks noChangeAspect="1"/>
          </p:cNvPicPr>
          <p:nvPr/>
        </p:nvPicPr>
        <p:blipFill>
          <a:blip r:embed="rId3"/>
          <a:stretch>
            <a:fillRect/>
          </a:stretch>
        </p:blipFill>
        <p:spPr>
          <a:xfrm>
            <a:off x="6858000" y="1371600"/>
            <a:ext cx="5029200" cy="20370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Machine learning</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Feature engineering by example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582230"/>
            <a:ext cx="5072812" cy="302895"/>
          </a:xfrm>
          <a:prstGeom prst="rect">
            <a:avLst/>
          </a:prstGeom>
          <a:noFill/>
          <a:ln/>
        </p:spPr>
        <p:txBody>
          <a:bodyPr wrap="square" lIns="0" tIns="0" rIns="0" bIns="0" rtlCol="0" anchor="t">
            <a:normAutofit/>
          </a:bodyPr>
          <a:lstStyle/>
          <a:p>
            <a:pPr marL="0" indent="0" algn="l">
              <a:lnSpc>
                <a:spcPts val="2185"/>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Doctor A</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910082" y="2948626"/>
            <a:ext cx="4967910" cy="140335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Last visit: 25 days ago</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Frequent follow-up</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High historical 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Appointment confirmed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Previous outcome requires follow-up</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4415476"/>
            <a:ext cx="507281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The model may assign a high priority probability.</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6096635" y="2582230"/>
            <a:ext cx="0" cy="1815465"/>
          </a:xfrm>
          <a:prstGeom prst="line">
            <a:avLst/>
          </a:prstGeom>
          <a:noFill/>
          <a:ln w="6350">
            <a:solidFill>
              <a:srgbClr val="CDBFA6"/>
            </a:solidFill>
            <a:prstDash val="solid"/>
          </a:ln>
        </p:spPr>
      </p:sp>
      <p:sp>
        <p:nvSpPr>
          <p:cNvPr id="9" name="Text 7"/>
          <p:cNvSpPr/>
          <p:nvPr/>
        </p:nvSpPr>
        <p:spPr>
          <a:xfrm>
            <a:off x="6454140" y="2582230"/>
            <a:ext cx="5072812" cy="302895"/>
          </a:xfrm>
          <a:prstGeom prst="rect">
            <a:avLst/>
          </a:prstGeom>
          <a:noFill/>
          <a:ln/>
        </p:spPr>
        <p:txBody>
          <a:bodyPr wrap="square" lIns="0" tIns="0" rIns="0" bIns="0" rtlCol="0" anchor="t">
            <a:normAutofit/>
          </a:bodyPr>
          <a:lstStyle/>
          <a:p>
            <a:pPr marL="0" indent="0" algn="l">
              <a:lnSpc>
                <a:spcPts val="2185"/>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Doctor B</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6551422" y="2948626"/>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Recently visited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No follow-up</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Low historical 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Flexible availability</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454140" y="4139884"/>
            <a:ext cx="507281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May receive a lower priority.</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These values are illustrative until the actual model is trained and evaluated.</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Route optimization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41767"/>
            <a:ext cx="5177460"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Vehicle Routing Problem with Time Windows (VRPTW). Locations: MR start, Doctors A–D, MR end.</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924306" y="2790678"/>
            <a:ext cx="5058334" cy="1442720"/>
          </a:xfrm>
          <a:prstGeom prst="rect">
            <a:avLst/>
          </a:prstGeom>
          <a:noFill/>
          <a:ln/>
        </p:spPr>
        <p:txBody>
          <a:bodyPr wrap="square" lIns="0" tIns="0" rIns="0" bIns="0" rtlCol="0" anchor="t">
            <a:noAutofit/>
          </a:bodyPr>
          <a:lstStyle/>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working hours</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 availability</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 duration, travel time</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Location</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Appointment time window</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Number of available MRs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3558708" y="2845836"/>
            <a:ext cx="0" cy="1416525"/>
          </a:xfrm>
          <a:prstGeom prst="line">
            <a:avLst/>
          </a:prstGeom>
          <a:noFill/>
          <a:ln w="6350">
            <a:solidFill>
              <a:srgbClr val="CDBFA6"/>
            </a:solidFill>
            <a:prstDash val="solid"/>
          </a:ln>
        </p:spPr>
        <p:txBody>
          <a:bodyPr/>
          <a:lstStyle/>
          <a:p>
            <a:endParaRPr lang="en-IN" sz="2400" dirty="0">
              <a:latin typeface="Times New Roman" panose="02020603050405020304" pitchFamily="18" charset="0"/>
              <a:cs typeface="Times New Roman" panose="02020603050405020304" pitchFamily="18" charset="0"/>
            </a:endParaRPr>
          </a:p>
        </p:txBody>
      </p:sp>
      <p:pic>
        <p:nvPicPr>
          <p:cNvPr id="8" name="Image 0" descr="Doctor A high 9-10, Doctor B medium 10-12, Doctor C high 13-14, Doctor D low 14-17"/>
          <p:cNvPicPr>
            <a:picLocks noChangeAspect="1"/>
          </p:cNvPicPr>
          <p:nvPr/>
        </p:nvPicPr>
        <p:blipFill>
          <a:blip r:embed="rId3"/>
          <a:srcRect t="-14" b="-14"/>
          <a:stretch/>
        </p:blipFill>
        <p:spPr>
          <a:xfrm>
            <a:off x="4394200" y="2362838"/>
            <a:ext cx="6985000" cy="1968500"/>
          </a:xfrm>
          <a:prstGeom prst="rect">
            <a:avLst/>
          </a:prstGeom>
        </p:spPr>
      </p:pic>
      <p:grpSp>
        <p:nvGrpSpPr>
          <p:cNvPr id="20" name="Group 19">
            <a:extLst>
              <a:ext uri="{FF2B5EF4-FFF2-40B4-BE49-F238E27FC236}">
                <a16:creationId xmlns:a16="http://schemas.microsoft.com/office/drawing/2014/main" id="{A49A3684-8025-D01C-B2ED-8B65AC877427}"/>
              </a:ext>
            </a:extLst>
          </p:cNvPr>
          <p:cNvGrpSpPr/>
          <p:nvPr/>
        </p:nvGrpSpPr>
        <p:grpSpPr>
          <a:xfrm>
            <a:off x="815975" y="4588508"/>
            <a:ext cx="10560050" cy="552450"/>
            <a:chOff x="815975" y="4400314"/>
            <a:chExt cx="10560050" cy="552450"/>
          </a:xfrm>
        </p:grpSpPr>
        <p:sp>
          <p:nvSpPr>
            <p:cNvPr id="9" name="Text 6"/>
            <p:cNvSpPr/>
            <p:nvPr/>
          </p:nvSpPr>
          <p:spPr>
            <a:xfrm>
              <a:off x="81597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Locations</a:t>
              </a:r>
              <a:endParaRPr lang="en-US" sz="1600" dirty="0">
                <a:latin typeface="Times New Roman" panose="02020603050405020304" pitchFamily="18" charset="0"/>
                <a:cs typeface="Times New Roman" panose="02020603050405020304" pitchFamily="18" charset="0"/>
              </a:endParaRPr>
            </a:p>
          </p:txBody>
        </p:sp>
        <p:sp>
          <p:nvSpPr>
            <p:cNvPr id="10" name="Text 7"/>
            <p:cNvSpPr/>
            <p:nvPr/>
          </p:nvSpPr>
          <p:spPr>
            <a:xfrm>
              <a:off x="273558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8"/>
            <p:cNvSpPr/>
            <p:nvPr/>
          </p:nvSpPr>
          <p:spPr>
            <a:xfrm>
              <a:off x="2992755" y="4400314"/>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Routing / travel-time source</a:t>
              </a:r>
              <a:endParaRPr lang="en-US" sz="1600" dirty="0">
                <a:latin typeface="Times New Roman" panose="02020603050405020304" pitchFamily="18" charset="0"/>
                <a:cs typeface="Times New Roman" panose="02020603050405020304" pitchFamily="18" charset="0"/>
              </a:endParaRPr>
            </a:p>
          </p:txBody>
        </p:sp>
        <p:sp>
          <p:nvSpPr>
            <p:cNvPr id="12" name="Text 9"/>
            <p:cNvSpPr/>
            <p:nvPr/>
          </p:nvSpPr>
          <p:spPr>
            <a:xfrm>
              <a:off x="491236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0"/>
            <p:cNvSpPr/>
            <p:nvPr/>
          </p:nvSpPr>
          <p:spPr>
            <a:xfrm>
              <a:off x="5169535" y="4400314"/>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Distance-time matrix</a:t>
              </a:r>
              <a:endParaRPr lang="en-US" sz="1600" dirty="0">
                <a:latin typeface="Times New Roman" panose="02020603050405020304" pitchFamily="18" charset="0"/>
                <a:cs typeface="Times New Roman" panose="02020603050405020304" pitchFamily="18" charset="0"/>
              </a:endParaRPr>
            </a:p>
          </p:txBody>
        </p:sp>
        <p:sp>
          <p:nvSpPr>
            <p:cNvPr id="14" name="Text 11"/>
            <p:cNvSpPr/>
            <p:nvPr/>
          </p:nvSpPr>
          <p:spPr>
            <a:xfrm>
              <a:off x="708914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2"/>
            <p:cNvSpPr/>
            <p:nvPr/>
          </p:nvSpPr>
          <p:spPr>
            <a:xfrm>
              <a:off x="734631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6" name="Text 13"/>
            <p:cNvSpPr/>
            <p:nvPr/>
          </p:nvSpPr>
          <p:spPr>
            <a:xfrm>
              <a:off x="926592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4"/>
            <p:cNvSpPr/>
            <p:nvPr/>
          </p:nvSpPr>
          <p:spPr>
            <a:xfrm>
              <a:off x="952309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grpSp>
      <p:sp>
        <p:nvSpPr>
          <p:cNvPr id="18" name="Text 15"/>
          <p:cNvSpPr/>
          <p:nvPr/>
        </p:nvSpPr>
        <p:spPr>
          <a:xfrm>
            <a:off x="812800" y="5326379"/>
            <a:ext cx="1088339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Route must be feasible, priority-aware, time-window compliant and efficient. OR-Tools needs a distance/time matrix: a map/routing API, organization-provided data, precomputed distances or a controlled simulation.</a:t>
            </a:r>
            <a:endParaRPr lang="en-US" dirty="0">
              <a:latin typeface="Times New Roman" panose="02020603050405020304" pitchFamily="18" charset="0"/>
              <a:cs typeface="Times New Roman" panose="02020603050405020304" pitchFamily="18" charset="0"/>
            </a:endParaRPr>
          </a:p>
        </p:txBody>
      </p:sp>
      <p:sp>
        <p:nvSpPr>
          <p:cNvPr id="19"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Optimization objective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64779"/>
            <a:ext cx="10883392" cy="292100"/>
          </a:xfrm>
          <a:prstGeom prst="rect">
            <a:avLst/>
          </a:prstGeom>
          <a:noFill/>
          <a:ln/>
        </p:spPr>
        <p:txBody>
          <a:bodyPr wrap="square" lIns="0" tIns="0" rIns="0" bIns="0" rtlCol="0" anchor="t">
            <a:normAutofit/>
          </a:bodyPr>
          <a:lstStyle/>
          <a:p>
            <a:pPr marL="0" indent="0" algn="l">
              <a:lnSpc>
                <a:spcPts val="210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Minimize</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2800" y="2382279"/>
            <a:ext cx="10883392" cy="1000760"/>
          </a:xfrm>
          <a:prstGeom prst="rect">
            <a:avLst/>
          </a:prstGeom>
          <a:noFill/>
          <a:ln/>
        </p:spPr>
        <p:txBody>
          <a:bodyPr wrap="square" lIns="0" tIns="0" rIns="0" bIns="0" rtlCol="0" anchor="t">
            <a:normAutofit/>
          </a:bodyPr>
          <a:lstStyle/>
          <a:p>
            <a:pPr marL="0" indent="0" algn="l">
              <a:lnSpc>
                <a:spcPts val="3840"/>
              </a:lnSpc>
              <a:buNone/>
            </a:pPr>
            <a:r>
              <a:rPr lang="en-US" sz="4000" dirty="0">
                <a:solidFill>
                  <a:srgbClr val="221F1A"/>
                </a:solidFill>
                <a:latin typeface="Times New Roman" panose="02020603050405020304" pitchFamily="18" charset="0"/>
                <a:ea typeface="Georgia" pitchFamily="18" charset="-122"/>
                <a:cs typeface="Times New Roman" panose="02020603050405020304" pitchFamily="18" charset="0"/>
              </a:rPr>
              <a:t>Travel time + Waiting time + Penalty for missing important visits</a:t>
            </a:r>
            <a:endParaRPr lang="en-US" sz="4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751188"/>
            <a:ext cx="5072812"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Subject to</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910082" y="4088371"/>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Doctor availability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MR working hours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Visit duration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Route feasibility</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6096635" y="3751188"/>
            <a:ext cx="0" cy="515620"/>
          </a:xfrm>
          <a:prstGeom prst="line">
            <a:avLst/>
          </a:prstGeom>
          <a:noFill/>
          <a:ln w="6350">
            <a:solidFill>
              <a:srgbClr val="CDBFA6"/>
            </a:solidFill>
            <a:prstDash val="solid"/>
          </a:ln>
        </p:spPr>
      </p:sp>
      <p:sp>
        <p:nvSpPr>
          <p:cNvPr id="10" name="Text 8"/>
          <p:cNvSpPr/>
          <p:nvPr/>
        </p:nvSpPr>
        <p:spPr>
          <a:xfrm>
            <a:off x="6454140" y="3751188"/>
            <a:ext cx="507281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Priority information can influence which visits are more valuable to serve.</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This is a simplified conceptual objective.</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Algorithms and techniques used</a:t>
            </a:r>
            <a:endParaRPr lang="en-US" sz="36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890518"/>
          <a:ext cx="4965700" cy="2951480"/>
        </p:xfrm>
        <a:graphic>
          <a:graphicData uri="http://schemas.openxmlformats.org/drawingml/2006/table">
            <a:tbl>
              <a:tblPr/>
              <a:tblGrid>
                <a:gridCol w="2135251">
                  <a:extLst>
                    <a:ext uri="{9D8B030D-6E8A-4147-A177-3AD203B41FA5}">
                      <a16:colId xmlns:a16="http://schemas.microsoft.com/office/drawing/2014/main" val="20000"/>
                    </a:ext>
                  </a:extLst>
                </a:gridCol>
                <a:gridCol w="2830449">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Technique</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preprocessing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Cleaning + transformation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Priority prediction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Random Forest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Feature engineering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Statistical / domain features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Vehicle Routing Problem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Time constraints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VRPTW</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Optimization engine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Google OR-Tools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096635" y="2880358"/>
            <a:ext cx="0" cy="2540000"/>
          </a:xfrm>
          <a:prstGeom prst="line">
            <a:avLst/>
          </a:prstGeom>
          <a:noFill/>
          <a:ln w="6350">
            <a:solidFill>
              <a:srgbClr val="CDBFA6"/>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413500" y="2890518"/>
          <a:ext cx="4965700" cy="2529840"/>
        </p:xfrm>
        <a:graphic>
          <a:graphicData uri="http://schemas.openxmlformats.org/drawingml/2006/table">
            <a:tbl>
              <a:tblPr/>
              <a:tblGrid>
                <a:gridCol w="2135251">
                  <a:extLst>
                    <a:ext uri="{9D8B030D-6E8A-4147-A177-3AD203B41FA5}">
                      <a16:colId xmlns:a16="http://schemas.microsoft.com/office/drawing/2014/main" val="20000"/>
                    </a:ext>
                  </a:extLst>
                </a:gridCol>
                <a:gridCol w="2830449">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Technique</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Backend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FastAPI</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Database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MySQL</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Frontend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React.js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Visualization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Charts + maps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 communication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REST APIs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Module split-up</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1</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800350"/>
            <a:ext cx="2402980" cy="43434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Authentication &amp; role management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3298192"/>
            <a:ext cx="240298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Login, MR role, Manager role, access control</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3352165" y="2480308"/>
            <a:ext cx="0" cy="1276350"/>
          </a:xfrm>
          <a:prstGeom prst="line">
            <a:avLst/>
          </a:prstGeom>
          <a:noFill/>
          <a:ln w="6350">
            <a:solidFill>
              <a:srgbClr val="CDBFA6"/>
            </a:solidFill>
            <a:prstDash val="solid"/>
          </a:ln>
        </p:spPr>
      </p:sp>
      <p:sp>
        <p:nvSpPr>
          <p:cNvPr id="9" name="Text 7"/>
          <p:cNvSpPr/>
          <p:nvPr/>
        </p:nvSpPr>
        <p:spPr>
          <a:xfrm>
            <a:off x="355727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3557270" y="2800350"/>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Doctor management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3557270" y="3093727"/>
            <a:ext cx="2402980" cy="68834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 master, location, specialization, availability, visit duration</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096635" y="2480308"/>
            <a:ext cx="0" cy="1055370"/>
          </a:xfrm>
          <a:prstGeom prst="line">
            <a:avLst/>
          </a:prstGeom>
          <a:noFill/>
          <a:ln w="6350">
            <a:solidFill>
              <a:srgbClr val="CDBFA6"/>
            </a:solidFill>
            <a:prstDash val="solid"/>
          </a:ln>
        </p:spPr>
      </p:sp>
      <p:sp>
        <p:nvSpPr>
          <p:cNvPr id="13" name="Text 11"/>
          <p:cNvSpPr/>
          <p:nvPr/>
        </p:nvSpPr>
        <p:spPr>
          <a:xfrm>
            <a:off x="630174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3</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301740" y="2800350"/>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MR management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301740" y="3093727"/>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profile, territory, working hours, start/end location</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8841105" y="2480308"/>
            <a:ext cx="0" cy="1259840"/>
          </a:xfrm>
          <a:prstGeom prst="line">
            <a:avLst/>
          </a:prstGeom>
          <a:noFill/>
          <a:ln w="6350">
            <a:solidFill>
              <a:srgbClr val="CDBFA6"/>
            </a:solidFill>
            <a:prstDash val="solid"/>
          </a:ln>
        </p:spPr>
      </p:sp>
      <p:sp>
        <p:nvSpPr>
          <p:cNvPr id="17" name="Text 15"/>
          <p:cNvSpPr/>
          <p:nvPr/>
        </p:nvSpPr>
        <p:spPr>
          <a:xfrm>
            <a:off x="904621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4</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9046210" y="2800350"/>
            <a:ext cx="2402980" cy="43434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Visit &amp; appointment management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046210" y="3298192"/>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Create visit, appointment, reschedule, visit status, follow-up</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1280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5</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1280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ML priority engine</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812800" y="5179058"/>
            <a:ext cx="2402980" cy="68834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Data preprocessing, feature extraction, model prediction, priority output</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3352165" y="4565650"/>
            <a:ext cx="0" cy="1055370"/>
          </a:xfrm>
          <a:prstGeom prst="line">
            <a:avLst/>
          </a:prstGeom>
          <a:noFill/>
          <a:ln w="6350">
            <a:solidFill>
              <a:srgbClr val="CDBFA6"/>
            </a:solidFill>
            <a:prstDash val="solid"/>
          </a:ln>
        </p:spPr>
      </p:sp>
      <p:sp>
        <p:nvSpPr>
          <p:cNvPr id="24" name="Text 22"/>
          <p:cNvSpPr/>
          <p:nvPr/>
        </p:nvSpPr>
        <p:spPr>
          <a:xfrm>
            <a:off x="355727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6</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355727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Route optimization</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3557270" y="5179058"/>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Travel matrix, constraints, OR-Tools, optimized sequence</a:t>
            </a:r>
            <a:endParaRPr lang="en-US" sz="1600" dirty="0">
              <a:latin typeface="Times New Roman" panose="02020603050405020304" pitchFamily="18" charset="0"/>
              <a:cs typeface="Times New Roman" panose="02020603050405020304" pitchFamily="18" charset="0"/>
            </a:endParaRPr>
          </a:p>
        </p:txBody>
      </p:sp>
      <p:sp>
        <p:nvSpPr>
          <p:cNvPr id="27" name="Shape 25"/>
          <p:cNvSpPr/>
          <p:nvPr/>
        </p:nvSpPr>
        <p:spPr>
          <a:xfrm>
            <a:off x="6096635" y="4565650"/>
            <a:ext cx="0" cy="1055370"/>
          </a:xfrm>
          <a:prstGeom prst="line">
            <a:avLst/>
          </a:prstGeom>
          <a:noFill/>
          <a:ln w="6350">
            <a:solidFill>
              <a:srgbClr val="CDBFA6"/>
            </a:solidFill>
            <a:prstDash val="solid"/>
          </a:ln>
        </p:spPr>
      </p:sp>
      <p:sp>
        <p:nvSpPr>
          <p:cNvPr id="28" name="Text 26"/>
          <p:cNvSpPr/>
          <p:nvPr/>
        </p:nvSpPr>
        <p:spPr>
          <a:xfrm>
            <a:off x="630174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7</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630174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MR dashboard</a:t>
            </a:r>
            <a:endParaRPr lang="en-US" dirty="0">
              <a:latin typeface="Times New Roman" panose="02020603050405020304" pitchFamily="18" charset="0"/>
              <a:cs typeface="Times New Roman" panose="02020603050405020304" pitchFamily="18" charset="0"/>
            </a:endParaRPr>
          </a:p>
        </p:txBody>
      </p:sp>
      <p:sp>
        <p:nvSpPr>
          <p:cNvPr id="30" name="Text 28"/>
          <p:cNvSpPr/>
          <p:nvPr/>
        </p:nvSpPr>
        <p:spPr>
          <a:xfrm>
            <a:off x="6301740" y="5179058"/>
            <a:ext cx="240298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visits, priority, route, schedule, status</a:t>
            </a:r>
            <a:endParaRPr lang="en-US" sz="1600" dirty="0">
              <a:latin typeface="Times New Roman" panose="02020603050405020304" pitchFamily="18" charset="0"/>
              <a:cs typeface="Times New Roman" panose="02020603050405020304" pitchFamily="18" charset="0"/>
            </a:endParaRPr>
          </a:p>
        </p:txBody>
      </p:sp>
      <p:sp>
        <p:nvSpPr>
          <p:cNvPr id="31" name="Shape 29"/>
          <p:cNvSpPr/>
          <p:nvPr/>
        </p:nvSpPr>
        <p:spPr>
          <a:xfrm>
            <a:off x="8841105" y="4565650"/>
            <a:ext cx="0" cy="1276350"/>
          </a:xfrm>
          <a:prstGeom prst="line">
            <a:avLst/>
          </a:prstGeom>
          <a:noFill/>
          <a:ln w="6350">
            <a:solidFill>
              <a:srgbClr val="CDBFA6"/>
            </a:solidFill>
            <a:prstDash val="solid"/>
          </a:ln>
        </p:spPr>
      </p:sp>
      <p:sp>
        <p:nvSpPr>
          <p:cNvPr id="32" name="Text 30"/>
          <p:cNvSpPr/>
          <p:nvPr/>
        </p:nvSpPr>
        <p:spPr>
          <a:xfrm>
            <a:off x="904621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8</a:t>
            </a:r>
            <a:endParaRPr lang="en-US" sz="1600" dirty="0">
              <a:latin typeface="Times New Roman" panose="02020603050405020304" pitchFamily="18" charset="0"/>
              <a:cs typeface="Times New Roman" panose="02020603050405020304" pitchFamily="18" charset="0"/>
            </a:endParaRPr>
          </a:p>
        </p:txBody>
      </p:sp>
      <p:sp>
        <p:nvSpPr>
          <p:cNvPr id="33" name="Text 31"/>
          <p:cNvSpPr/>
          <p:nvPr/>
        </p:nvSpPr>
        <p:spPr>
          <a:xfrm>
            <a:off x="904621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Manager dashboard</a:t>
            </a:r>
            <a:endParaRPr lang="en-US" dirty="0">
              <a:latin typeface="Times New Roman" panose="02020603050405020304" pitchFamily="18" charset="0"/>
              <a:cs typeface="Times New Roman" panose="02020603050405020304" pitchFamily="18" charset="0"/>
            </a:endParaRPr>
          </a:p>
        </p:txBody>
      </p:sp>
      <p:sp>
        <p:nvSpPr>
          <p:cNvPr id="34" name="Text 32"/>
          <p:cNvSpPr/>
          <p:nvPr/>
        </p:nvSpPr>
        <p:spPr>
          <a:xfrm>
            <a:off x="9046210" y="5179058"/>
            <a:ext cx="2402980"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performance, planned/completed visits, priority visits, route analytics, reports</a:t>
            </a:r>
            <a:endParaRPr lang="en-US" sz="1600" dirty="0">
              <a:latin typeface="Times New Roman" panose="02020603050405020304" pitchFamily="18" charset="0"/>
              <a:cs typeface="Times New Roman" panose="02020603050405020304" pitchFamily="18" charset="0"/>
            </a:endParaRPr>
          </a:p>
        </p:txBody>
      </p:sp>
      <p:sp>
        <p:nvSpPr>
          <p:cNvPr id="35" name="Text 3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Proposed system UI</a:t>
            </a:r>
            <a:endParaRPr lang="en-US" sz="3600"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7A4FA638-04F4-9EC8-ED49-77E36C679A3B}"/>
              </a:ext>
            </a:extLst>
          </p:cNvPr>
          <p:cNvGrpSpPr/>
          <p:nvPr/>
        </p:nvGrpSpPr>
        <p:grpSpPr>
          <a:xfrm>
            <a:off x="1034389" y="2995931"/>
            <a:ext cx="10661803" cy="1656717"/>
            <a:chOff x="812800" y="4210683"/>
            <a:chExt cx="10661803" cy="1656717"/>
          </a:xfrm>
        </p:grpSpPr>
        <p:sp>
          <p:nvSpPr>
            <p:cNvPr id="5" name="Text 3"/>
            <p:cNvSpPr/>
            <p:nvPr/>
          </p:nvSpPr>
          <p:spPr>
            <a:xfrm>
              <a:off x="81280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Login</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812800" y="4562475"/>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Email / username and password, then Login.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250055" y="4210683"/>
              <a:ext cx="0" cy="1375410"/>
            </a:xfrm>
            <a:prstGeom prst="line">
              <a:avLst/>
            </a:prstGeom>
            <a:noFill/>
            <a:ln w="6350">
              <a:solidFill>
                <a:srgbClr val="CDBFA6"/>
              </a:solidFill>
              <a:prstDash val="solid"/>
            </a:ln>
          </p:spPr>
        </p:sp>
        <p:sp>
          <p:nvSpPr>
            <p:cNvPr id="8" name="Text 6"/>
            <p:cNvSpPr/>
            <p:nvPr/>
          </p:nvSpPr>
          <p:spPr>
            <a:xfrm>
              <a:off x="450596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MR dashboard</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4604004" y="4562475"/>
              <a:ext cx="3169819" cy="1049020"/>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visits, completed, pending</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High-priority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route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Map</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7943215" y="4210683"/>
              <a:ext cx="0" cy="1631315"/>
            </a:xfrm>
            <a:prstGeom prst="line">
              <a:avLst/>
            </a:prstGeom>
            <a:noFill/>
            <a:ln w="6350">
              <a:solidFill>
                <a:srgbClr val="CDBFA6"/>
              </a:solidFill>
              <a:prstDash val="solid"/>
            </a:ln>
          </p:spPr>
        </p:sp>
        <p:sp>
          <p:nvSpPr>
            <p:cNvPr id="11" name="Text 9"/>
            <p:cNvSpPr/>
            <p:nvPr/>
          </p:nvSpPr>
          <p:spPr>
            <a:xfrm>
              <a:off x="819912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Manager dashboard</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8297164" y="4562475"/>
              <a:ext cx="3169819"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MRs, total planned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Completion rate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High-priority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MR-wise performance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Route efficiency</a:t>
              </a:r>
              <a:endParaRPr lang="en-US" sz="1600" dirty="0">
                <a:latin typeface="Times New Roman" panose="02020603050405020304" pitchFamily="18" charset="0"/>
                <a:cs typeface="Times New Roman" panose="02020603050405020304" pitchFamily="18" charset="0"/>
              </a:endParaRPr>
            </a:p>
          </p:txBody>
        </p:sp>
      </p:gr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Working module: MR</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196467"/>
            <a:ext cx="411480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logs in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2339342"/>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2196467"/>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Dashboard shows today's visits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2339342"/>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2196467"/>
            <a:ext cx="4114800" cy="552450"/>
          </a:xfrm>
          <a:prstGeom prst="rect">
            <a:avLst/>
          </a:prstGeom>
          <a:noFill/>
          <a:ln w="6350">
            <a:solidFill>
              <a:srgbClr val="221F1A"/>
            </a:solidFill>
            <a:prstDash val="solid"/>
          </a:ln>
        </p:spPr>
        <p:txBody>
          <a:bodyPr wrap="square" lIns="70653" tIns="65405" rIns="70653"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retrieves doctor/appointment data</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2339342"/>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2196467"/>
            <a:ext cx="411480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model generates priority</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5975" y="284416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clicks Generate Optimized Route</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4186714" y="288798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4443889" y="284416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 processes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7814707" y="288798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071882" y="284416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produces route</a:t>
            </a:r>
            <a:endParaRPr lang="en-US" sz="160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3733802"/>
          <a:ext cx="4965700" cy="2108200"/>
        </p:xfrm>
        <a:graphic>
          <a:graphicData uri="http://schemas.openxmlformats.org/drawingml/2006/table">
            <a:tbl>
              <a:tblPr/>
              <a:tblGrid>
                <a:gridCol w="2830449">
                  <a:extLst>
                    <a:ext uri="{9D8B030D-6E8A-4147-A177-3AD203B41FA5}">
                      <a16:colId xmlns:a16="http://schemas.microsoft.com/office/drawing/2014/main" val="20000"/>
                    </a:ext>
                  </a:extLst>
                </a:gridCol>
                <a:gridCol w="2135251">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Doctor</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Priority</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A</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B</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C</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Medium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Low</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Shape 15"/>
          <p:cNvSpPr/>
          <p:nvPr/>
        </p:nvSpPr>
        <p:spPr>
          <a:xfrm>
            <a:off x="6096635" y="3723642"/>
            <a:ext cx="4114800" cy="1046480"/>
          </a:xfrm>
          <a:prstGeom prst="line">
            <a:avLst/>
          </a:prstGeom>
          <a:noFill/>
          <a:ln w="6350">
            <a:solidFill>
              <a:srgbClr val="CDBFA6"/>
            </a:solidFill>
            <a:prstDash val="solid"/>
          </a:ln>
        </p:spPr>
      </p:sp>
      <p:sp>
        <p:nvSpPr>
          <p:cNvPr id="19" name="Text 16"/>
          <p:cNvSpPr/>
          <p:nvPr/>
        </p:nvSpPr>
        <p:spPr>
          <a:xfrm>
            <a:off x="6403340" y="3723642"/>
            <a:ext cx="4114800"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Priority + location + time windows + visit duration + MR working hours</a:t>
            </a:r>
            <a:endParaRPr lang="en-US" sz="1600" dirty="0">
              <a:latin typeface="Times New Roman" panose="02020603050405020304" pitchFamily="18" charset="0"/>
              <a:cs typeface="Times New Roman" panose="02020603050405020304" pitchFamily="18" charset="0"/>
            </a:endParaRPr>
          </a:p>
        </p:txBody>
      </p:sp>
      <p:sp>
        <p:nvSpPr>
          <p:cNvPr id="20" name="Text 17"/>
          <p:cNvSpPr/>
          <p:nvPr/>
        </p:nvSpPr>
        <p:spPr>
          <a:xfrm>
            <a:off x="6403340" y="4291335"/>
            <a:ext cx="4114800" cy="504190"/>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Route:</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1 → Doctor A, 2 → Doctor B, 3 → Doctor C, 4 → Doctor D, with appointment times.</a:t>
            </a:r>
            <a:endParaRPr lang="en-US" sz="1600" dirty="0">
              <a:latin typeface="Times New Roman" panose="02020603050405020304" pitchFamily="18" charset="0"/>
              <a:cs typeface="Times New Roman" panose="02020603050405020304" pitchFamily="18" charset="0"/>
            </a:endParaRPr>
          </a:p>
        </p:txBody>
      </p:sp>
      <p:sp>
        <p:nvSpPr>
          <p:cNvPr id="21" name="Text 18"/>
          <p:cNvSpPr/>
          <p:nvPr/>
        </p:nvSpPr>
        <p:spPr>
          <a:xfrm>
            <a:off x="812800" y="6238242"/>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20</a:t>
            </a:r>
            <a:endParaRPr lang="en-US" sz="1600" dirty="0">
              <a:latin typeface="Times New Roman" panose="02020603050405020304" pitchFamily="18" charset="0"/>
              <a:cs typeface="Times New Roman" panose="02020603050405020304" pitchFamily="18" charset="0"/>
            </a:endParaRPr>
          </a:p>
        </p:txBody>
      </p:sp>
      <p:pic>
        <p:nvPicPr>
          <p:cNvPr id="22" name="Picture 21" descr="fig09_activity_mr.png"/>
          <p:cNvPicPr>
            <a:picLocks noChangeAspect="1"/>
          </p:cNvPicPr>
          <p:nvPr/>
        </p:nvPicPr>
        <p:blipFill>
          <a:blip r:embed="rId3"/>
          <a:stretch>
            <a:fillRect/>
          </a:stretch>
        </p:blipFill>
        <p:spPr>
          <a:xfrm>
            <a:off x="6858000" y="1371600"/>
            <a:ext cx="5029200" cy="258836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Working module: manager</a:t>
            </a:r>
            <a:endParaRPr lang="en-US" sz="3600" dirty="0">
              <a:latin typeface="Times New Roman" panose="02020603050405020304" pitchFamily="18" charset="0"/>
              <a:cs typeface="Times New Roman" panose="02020603050405020304" pitchFamily="18" charset="0"/>
            </a:endParaRPr>
          </a:p>
        </p:txBody>
      </p:sp>
      <p:sp>
        <p:nvSpPr>
          <p:cNvPr id="5" name="Shape 3"/>
          <p:cNvSpPr/>
          <p:nvPr/>
        </p:nvSpPr>
        <p:spPr>
          <a:xfrm>
            <a:off x="812800" y="2947033"/>
            <a:ext cx="1591707" cy="0"/>
          </a:xfrm>
          <a:prstGeom prst="line">
            <a:avLst/>
          </a:prstGeom>
          <a:noFill/>
          <a:ln w="25400">
            <a:solidFill>
              <a:srgbClr val="221F1A"/>
            </a:solidFill>
            <a:prstDash val="solid"/>
          </a:ln>
        </p:spPr>
      </p:sp>
      <p:sp>
        <p:nvSpPr>
          <p:cNvPr id="6" name="Text 4"/>
          <p:cNvSpPr/>
          <p:nvPr/>
        </p:nvSpPr>
        <p:spPr>
          <a:xfrm>
            <a:off x="812800"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12</a:t>
            </a:r>
            <a:endParaRPr lang="en-US" sz="44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MRs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2607707" y="2947033"/>
            <a:ext cx="1591786" cy="0"/>
          </a:xfrm>
          <a:prstGeom prst="line">
            <a:avLst/>
          </a:prstGeom>
          <a:noFill/>
          <a:ln w="25400">
            <a:solidFill>
              <a:srgbClr val="221F1A"/>
            </a:solidFill>
            <a:prstDash val="solid"/>
          </a:ln>
        </p:spPr>
      </p:sp>
      <p:sp>
        <p:nvSpPr>
          <p:cNvPr id="9" name="Text 7"/>
          <p:cNvSpPr/>
          <p:nvPr/>
        </p:nvSpPr>
        <p:spPr>
          <a:xfrm>
            <a:off x="2607707" y="3035933"/>
            <a:ext cx="1642586"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82</a:t>
            </a:r>
            <a:endParaRPr lang="en-US" sz="4400" dirty="0">
              <a:latin typeface="Times New Roman" panose="02020603050405020304" pitchFamily="18" charset="0"/>
              <a:cs typeface="Times New Roman" panose="02020603050405020304" pitchFamily="18" charset="0"/>
            </a:endParaRPr>
          </a:p>
        </p:txBody>
      </p:sp>
      <p:sp>
        <p:nvSpPr>
          <p:cNvPr id="10" name="Text 8"/>
          <p:cNvSpPr/>
          <p:nvPr/>
        </p:nvSpPr>
        <p:spPr>
          <a:xfrm>
            <a:off x="2607707" y="3538860"/>
            <a:ext cx="1642586"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planned</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4402693" y="2947033"/>
            <a:ext cx="1591707" cy="0"/>
          </a:xfrm>
          <a:prstGeom prst="line">
            <a:avLst/>
          </a:prstGeom>
          <a:noFill/>
          <a:ln w="25400">
            <a:solidFill>
              <a:srgbClr val="221F1A"/>
            </a:solidFill>
            <a:prstDash val="solid"/>
          </a:ln>
        </p:spPr>
      </p:sp>
      <p:sp>
        <p:nvSpPr>
          <p:cNvPr id="12" name="Text 10"/>
          <p:cNvSpPr/>
          <p:nvPr/>
        </p:nvSpPr>
        <p:spPr>
          <a:xfrm>
            <a:off x="4402693"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61</a:t>
            </a:r>
            <a:endParaRPr lang="en-US" sz="4400" dirty="0">
              <a:latin typeface="Times New Roman" panose="02020603050405020304" pitchFamily="18" charset="0"/>
              <a:cs typeface="Times New Roman" panose="02020603050405020304" pitchFamily="18" charset="0"/>
            </a:endParaRPr>
          </a:p>
        </p:txBody>
      </p:sp>
      <p:sp>
        <p:nvSpPr>
          <p:cNvPr id="13" name="Text 11"/>
          <p:cNvSpPr/>
          <p:nvPr/>
        </p:nvSpPr>
        <p:spPr>
          <a:xfrm>
            <a:off x="4402693"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Completed</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6197600" y="2947033"/>
            <a:ext cx="1591786" cy="0"/>
          </a:xfrm>
          <a:prstGeom prst="line">
            <a:avLst/>
          </a:prstGeom>
          <a:noFill/>
          <a:ln w="25400">
            <a:solidFill>
              <a:srgbClr val="221F1A"/>
            </a:solidFill>
            <a:prstDash val="solid"/>
          </a:ln>
        </p:spPr>
      </p:sp>
      <p:sp>
        <p:nvSpPr>
          <p:cNvPr id="15" name="Text 13"/>
          <p:cNvSpPr/>
          <p:nvPr/>
        </p:nvSpPr>
        <p:spPr>
          <a:xfrm>
            <a:off x="6197600" y="3035933"/>
            <a:ext cx="1642586"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21</a:t>
            </a:r>
            <a:endParaRPr lang="en-US" sz="4400" dirty="0">
              <a:latin typeface="Times New Roman" panose="02020603050405020304" pitchFamily="18" charset="0"/>
              <a:cs typeface="Times New Roman" panose="02020603050405020304" pitchFamily="18" charset="0"/>
            </a:endParaRPr>
          </a:p>
        </p:txBody>
      </p:sp>
      <p:sp>
        <p:nvSpPr>
          <p:cNvPr id="16" name="Text 14"/>
          <p:cNvSpPr/>
          <p:nvPr/>
        </p:nvSpPr>
        <p:spPr>
          <a:xfrm>
            <a:off x="6197600" y="3538860"/>
            <a:ext cx="1642586"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Pending</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7992587" y="2947033"/>
            <a:ext cx="1591707" cy="0"/>
          </a:xfrm>
          <a:prstGeom prst="line">
            <a:avLst/>
          </a:prstGeom>
          <a:noFill/>
          <a:ln w="25400">
            <a:solidFill>
              <a:srgbClr val="221F1A"/>
            </a:solidFill>
            <a:prstDash val="solid"/>
          </a:ln>
        </p:spPr>
      </p:sp>
      <p:sp>
        <p:nvSpPr>
          <p:cNvPr id="18" name="Text 16"/>
          <p:cNvSpPr/>
          <p:nvPr/>
        </p:nvSpPr>
        <p:spPr>
          <a:xfrm>
            <a:off x="7992587"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19</a:t>
            </a:r>
            <a:endParaRPr lang="en-US" sz="4400" dirty="0">
              <a:latin typeface="Times New Roman" panose="02020603050405020304" pitchFamily="18" charset="0"/>
              <a:cs typeface="Times New Roman" panose="02020603050405020304" pitchFamily="18" charset="0"/>
            </a:endParaRPr>
          </a:p>
        </p:txBody>
      </p:sp>
      <p:sp>
        <p:nvSpPr>
          <p:cNvPr id="19" name="Text 17"/>
          <p:cNvSpPr/>
          <p:nvPr/>
        </p:nvSpPr>
        <p:spPr>
          <a:xfrm>
            <a:off x="7992587"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 priority</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9787493" y="2947033"/>
            <a:ext cx="1591707" cy="0"/>
          </a:xfrm>
          <a:prstGeom prst="line">
            <a:avLst/>
          </a:prstGeom>
          <a:noFill/>
          <a:ln w="25400">
            <a:solidFill>
              <a:srgbClr val="221F1A"/>
            </a:solidFill>
            <a:prstDash val="solid"/>
          </a:ln>
        </p:spPr>
      </p:sp>
      <p:sp>
        <p:nvSpPr>
          <p:cNvPr id="21" name="Text 19"/>
          <p:cNvSpPr/>
          <p:nvPr/>
        </p:nvSpPr>
        <p:spPr>
          <a:xfrm>
            <a:off x="9787493"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XX%</a:t>
            </a:r>
            <a:endParaRPr lang="en-US" sz="4400" dirty="0">
              <a:latin typeface="Times New Roman" panose="02020603050405020304" pitchFamily="18" charset="0"/>
              <a:cs typeface="Times New Roman" panose="02020603050405020304" pitchFamily="18" charset="0"/>
            </a:endParaRPr>
          </a:p>
        </p:txBody>
      </p:sp>
      <p:sp>
        <p:nvSpPr>
          <p:cNvPr id="22" name="Text 20"/>
          <p:cNvSpPr/>
          <p:nvPr/>
        </p:nvSpPr>
        <p:spPr>
          <a:xfrm>
            <a:off x="9787493"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Completion rate</a:t>
            </a:r>
            <a:endParaRPr lang="en-US" sz="1600" dirty="0">
              <a:latin typeface="Times New Roman" panose="02020603050405020304" pitchFamily="18" charset="0"/>
              <a:cs typeface="Times New Roman" panose="02020603050405020304" pitchFamily="18" charset="0"/>
            </a:endParaRPr>
          </a:p>
        </p:txBody>
      </p:sp>
      <p:grpSp>
        <p:nvGrpSpPr>
          <p:cNvPr id="29" name="Group 28">
            <a:extLst>
              <a:ext uri="{FF2B5EF4-FFF2-40B4-BE49-F238E27FC236}">
                <a16:creationId xmlns:a16="http://schemas.microsoft.com/office/drawing/2014/main" id="{7F3EB657-24DA-A7A5-27AE-8AF6FDEC27FD}"/>
              </a:ext>
            </a:extLst>
          </p:cNvPr>
          <p:cNvGrpSpPr/>
          <p:nvPr/>
        </p:nvGrpSpPr>
        <p:grpSpPr>
          <a:xfrm>
            <a:off x="927404" y="4581846"/>
            <a:ext cx="10654183" cy="852170"/>
            <a:chOff x="812800" y="5015235"/>
            <a:chExt cx="10654183" cy="852170"/>
          </a:xfrm>
        </p:grpSpPr>
        <p:sp>
          <p:nvSpPr>
            <p:cNvPr id="23" name="Text 21"/>
            <p:cNvSpPr/>
            <p:nvPr/>
          </p:nvSpPr>
          <p:spPr>
            <a:xfrm>
              <a:off x="812800" y="5015235"/>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The manager can see</a:t>
              </a:r>
              <a:endParaRPr lang="en-US" sz="2000" dirty="0">
                <a:latin typeface="Times New Roman" panose="02020603050405020304" pitchFamily="18" charset="0"/>
                <a:cs typeface="Times New Roman" panose="02020603050405020304" pitchFamily="18" charset="0"/>
              </a:endParaRPr>
            </a:p>
          </p:txBody>
        </p:sp>
        <p:sp>
          <p:nvSpPr>
            <p:cNvPr id="24" name="Shape 22"/>
            <p:cNvSpPr/>
            <p:nvPr/>
          </p:nvSpPr>
          <p:spPr>
            <a:xfrm>
              <a:off x="4250055" y="5015235"/>
              <a:ext cx="0" cy="826770"/>
            </a:xfrm>
            <a:prstGeom prst="line">
              <a:avLst/>
            </a:prstGeom>
            <a:noFill/>
            <a:ln w="6350">
              <a:solidFill>
                <a:srgbClr val="CDBFA6"/>
              </a:solidFill>
              <a:prstDash val="solid"/>
            </a:ln>
          </p:spPr>
        </p:sp>
        <p:sp>
          <p:nvSpPr>
            <p:cNvPr id="25" name="Text 23"/>
            <p:cNvSpPr/>
            <p:nvPr/>
          </p:nvSpPr>
          <p:spPr>
            <a:xfrm>
              <a:off x="4603242" y="5015235"/>
              <a:ext cx="3170581" cy="85217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MR-wise activity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Doctor visit status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High-priority visits</a:t>
              </a:r>
              <a:endParaRPr lang="en-US" dirty="0">
                <a:latin typeface="Times New Roman" panose="02020603050405020304" pitchFamily="18" charset="0"/>
                <a:cs typeface="Times New Roman" panose="02020603050405020304" pitchFamily="18" charset="0"/>
              </a:endParaRPr>
            </a:p>
          </p:txBody>
        </p:sp>
        <p:sp>
          <p:nvSpPr>
            <p:cNvPr id="26" name="Shape 24"/>
            <p:cNvSpPr/>
            <p:nvPr/>
          </p:nvSpPr>
          <p:spPr>
            <a:xfrm>
              <a:off x="7943215" y="5015235"/>
              <a:ext cx="0" cy="826770"/>
            </a:xfrm>
            <a:prstGeom prst="line">
              <a:avLst/>
            </a:prstGeom>
            <a:noFill/>
            <a:ln w="6350">
              <a:solidFill>
                <a:srgbClr val="CDBFA6"/>
              </a:solidFill>
              <a:prstDash val="solid"/>
            </a:ln>
          </p:spPr>
        </p:sp>
        <p:sp>
          <p:nvSpPr>
            <p:cNvPr id="27" name="Text 25"/>
            <p:cNvSpPr/>
            <p:nvPr/>
          </p:nvSpPr>
          <p:spPr>
            <a:xfrm>
              <a:off x="8296402" y="5015235"/>
              <a:ext cx="3170581" cy="85217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Completed / pending visits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Route information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Reports</a:t>
              </a:r>
              <a:endParaRPr lang="en-US" dirty="0">
                <a:latin typeface="Times New Roman" panose="02020603050405020304" pitchFamily="18" charset="0"/>
                <a:cs typeface="Times New Roman" panose="02020603050405020304" pitchFamily="18" charset="0"/>
              </a:endParaRPr>
            </a:p>
          </p:txBody>
        </p:sp>
      </p:grpSp>
      <p:sp>
        <p:nvSpPr>
          <p:cNvPr id="28" name="Text 2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Complete working flow</a:t>
            </a:r>
            <a:endParaRPr lang="en-US" sz="3600" dirty="0">
              <a:latin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121F8B74-F991-8B57-C6C4-C8CE50C446EA}"/>
              </a:ext>
            </a:extLst>
          </p:cNvPr>
          <p:cNvGrpSpPr/>
          <p:nvPr/>
        </p:nvGrpSpPr>
        <p:grpSpPr>
          <a:xfrm>
            <a:off x="812800" y="3064192"/>
            <a:ext cx="10560050" cy="1253499"/>
            <a:chOff x="815975" y="4585333"/>
            <a:chExt cx="10560050" cy="1253499"/>
          </a:xfrm>
        </p:grpSpPr>
        <p:sp>
          <p:nvSpPr>
            <p:cNvPr id="5" name="Text 3"/>
            <p:cNvSpPr/>
            <p:nvPr/>
          </p:nvSpPr>
          <p:spPr>
            <a:xfrm>
              <a:off x="815975"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Login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date / territory</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Fetch doctors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Fetch appointment data</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5975"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 cleaning</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327977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3536950"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priority model</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6000750"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257925"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Constraints engine</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72172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978900"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815975" y="5484502"/>
              <a:ext cx="3304064"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4186714" y="5528308"/>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4443889" y="5484502"/>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dashboard</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7814707" y="5528308"/>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8071882" y="5484502"/>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Manager dashboard</a:t>
              </a:r>
              <a:endParaRPr lang="en-US" sz="1600" dirty="0">
                <a:latin typeface="Times New Roman" panose="02020603050405020304" pitchFamily="18" charset="0"/>
                <a:cs typeface="Times New Roman" panose="02020603050405020304" pitchFamily="18" charset="0"/>
              </a:endParaRPr>
            </a:p>
          </p:txBody>
        </p:sp>
      </p:grpSp>
      <p:sp>
        <p:nvSpPr>
          <p:cNvPr id="24" name="Text 22"/>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Technology stack</a:t>
            </a:r>
            <a:endParaRPr lang="en-US" sz="36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3825014694"/>
              </p:ext>
            </p:extLst>
          </p:nvPr>
        </p:nvGraphicFramePr>
        <p:xfrm>
          <a:off x="822960" y="2037087"/>
          <a:ext cx="10556240" cy="3804920"/>
        </p:xfrm>
        <a:graphic>
          <a:graphicData uri="http://schemas.openxmlformats.org/drawingml/2006/table">
            <a:tbl>
              <a:tblPr/>
              <a:tblGrid>
                <a:gridCol w="1985827">
                  <a:extLst>
                    <a:ext uri="{9D8B030D-6E8A-4147-A177-3AD203B41FA5}">
                      <a16:colId xmlns:a16="http://schemas.microsoft.com/office/drawing/2014/main" val="20000"/>
                    </a:ext>
                  </a:extLst>
                </a:gridCol>
                <a:gridCol w="3449069">
                  <a:extLst>
                    <a:ext uri="{9D8B030D-6E8A-4147-A177-3AD203B41FA5}">
                      <a16:colId xmlns:a16="http://schemas.microsoft.com/office/drawing/2014/main" val="20001"/>
                    </a:ext>
                  </a:extLst>
                </a:gridCol>
                <a:gridCol w="5121344">
                  <a:extLst>
                    <a:ext uri="{9D8B030D-6E8A-4147-A177-3AD203B41FA5}">
                      <a16:colId xmlns:a16="http://schemas.microsoft.com/office/drawing/2014/main" val="20002"/>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Layer</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Technology</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Used for</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Frontend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React.js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Dashboards, forms, tables, route visualization, user interaction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Backend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FastAPI / Python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APIs, authentication, ML inference, route optimization, database communication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Machine learning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Python + scikit-learn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Random Forest, preprocessing, evaluation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Optimization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Google OR-Tools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VRP, VRPTW, route constraints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Database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MySQL</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ctr">
                        <a:lnSpc>
                          <a:spcPts val="2240"/>
                        </a:lnSpc>
                        <a:buNone/>
                      </a:pPr>
                      <a:r>
                        <a:rPr lang="en-US" sz="1600" dirty="0">
                          <a:solidFill>
                            <a:srgbClr val="221F1A"/>
                          </a:solidFill>
                          <a:latin typeface="Arial" pitchFamily="34" charset="0"/>
                          <a:ea typeface="Arial" charset="0"/>
                          <a:cs typeface="Arial" pitchFamily="34" charset="-120"/>
                        </a:rPr>
                        <a:t>-</a:t>
                      </a:r>
                      <a:endParaRPr lang="en-US" sz="1600" dirty="0">
                        <a:latin typeface="Arial" charset="0"/>
                        <a:ea typeface="Arial" charset="0"/>
                        <a:cs typeface="Arial" charset="0"/>
                      </a:endParaRPr>
                    </a:p>
                  </a:txBody>
                  <a:tcPr marL="88900" marR="88900" marT="63500" marB="63500" anchor="ctr">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Maps / travel information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Mapping/routing service, or approved/precomputed travel matrix</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ctr">
                        <a:lnSpc>
                          <a:spcPts val="2240"/>
                        </a:lnSpc>
                        <a:buNone/>
                      </a:pPr>
                      <a:r>
                        <a:rPr lang="en-US" sz="1600" dirty="0">
                          <a:solidFill>
                            <a:srgbClr val="221F1A"/>
                          </a:solidFill>
                          <a:latin typeface="Arial" pitchFamily="34" charset="0"/>
                          <a:ea typeface="Arial" charset="0"/>
                          <a:cs typeface="Arial" pitchFamily="34" charset="-120"/>
                        </a:rPr>
                        <a:t>-</a:t>
                      </a:r>
                      <a:endParaRPr lang="en-US" sz="1600" dirty="0">
                        <a:latin typeface="Arial" charset="0"/>
                        <a:ea typeface="Arial" charset="0"/>
                        <a:cs typeface="Arial" charset="0"/>
                      </a:endParaRPr>
                    </a:p>
                  </a:txBody>
                  <a:tcPr marL="88900" marR="88900" marT="63500" marB="63500" anchor="ctr">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4114800" cy="0"/>
          </a:xfrm>
          <a:prstGeom prst="line">
            <a:avLst/>
          </a:prstGeom>
          <a:noFill/>
          <a:ln w="6350">
            <a:solidFill>
              <a:srgbClr val="CDBFA6"/>
            </a:solidFill>
            <a:prstDash val="solid"/>
          </a:ln>
        </p:spPr>
      </p:sp>
      <p:sp>
        <p:nvSpPr>
          <p:cNvPr id="3" name="Text 1"/>
          <p:cNvSpPr/>
          <p:nvPr/>
        </p:nvSpPr>
        <p:spPr>
          <a:xfrm>
            <a:off x="812800" y="812800"/>
            <a:ext cx="411480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Database design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45681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User</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2372757" y="250063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629932" y="245681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 Manager</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186793" y="250063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4443968" y="245681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 Doctor</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6000750" y="250063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257925" y="2456817"/>
            <a:ext cx="4114800"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7814787" y="250063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071962" y="2456817"/>
            <a:ext cx="4114800" cy="354330"/>
          </a:xfrm>
          <a:prstGeom prst="rect">
            <a:avLst/>
          </a:prstGeom>
          <a:noFill/>
          <a:ln w="6350">
            <a:solidFill>
              <a:srgbClr val="221F1A"/>
            </a:solidFill>
            <a:prstDash val="solid"/>
          </a:ln>
        </p:spPr>
        <p:txBody>
          <a:bodyPr wrap="square" lIns="103505" tIns="65405" rIns="1035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prediction</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9628743" y="2500635"/>
            <a:ext cx="41148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9885918" y="2456817"/>
            <a:ext cx="4114800" cy="354330"/>
          </a:xfrm>
          <a:prstGeom prst="rect">
            <a:avLst/>
          </a:prstGeom>
          <a:noFill/>
          <a:ln w="6350">
            <a:solidFill>
              <a:srgbClr val="221F1A"/>
            </a:solidFill>
            <a:prstDash val="solid"/>
          </a:ln>
        </p:spPr>
        <p:txBody>
          <a:bodyPr wrap="square" lIns="103505" tIns="65405" rIns="1035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graphicFrame>
        <p:nvGraphicFramePr>
          <p:cNvPr id="16" name="Table 0"/>
          <p:cNvGraphicFramePr>
            <a:graphicFrameLocks noGrp="1"/>
          </p:cNvGraphicFramePr>
          <p:nvPr>
            <p:extLst>
              <p:ext uri="{D42A27DB-BD31-4B8C-83A1-F6EECF244321}">
                <p14:modId xmlns:p14="http://schemas.microsoft.com/office/powerpoint/2010/main" val="598985580"/>
              </p:ext>
            </p:extLst>
          </p:nvPr>
        </p:nvGraphicFramePr>
        <p:xfrm>
          <a:off x="822960" y="3429000"/>
          <a:ext cx="10556240" cy="2235200"/>
        </p:xfrm>
        <a:graphic>
          <a:graphicData uri="http://schemas.openxmlformats.org/drawingml/2006/table">
            <a:tbl>
              <a:tblPr/>
              <a:tblGrid>
                <a:gridCol w="3483559">
                  <a:extLst>
                    <a:ext uri="{9D8B030D-6E8A-4147-A177-3AD203B41FA5}">
                      <a16:colId xmlns:a16="http://schemas.microsoft.com/office/drawing/2014/main" val="20000"/>
                    </a:ext>
                  </a:extLst>
                </a:gridCol>
                <a:gridCol w="7072681">
                  <a:extLst>
                    <a:ext uri="{9D8B030D-6E8A-4147-A177-3AD203B41FA5}">
                      <a16:colId xmlns:a16="http://schemas.microsoft.com/office/drawing/2014/main" val="20001"/>
                    </a:ext>
                  </a:extLst>
                </a:gridCol>
              </a:tblGrid>
              <a:tr h="4470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Entity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Relates to</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MR</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appointments, routes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appointments, location</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priority_prediction</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route_stops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812800" y="6238242"/>
            <a:ext cx="411480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24</a:t>
            </a:r>
            <a:endParaRPr lang="en-US" sz="1600" dirty="0">
              <a:latin typeface="Times New Roman" panose="02020603050405020304" pitchFamily="18" charset="0"/>
              <a:cs typeface="Times New Roman" panose="02020603050405020304" pitchFamily="18" charset="0"/>
            </a:endParaRPr>
          </a:p>
        </p:txBody>
      </p:sp>
      <p:pic>
        <p:nvPicPr>
          <p:cNvPr id="18" name="Picture 17" descr="fig12_er_diagram.png"/>
          <p:cNvPicPr>
            <a:picLocks noChangeAspect="1"/>
          </p:cNvPicPr>
          <p:nvPr/>
        </p:nvPicPr>
        <p:blipFill>
          <a:blip r:embed="rId3"/>
          <a:stretch>
            <a:fillRect/>
          </a:stretch>
        </p:blipFill>
        <p:spPr>
          <a:xfrm>
            <a:off x="6858000" y="1371600"/>
            <a:ext cx="5029200" cy="259507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Evaluation</a:t>
            </a:r>
            <a:endParaRPr lang="en-US" sz="36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50123AD1-2C89-37A4-B271-611B70E06B55}"/>
              </a:ext>
            </a:extLst>
          </p:cNvPr>
          <p:cNvGrpSpPr/>
          <p:nvPr/>
        </p:nvGrpSpPr>
        <p:grpSpPr>
          <a:xfrm>
            <a:off x="812800" y="2812740"/>
            <a:ext cx="10714152" cy="2290440"/>
            <a:chOff x="812800" y="3576960"/>
            <a:chExt cx="10714152" cy="2290440"/>
          </a:xfrm>
        </p:grpSpPr>
        <p:sp>
          <p:nvSpPr>
            <p:cNvPr id="5" name="Text 3"/>
            <p:cNvSpPr/>
            <p:nvPr/>
          </p:nvSpPr>
          <p:spPr>
            <a:xfrm>
              <a:off x="812800" y="3576960"/>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ML evaluation</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957960"/>
              <a:ext cx="5072812" cy="1056640"/>
            </a:xfrm>
            <a:prstGeom prst="rect">
              <a:avLst/>
            </a:prstGeom>
            <a:noFill/>
            <a:ln/>
          </p:spPr>
          <p:txBody>
            <a:bodyPr wrap="square" lIns="0" tIns="0" rIns="0" bIns="0" rtlCol="0" anchor="t">
              <a:norm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Classification: accuracy, precision, recall, F1-score, confusion matrix, and ROC-AUC where appropriate. F1, precision and recall can be more informative than accuracy alone, depending on class balance.</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576960"/>
              <a:ext cx="0" cy="2265045"/>
            </a:xfrm>
            <a:prstGeom prst="line">
              <a:avLst/>
            </a:prstGeom>
            <a:noFill/>
            <a:ln w="6350">
              <a:solidFill>
                <a:srgbClr val="CDBFA6"/>
              </a:solidFill>
              <a:prstDash val="solid"/>
            </a:ln>
          </p:spPr>
        </p:sp>
        <p:sp>
          <p:nvSpPr>
            <p:cNvPr id="8" name="Text 6"/>
            <p:cNvSpPr/>
            <p:nvPr/>
          </p:nvSpPr>
          <p:spPr>
            <a:xfrm>
              <a:off x="6454140" y="3576960"/>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Route evaluation</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6454140" y="3957960"/>
              <a:ext cx="5072812" cy="541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Baseline (manual, nearest-neighbour or simple ordering) versus proposed (ML + OR-Tools).</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552184" y="4562475"/>
              <a:ext cx="4967148"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distance, total travel time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Visits completed, unserved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Time-window violations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Waiting time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Route computation time</a:t>
              </a:r>
              <a:endParaRPr lang="en-US" sz="1600" dirty="0">
                <a:latin typeface="Times New Roman" panose="02020603050405020304" pitchFamily="18" charset="0"/>
                <a:cs typeface="Times New Roman" panose="02020603050405020304" pitchFamily="18" charset="0"/>
              </a:endParaRPr>
            </a:p>
          </p:txBody>
        </p:sp>
      </p:grpSp>
      <p:sp>
        <p:nvSpPr>
          <p:cNvPr id="11"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Baseline comparison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Same input</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2033029"/>
            <a:ext cx="2397125" cy="585470"/>
          </a:xfrm>
          <a:prstGeom prst="rect">
            <a:avLst/>
          </a:prstGeom>
          <a:noFill/>
          <a:ln w="6350">
            <a:solidFill>
              <a:srgbClr val="221F1A"/>
            </a:solidFill>
            <a:prstDash val="solid"/>
          </a:ln>
        </p:spPr>
        <p:txBody>
          <a:bodyPr wrap="square" lIns="70653" tIns="65405" rIns="70653"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Baseline plan | Proposed system</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Metrics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Comparison</a:t>
            </a:r>
            <a:endParaRPr lang="en-US" sz="1600" dirty="0">
              <a:latin typeface="Times New Roman" panose="02020603050405020304" pitchFamily="18" charset="0"/>
              <a:cs typeface="Times New Roman" panose="020206030504050203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2990456"/>
          <a:ext cx="10556240" cy="2235200"/>
        </p:xfrm>
        <a:graphic>
          <a:graphicData uri="http://schemas.openxmlformats.org/drawingml/2006/table">
            <a:tbl>
              <a:tblPr/>
              <a:tblGrid>
                <a:gridCol w="3971655">
                  <a:extLst>
                    <a:ext uri="{9D8B030D-6E8A-4147-A177-3AD203B41FA5}">
                      <a16:colId xmlns:a16="http://schemas.microsoft.com/office/drawing/2014/main" val="20000"/>
                    </a:ext>
                  </a:extLst>
                </a:gridCol>
                <a:gridCol w="1985827">
                  <a:extLst>
                    <a:ext uri="{9D8B030D-6E8A-4147-A177-3AD203B41FA5}">
                      <a16:colId xmlns:a16="http://schemas.microsoft.com/office/drawing/2014/main" val="20001"/>
                    </a:ext>
                  </a:extLst>
                </a:gridCol>
                <a:gridCol w="1985827">
                  <a:extLst>
                    <a:ext uri="{9D8B030D-6E8A-4147-A177-3AD203B41FA5}">
                      <a16:colId xmlns:a16="http://schemas.microsoft.com/office/drawing/2014/main" val="20002"/>
                    </a:ext>
                  </a:extLst>
                </a:gridCol>
                <a:gridCol w="2612931">
                  <a:extLst>
                    <a:ext uri="{9D8B030D-6E8A-4147-A177-3AD203B41FA5}">
                      <a16:colId xmlns:a16="http://schemas.microsoft.com/office/drawing/2014/main" val="20003"/>
                    </a:ext>
                  </a:extLst>
                </a:gridCol>
              </a:tblGrid>
              <a:tr h="4470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Baseline</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Improvement</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Distance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Travel time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completed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Time-window violations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10"/>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 actual values will come after experiments.</a:t>
            </a:r>
            <a:endParaRPr lang="en-US" dirty="0">
              <a:latin typeface="Times New Roman" panose="02020603050405020304" pitchFamily="18" charset="0"/>
              <a:cs typeface="Times New Roman" panose="02020603050405020304" pitchFamily="18" charset="0"/>
            </a:endParaRPr>
          </a:p>
        </p:txBody>
      </p:sp>
      <p:sp>
        <p:nvSpPr>
          <p:cNvPr id="14"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597501"/>
            <a:ext cx="10566400" cy="0"/>
          </a:xfrm>
          <a:prstGeom prst="line">
            <a:avLst/>
          </a:prstGeom>
          <a:noFill/>
          <a:ln w="6350">
            <a:solidFill>
              <a:srgbClr val="CDBFA6"/>
            </a:solidFill>
            <a:prstDash val="solid"/>
          </a:ln>
        </p:spPr>
      </p:sp>
      <p:sp>
        <p:nvSpPr>
          <p:cNvPr id="3" name="Text 1"/>
          <p:cNvSpPr/>
          <p:nvPr/>
        </p:nvSpPr>
        <p:spPr>
          <a:xfrm>
            <a:off x="812800" y="812800"/>
            <a:ext cx="10883392" cy="231458"/>
          </a:xfrm>
          <a:prstGeom prst="rect">
            <a:avLst/>
          </a:prstGeom>
          <a:noFill/>
          <a:ln/>
        </p:spPr>
        <p:txBody>
          <a:bodyPr wrap="square" lIns="0" tIns="0" rIns="0" bIns="0" rtlCol="0" anchor="t">
            <a:normAutofit/>
          </a:bodyPr>
          <a:lstStyle/>
          <a:p>
            <a:pPr marL="0" indent="0" algn="l">
              <a:lnSpc>
                <a:spcPts val="1621"/>
              </a:lnSpc>
              <a:buNone/>
            </a:pPr>
            <a:r>
              <a:rPr lang="en-US" sz="14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4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69665"/>
            <a:ext cx="10883392" cy="398939"/>
          </a:xfrm>
          <a:prstGeom prst="rect">
            <a:avLst/>
          </a:prstGeom>
          <a:noFill/>
          <a:ln/>
        </p:spPr>
        <p:txBody>
          <a:bodyPr wrap="square" lIns="0" tIns="0" rIns="0" bIns="0" rtlCol="0" anchor="t">
            <a:normAutofit/>
          </a:bodyPr>
          <a:lstStyle/>
          <a:p>
            <a:pPr marL="0" indent="0" algn="l">
              <a:lnSpc>
                <a:spcPts val="2970"/>
              </a:lnSpc>
              <a:buNone/>
            </a:pPr>
            <a:r>
              <a:rPr lang="en-US" sz="3200" b="1" i="0" dirty="0">
                <a:solidFill>
                  <a:srgbClr val="221F1A"/>
                </a:solidFill>
                <a:latin typeface="Times New Roman" panose="02020603050405020304" pitchFamily="18" charset="0"/>
                <a:ea typeface="Georgia" pitchFamily="18" charset="-122"/>
                <a:cs typeface="Times New Roman" panose="02020603050405020304" pitchFamily="18" charset="0"/>
              </a:rPr>
              <a:t>Challenges and solutions</a:t>
            </a:r>
            <a:endParaRPr lang="en-US" sz="32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4044"/>
          <a:ext cx="5016500" cy="4480560"/>
        </p:xfrm>
        <a:graphic>
          <a:graphicData uri="http://schemas.openxmlformats.org/drawingml/2006/table">
            <a:tbl>
              <a:tblPr/>
              <a:tblGrid>
                <a:gridCol w="1856105">
                  <a:extLst>
                    <a:ext uri="{9D8B030D-6E8A-4147-A177-3AD203B41FA5}">
                      <a16:colId xmlns:a16="http://schemas.microsoft.com/office/drawing/2014/main" val="20000"/>
                    </a:ext>
                  </a:extLst>
                </a:gridCol>
                <a:gridCol w="3160395">
                  <a:extLst>
                    <a:ext uri="{9D8B030D-6E8A-4147-A177-3AD203B41FA5}">
                      <a16:colId xmlns:a16="http://schemas.microsoft.com/office/drawing/2014/main" val="20001"/>
                    </a:ext>
                  </a:extLst>
                </a:gridCol>
              </a:tblGrid>
              <a:tr h="3962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Challenge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 solution</a:t>
                      </a:r>
                      <a:endParaRPr lang="en-US" sz="1600"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Missing data</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validation + imputation where justified</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Incorrect coordinates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Coordinate validation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Insufficient ML labels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Alternative ranking / rule-based formulation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privacy</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Anonymization + restricted access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Changing appointments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 regeneration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Traffic variation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Estimated travel-time matrix first; dynamic API later</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096635" y="1803884"/>
            <a:ext cx="0" cy="3921760"/>
          </a:xfrm>
          <a:prstGeom prst="line">
            <a:avLst/>
          </a:prstGeom>
          <a:noFill/>
          <a:ln w="6350">
            <a:solidFill>
              <a:srgbClr val="CDBFA6"/>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62700" y="1814044"/>
          <a:ext cx="5016500" cy="3911600"/>
        </p:xfrm>
        <a:graphic>
          <a:graphicData uri="http://schemas.openxmlformats.org/drawingml/2006/table">
            <a:tbl>
              <a:tblPr/>
              <a:tblGrid>
                <a:gridCol w="1856105">
                  <a:extLst>
                    <a:ext uri="{9D8B030D-6E8A-4147-A177-3AD203B41FA5}">
                      <a16:colId xmlns:a16="http://schemas.microsoft.com/office/drawing/2014/main" val="20000"/>
                    </a:ext>
                  </a:extLst>
                </a:gridCol>
                <a:gridCol w="3160395">
                  <a:extLst>
                    <a:ext uri="{9D8B030D-6E8A-4147-A177-3AD203B41FA5}">
                      <a16:colId xmlns:a16="http://schemas.microsoft.com/office/drawing/2014/main" val="20001"/>
                    </a:ext>
                  </a:extLst>
                </a:gridCol>
              </a:tblGrid>
              <a:tr h="3962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Challenge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 solution</a:t>
                      </a:r>
                      <a:endParaRPr lang="en-US" sz="1600"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3962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Model overfitting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Train/test split + cross-validation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Imbalanced priority classes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Class weighting / suitable sampling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No agency data</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Approved public/synthetic data for prototype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 infeasibility</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Constraint validation + fallback handling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 failure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Cached/precomputed travel matrix</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962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Multiple MRs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Multi-vehicle routing architecture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Security and privacy</a:t>
            </a:r>
            <a:endParaRPr lang="en-US" sz="36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7EED8A67-1C98-F41A-5CAD-D87F4CA4B995}"/>
              </a:ext>
            </a:extLst>
          </p:cNvPr>
          <p:cNvGrpSpPr/>
          <p:nvPr/>
        </p:nvGrpSpPr>
        <p:grpSpPr>
          <a:xfrm>
            <a:off x="812800" y="2990848"/>
            <a:ext cx="10714152" cy="2059940"/>
            <a:chOff x="812800" y="3807458"/>
            <a:chExt cx="10714152" cy="2059940"/>
          </a:xfrm>
        </p:grpSpPr>
        <p:sp>
          <p:nvSpPr>
            <p:cNvPr id="5" name="Text 3"/>
            <p:cNvSpPr/>
            <p:nvPr/>
          </p:nvSpPr>
          <p:spPr>
            <a:xfrm>
              <a:off x="812800" y="3807458"/>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Security</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910082" y="4188458"/>
              <a:ext cx="4967910" cy="167894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Role-based access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Password hashing</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API authentication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Input validation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Restricted database access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Secure configuration/secrets</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807458"/>
              <a:ext cx="0" cy="1243330"/>
            </a:xfrm>
            <a:prstGeom prst="line">
              <a:avLst/>
            </a:prstGeom>
            <a:noFill/>
            <a:ln w="6350">
              <a:solidFill>
                <a:srgbClr val="CDBFA6"/>
              </a:solidFill>
              <a:prstDash val="solid"/>
            </a:ln>
          </p:spPr>
        </p:sp>
        <p:sp>
          <p:nvSpPr>
            <p:cNvPr id="8" name="Text 6"/>
            <p:cNvSpPr/>
            <p:nvPr/>
          </p:nvSpPr>
          <p:spPr>
            <a:xfrm>
              <a:off x="6454140" y="3807458"/>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Privacy</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6454140" y="4188458"/>
              <a:ext cx="5072812" cy="283210"/>
            </a:xfrm>
            <a:prstGeom prst="rect">
              <a:avLst/>
            </a:prstGeom>
            <a:noFill/>
            <a:ln/>
          </p:spPr>
          <p:txBody>
            <a:bodyPr wrap="square" lIns="0" tIns="0" rIns="0" bIns="0" rtlCol="0" anchor="t">
              <a:no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We do not require patient medical records for the core system.</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454140" y="4535177"/>
              <a:ext cx="5072812" cy="541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Use Doctor ID → D001, MR ID → MR007 rather than unnecessary personally identifiable information.</a:t>
              </a:r>
              <a:endParaRPr lang="en-US" dirty="0">
                <a:latin typeface="Times New Roman" panose="02020603050405020304" pitchFamily="18" charset="0"/>
                <a:cs typeface="Times New Roman" panose="02020603050405020304" pitchFamily="18" charset="0"/>
              </a:endParaRPr>
            </a:p>
          </p:txBody>
        </p:sp>
      </p:grpSp>
      <p:sp>
        <p:nvSpPr>
          <p:cNvPr id="11"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Limitations</a:t>
            </a:r>
            <a:endParaRPr lang="en-US" sz="36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EDD41FFC-7F1B-3F3B-B4A0-1DA50F04B073}"/>
              </a:ext>
            </a:extLst>
          </p:cNvPr>
          <p:cNvGrpSpPr/>
          <p:nvPr/>
        </p:nvGrpSpPr>
        <p:grpSpPr>
          <a:xfrm>
            <a:off x="901037" y="2949892"/>
            <a:ext cx="10706917" cy="1793244"/>
            <a:chOff x="812800" y="4074158"/>
            <a:chExt cx="10706917" cy="1793244"/>
          </a:xfrm>
        </p:grpSpPr>
        <p:sp>
          <p:nvSpPr>
            <p:cNvPr id="5" name="Text 3"/>
            <p:cNvSpPr/>
            <p:nvPr/>
          </p:nvSpPr>
          <p:spPr>
            <a:xfrm>
              <a:off x="812800" y="4074158"/>
              <a:ext cx="166132"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1055132" y="4175758"/>
              <a:ext cx="4823210"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Quality of ML predictions depends on available historical data.</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4762500"/>
              <a:ext cx="18026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8" name="Text 6"/>
            <p:cNvSpPr/>
            <p:nvPr/>
          </p:nvSpPr>
          <p:spPr>
            <a:xfrm>
              <a:off x="1069261" y="4864100"/>
              <a:ext cx="4808658"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initial system may use estimated travel times rather than live traffic.</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12800" y="5450842"/>
              <a:ext cx="205026"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sp>
          <p:nvSpPr>
            <p:cNvPr id="10" name="Text 8"/>
            <p:cNvSpPr/>
            <p:nvPr/>
          </p:nvSpPr>
          <p:spPr>
            <a:xfrm>
              <a:off x="1094026" y="5552442"/>
              <a:ext cx="4743831" cy="27432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Dynamic changes may require route regeneration.</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6096635" y="4074158"/>
              <a:ext cx="0" cy="1767840"/>
            </a:xfrm>
            <a:prstGeom prst="line">
              <a:avLst/>
            </a:prstGeom>
            <a:noFill/>
            <a:ln w="6350">
              <a:solidFill>
                <a:srgbClr val="CDBFA6"/>
              </a:solidFill>
              <a:prstDash val="solid"/>
            </a:ln>
          </p:spPr>
        </p:sp>
        <p:sp>
          <p:nvSpPr>
            <p:cNvPr id="12" name="Text 10"/>
            <p:cNvSpPr/>
            <p:nvPr/>
          </p:nvSpPr>
          <p:spPr>
            <a:xfrm>
              <a:off x="6454140" y="4074158"/>
              <a:ext cx="208677"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4</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6739017" y="4175758"/>
              <a:ext cx="4640183" cy="274320"/>
            </a:xfrm>
            <a:prstGeom prst="rect">
              <a:avLst/>
            </a:prstGeom>
            <a:noFill/>
            <a:ln/>
          </p:spPr>
          <p:txBody>
            <a:bodyPr wrap="square" lIns="0" tIns="0" rIns="0" bIns="0" rtlCol="0" anchor="t">
              <a:no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initial prototype may focus on a limited territory.</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6454140" y="4554227"/>
              <a:ext cx="16494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5</a:t>
              </a:r>
              <a:endParaRPr lang="en-US" sz="2800" dirty="0">
                <a:latin typeface="Times New Roman" panose="02020603050405020304" pitchFamily="18" charset="0"/>
                <a:cs typeface="Times New Roman" panose="02020603050405020304" pitchFamily="18" charset="0"/>
              </a:endParaRPr>
            </a:p>
          </p:txBody>
        </p:sp>
        <p:sp>
          <p:nvSpPr>
            <p:cNvPr id="15" name="Text 13"/>
            <p:cNvSpPr/>
            <p:nvPr/>
          </p:nvSpPr>
          <p:spPr>
            <a:xfrm>
              <a:off x="6695281" y="4655827"/>
              <a:ext cx="4824436"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Commercial CRM integration may not be included in the academic prototype.</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454140" y="5242558"/>
              <a:ext cx="18526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6</a:t>
              </a:r>
              <a:endParaRPr lang="en-US" sz="2800" dirty="0">
                <a:latin typeface="Times New Roman" panose="02020603050405020304" pitchFamily="18" charset="0"/>
                <a:cs typeface="Times New Roman" panose="02020603050405020304" pitchFamily="18" charset="0"/>
              </a:endParaRPr>
            </a:p>
          </p:txBody>
        </p:sp>
        <p:sp>
          <p:nvSpPr>
            <p:cNvPr id="17" name="Text 15"/>
            <p:cNvSpPr/>
            <p:nvPr/>
          </p:nvSpPr>
          <p:spPr>
            <a:xfrm>
              <a:off x="6715602" y="5344158"/>
              <a:ext cx="4803507"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Model performance must be validated using actual experimental data.</a:t>
              </a:r>
              <a:endParaRPr lang="en-US" dirty="0">
                <a:latin typeface="Times New Roman" panose="02020603050405020304" pitchFamily="18" charset="0"/>
                <a:cs typeface="Times New Roman" panose="02020603050405020304" pitchFamily="18" charset="0"/>
              </a:endParaRPr>
            </a:p>
          </p:txBody>
        </p:sp>
      </p:grpSp>
      <p:sp>
        <p:nvSpPr>
          <p:cNvPr id="18"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Outlook</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Future scope</a:t>
            </a:r>
            <a:endParaRPr lang="en-US" sz="3600" dirty="0">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25181F7B-E596-33C3-F28C-B93C6004A66D}"/>
              </a:ext>
            </a:extLst>
          </p:cNvPr>
          <p:cNvGrpSpPr/>
          <p:nvPr/>
        </p:nvGrpSpPr>
        <p:grpSpPr>
          <a:xfrm>
            <a:off x="943143" y="2810718"/>
            <a:ext cx="10622712" cy="1797050"/>
            <a:chOff x="896620" y="4070350"/>
            <a:chExt cx="10622712" cy="1797050"/>
          </a:xfrm>
        </p:grpSpPr>
        <p:sp>
          <p:nvSpPr>
            <p:cNvPr id="5" name="Text 3"/>
            <p:cNvSpPr/>
            <p:nvPr/>
          </p:nvSpPr>
          <p:spPr>
            <a:xfrm>
              <a:off x="896620" y="4070350"/>
              <a:ext cx="4981372" cy="1797050"/>
            </a:xfrm>
            <a:prstGeom prst="rect">
              <a:avLst/>
            </a:prstGeom>
            <a:noFill/>
            <a:ln/>
          </p:spPr>
          <p:txBody>
            <a:bodyPr wrap="square" lIns="0" tIns="0" rIns="0" bIns="0" rtlCol="0" anchor="t">
              <a:normAutofit/>
            </a:bodyPr>
            <a:lstStyle/>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Live traffic integration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Dynamic route re-optimization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Mobile application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Multiple-city deployment</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Multiple-MR optimization</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6096635" y="4070350"/>
              <a:ext cx="0" cy="1771650"/>
            </a:xfrm>
            <a:prstGeom prst="line">
              <a:avLst/>
            </a:prstGeom>
            <a:noFill/>
            <a:ln w="6350">
              <a:solidFill>
                <a:srgbClr val="CDBFA6"/>
              </a:solidFill>
              <a:prstDash val="solid"/>
            </a:ln>
          </p:spPr>
        </p:sp>
        <p:sp>
          <p:nvSpPr>
            <p:cNvPr id="7" name="Text 5"/>
            <p:cNvSpPr/>
            <p:nvPr/>
          </p:nvSpPr>
          <p:spPr>
            <a:xfrm>
              <a:off x="6537960" y="4070350"/>
              <a:ext cx="4981372" cy="1797050"/>
            </a:xfrm>
            <a:prstGeom prst="rect">
              <a:avLst/>
            </a:prstGeom>
            <a:noFill/>
            <a:ln/>
          </p:spPr>
          <p:txBody>
            <a:bodyPr wrap="square" lIns="0" tIns="0" rIns="0" bIns="0" rtlCol="0" anchor="t">
              <a:normAutofit/>
            </a:bodyPr>
            <a:lstStyle/>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CRM integration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Automatic appointment rescheduling</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Advanced ranking models</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Reinforcement-learning / advanced optimization research</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Predictive analytics for field performance</a:t>
              </a:r>
              <a:endParaRPr lang="en-US" dirty="0">
                <a:latin typeface="Times New Roman" panose="02020603050405020304" pitchFamily="18" charset="0"/>
                <a:cs typeface="Times New Roman" panose="02020603050405020304" pitchFamily="18" charset="0"/>
              </a:endParaRPr>
            </a:p>
          </p:txBody>
        </p:sp>
      </p:gr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Progress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Current working status</a:t>
            </a:r>
            <a:endParaRPr lang="en-US" sz="3600"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3E5A45F0-AEE1-DB75-FD8C-F229DD4F9B98}"/>
              </a:ext>
            </a:extLst>
          </p:cNvPr>
          <p:cNvGrpSpPr/>
          <p:nvPr/>
        </p:nvGrpSpPr>
        <p:grpSpPr>
          <a:xfrm>
            <a:off x="763016" y="2839403"/>
            <a:ext cx="10665967" cy="2227595"/>
            <a:chOff x="812800" y="3639815"/>
            <a:chExt cx="10665967" cy="2227595"/>
          </a:xfrm>
        </p:grpSpPr>
        <p:sp>
          <p:nvSpPr>
            <p:cNvPr id="5" name="Shape 3"/>
            <p:cNvSpPr/>
            <p:nvPr/>
          </p:nvSpPr>
          <p:spPr>
            <a:xfrm>
              <a:off x="812800" y="3639815"/>
              <a:ext cx="3318907" cy="0"/>
            </a:xfrm>
            <a:prstGeom prst="line">
              <a:avLst/>
            </a:prstGeom>
            <a:noFill/>
            <a:ln w="50800">
              <a:solidFill>
                <a:srgbClr val="1F2B26"/>
              </a:solidFill>
              <a:prstDash val="solid"/>
            </a:ln>
          </p:spPr>
        </p:sp>
        <p:sp>
          <p:nvSpPr>
            <p:cNvPr id="6" name="Text 4"/>
            <p:cNvSpPr/>
            <p:nvPr/>
          </p:nvSpPr>
          <p:spPr>
            <a:xfrm>
              <a:off x="812800" y="3792215"/>
              <a:ext cx="3418474"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Completed</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910082" y="4188470"/>
              <a:ext cx="3313572"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Problem definition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System architecture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UI design</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4436507" y="3639815"/>
              <a:ext cx="3318986" cy="0"/>
            </a:xfrm>
            <a:prstGeom prst="line">
              <a:avLst/>
            </a:prstGeom>
            <a:noFill/>
            <a:ln w="50800">
              <a:solidFill>
                <a:srgbClr val="B9855A"/>
              </a:solidFill>
              <a:prstDash val="solid"/>
            </a:ln>
          </p:spPr>
        </p:sp>
        <p:sp>
          <p:nvSpPr>
            <p:cNvPr id="9" name="Text 7"/>
            <p:cNvSpPr/>
            <p:nvPr/>
          </p:nvSpPr>
          <p:spPr>
            <a:xfrm>
              <a:off x="4436507" y="3792215"/>
              <a:ext cx="3418556"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In progress</a:t>
              </a:r>
              <a:endParaRPr lang="en-US" sz="2800" dirty="0">
                <a:latin typeface="Times New Roman" panose="02020603050405020304" pitchFamily="18" charset="0"/>
                <a:cs typeface="Times New Roman" panose="02020603050405020304" pitchFamily="18" charset="0"/>
              </a:endParaRPr>
            </a:p>
          </p:txBody>
        </p:sp>
        <p:sp>
          <p:nvSpPr>
            <p:cNvPr id="10" name="Text 8"/>
            <p:cNvSpPr/>
            <p:nvPr/>
          </p:nvSpPr>
          <p:spPr>
            <a:xfrm>
              <a:off x="4533789" y="4188470"/>
              <a:ext cx="3313654" cy="167894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Database design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Backend structure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ML pipeline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OR-Tools optimization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Dashboard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Integration</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8060293" y="3639815"/>
              <a:ext cx="3318907" cy="0"/>
            </a:xfrm>
            <a:prstGeom prst="line">
              <a:avLst/>
            </a:prstGeom>
            <a:noFill/>
            <a:ln w="50800">
              <a:solidFill>
                <a:srgbClr val="CDBFA6"/>
              </a:solidFill>
              <a:prstDash val="solid"/>
            </a:ln>
          </p:spPr>
        </p:sp>
        <p:sp>
          <p:nvSpPr>
            <p:cNvPr id="12" name="Text 10"/>
            <p:cNvSpPr/>
            <p:nvPr/>
          </p:nvSpPr>
          <p:spPr>
            <a:xfrm>
              <a:off x="8060293" y="3792215"/>
              <a:ext cx="3418474"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Upcoming</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8157575" y="4188470"/>
              <a:ext cx="3313572" cy="57658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Testing</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Final deployment</a:t>
              </a:r>
              <a:endParaRPr lang="en-US" dirty="0">
                <a:latin typeface="Times New Roman" panose="02020603050405020304" pitchFamily="18" charset="0"/>
                <a:cs typeface="Times New Roman" panose="02020603050405020304" pitchFamily="18" charset="0"/>
              </a:endParaRPr>
            </a:p>
          </p:txBody>
        </p:sp>
      </p:grpSp>
      <p:sp>
        <p:nvSpPr>
          <p:cNvPr id="14" name="Text 12"/>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Progress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55"/>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Semester-I partial report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160042"/>
            <a:ext cx="10883392"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Semester-I deliverables</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853186" y="2655183"/>
            <a:ext cx="10777728"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Problem identification, topic finalization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Literature survey, requirement analysis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Dataset / data requirement analysis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architecture, technology and algorithm selection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Database design, UI design, initial prototype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812800" y="4280148"/>
            <a:ext cx="10883392"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Semester-II focus</a:t>
            </a:r>
            <a:endParaRPr lang="en-US" sz="2400" dirty="0">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D995ED8F-2F23-8E81-7F68-90E1D4A081B1}"/>
              </a:ext>
            </a:extLst>
          </p:cNvPr>
          <p:cNvGrpSpPr/>
          <p:nvPr/>
        </p:nvGrpSpPr>
        <p:grpSpPr>
          <a:xfrm>
            <a:off x="815975" y="4844673"/>
            <a:ext cx="10560050" cy="803890"/>
            <a:chOff x="815975" y="5034930"/>
            <a:chExt cx="10560050" cy="803890"/>
          </a:xfrm>
        </p:grpSpPr>
        <p:sp>
          <p:nvSpPr>
            <p:cNvPr id="8" name="Text 6"/>
            <p:cNvSpPr/>
            <p:nvPr/>
          </p:nvSpPr>
          <p:spPr>
            <a:xfrm>
              <a:off x="815975"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27977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3536950"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training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00750"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6257925"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72172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978900"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Integration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5975"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Testing</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3279775"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3536950"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6000750"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257925"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Deployment</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721725"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8978900"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Final demonstration</a:t>
              </a:r>
              <a:endParaRPr lang="en-US" sz="1600" dirty="0">
                <a:latin typeface="Times New Roman" panose="02020603050405020304" pitchFamily="18" charset="0"/>
                <a:cs typeface="Times New Roman" panose="02020603050405020304" pitchFamily="18" charset="0"/>
              </a:endParaRPr>
            </a:p>
          </p:txBody>
        </p:sp>
      </p:grpSp>
      <p:sp>
        <p:nvSpPr>
          <p:cNvPr id="22" name="Text 20"/>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AI-Based MR Visit Prioritization &amp; Route Optimization — Review III">
  <a:themeElements>
    <a:clrScheme name="AI-Based MR Visit Prioritization &amp; Route Optimization — Review III">
      <a:dk1>
        <a:srgbClr val="221F1A"/>
      </a:dk1>
      <a:lt1>
        <a:srgbClr val="F5EFE3"/>
      </a:lt1>
      <a:dk2>
        <a:srgbClr val="57534C"/>
      </a:dk2>
      <a:lt2>
        <a:srgbClr val="E0DACF"/>
      </a:lt2>
      <a:accent1>
        <a:srgbClr val="9E3B25"/>
      </a:accent1>
      <a:accent2>
        <a:srgbClr val="D8A24A"/>
      </a:accent2>
      <a:accent3>
        <a:srgbClr val="6E665A"/>
      </a:accent3>
      <a:accent4>
        <a:srgbClr val="C9C3B3"/>
      </a:accent4>
      <a:accent5>
        <a:srgbClr val="8D9A91"/>
      </a:accent5>
      <a:accent6>
        <a:srgbClr val="9AA0A6"/>
      </a:accent6>
      <a:hlink>
        <a:srgbClr val="0563C1"/>
      </a:hlink>
      <a:folHlink>
        <a:srgbClr val="954F72"/>
      </a:folHlink>
    </a:clrScheme>
    <a:fontScheme name="AI-Based MR Visit Prioritization &amp; Route Optimization — Review III">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2555</Words>
  <Application>Microsoft Office PowerPoint</Application>
  <PresentationFormat>Widescreen</PresentationFormat>
  <Paragraphs>685</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Georgia</vt:lpstr>
      <vt:lpstr>Times New Roman</vt:lpstr>
      <vt:lpstr>AI-Based MR Visit Prioritization &amp; Route Optimization — Review III</vt:lpstr>
      <vt:lpstr>AI-Based Medical Representative</vt:lpstr>
      <vt:lpstr>Problem statement</vt:lpstr>
      <vt:lpstr>Abstract</vt:lpstr>
      <vt:lpstr>Why this project?</vt:lpstr>
      <vt:lpstr>Existing system</vt:lpstr>
      <vt:lpstr>Literature survey</vt:lpstr>
      <vt:lpstr>Research gap</vt:lpstr>
      <vt:lpstr>Three intelligence layers</vt:lpstr>
      <vt:lpstr>Proposed methodology</vt:lpstr>
      <vt:lpstr>System architecture</vt:lpstr>
      <vt:lpstr>Data flow</vt:lpstr>
      <vt:lpstr>Data design</vt:lpstr>
      <vt:lpstr>ML priority prediction</vt:lpstr>
      <vt:lpstr>Feature engineering by example</vt:lpstr>
      <vt:lpstr>Route optimization</vt:lpstr>
      <vt:lpstr>Optimization objective</vt:lpstr>
      <vt:lpstr>Algorithms and techniques used</vt:lpstr>
      <vt:lpstr>Module split-up</vt:lpstr>
      <vt:lpstr>Proposed system UI</vt:lpstr>
      <vt:lpstr>Working module: MR</vt:lpstr>
      <vt:lpstr>Working module: manager</vt:lpstr>
      <vt:lpstr>Complete working flow</vt:lpstr>
      <vt:lpstr>Technology stack</vt:lpstr>
      <vt:lpstr>Database design</vt:lpstr>
      <vt:lpstr>Evaluation</vt:lpstr>
      <vt:lpstr>Baseline comparison</vt:lpstr>
      <vt:lpstr>Challenges and solutions</vt:lpstr>
      <vt:lpstr>Security and privacy</vt:lpstr>
      <vt:lpstr>Limitations</vt:lpstr>
      <vt:lpstr>Future scope</vt:lpstr>
      <vt:lpstr>Current working status</vt:lpstr>
      <vt:lpstr>Semester-I partial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MR Visit Prioritization &amp; Route Optimization — Review III</dc:title>
  <dc:subject/>
  <dc:creator/>
  <cp:lastModifiedBy>Parth Lokhande</cp:lastModifiedBy>
  <cp:revision>4</cp:revision>
  <dcterms:created xsi:type="dcterms:W3CDTF">2026-10-10T05:41:03Z</dcterms:created>
  <dcterms:modified xsi:type="dcterms:W3CDTF">2026-10-10T07:15:24Z</dcterms:modified>
</cp:coreProperties>
</file>