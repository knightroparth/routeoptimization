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274320"/>
            <a:ext cx="9144000" cy="320040"/>
          </a:xfrm>
          <a:prstGeom prst="rect">
            <a:avLst/>
          </a:prstGeom>
          <a:noFill/>
        </p:spPr>
        <p:txBody>
          <a:bodyPr wrap="square">
            <a:spAutoFit/>
          </a:bodyPr>
          <a:lstStyle/>
          <a:p>
            <a:pPr algn="ctr">
              <a:defRPr sz="1800" b="1" i="0">
                <a:solidFill>
                  <a:srgbClr val="333333"/>
                </a:solidFill>
                <a:latin typeface="Times New Roman"/>
              </a:defRPr>
            </a:pPr>
            <a:r>
              <a:t>Pune Vidyarthi Griha's</a:t>
            </a:r>
          </a:p>
        </p:txBody>
      </p:sp>
      <p:sp>
        <p:nvSpPr>
          <p:cNvPr id="3" name="TextBox 2"/>
          <p:cNvSpPr txBox="1"/>
          <p:nvPr/>
        </p:nvSpPr>
        <p:spPr>
          <a:xfrm>
            <a:off x="1371600" y="594360"/>
            <a:ext cx="9144000" cy="365760"/>
          </a:xfrm>
          <a:prstGeom prst="rect">
            <a:avLst/>
          </a:prstGeom>
          <a:noFill/>
        </p:spPr>
        <p:txBody>
          <a:bodyPr wrap="square">
            <a:spAutoFit/>
          </a:bodyPr>
          <a:lstStyle/>
          <a:p>
            <a:pPr algn="ctr">
              <a:defRPr sz="1600" b="1" i="0">
                <a:solidFill>
                  <a:srgbClr val="BB0000"/>
                </a:solidFill>
                <a:latin typeface="Times New Roman"/>
              </a:defRPr>
            </a:pPr>
            <a:r>
              <a:t>COLLEGE OF ENGINEERING, TECHNOLOGY &amp; MANAGEMENT, PUNE.</a:t>
            </a:r>
          </a:p>
        </p:txBody>
      </p:sp>
      <p:sp>
        <p:nvSpPr>
          <p:cNvPr id="4" name="TextBox 3"/>
          <p:cNvSpPr txBox="1"/>
          <p:nvPr/>
        </p:nvSpPr>
        <p:spPr>
          <a:xfrm>
            <a:off x="1371600" y="960120"/>
            <a:ext cx="9144000" cy="320040"/>
          </a:xfrm>
          <a:prstGeom prst="rect">
            <a:avLst/>
          </a:prstGeom>
          <a:noFill/>
        </p:spPr>
        <p:txBody>
          <a:bodyPr wrap="square">
            <a:spAutoFit/>
          </a:bodyPr>
          <a:lstStyle/>
          <a:p>
            <a:pPr algn="ctr">
              <a:defRPr sz="1600" b="1" i="0">
                <a:solidFill>
                  <a:srgbClr val="7030A0"/>
                </a:solidFill>
                <a:latin typeface="Times New Roman"/>
              </a:defRPr>
            </a:pPr>
            <a:r>
              <a:t>Artificial Intelligence &amp; Data Science</a:t>
            </a:r>
          </a:p>
        </p:txBody>
      </p:sp>
      <p:sp>
        <p:nvSpPr>
          <p:cNvPr id="5" name="Rectangle 4"/>
          <p:cNvSpPr/>
          <p:nvPr/>
        </p:nvSpPr>
        <p:spPr>
          <a:xfrm>
            <a:off x="1371600" y="1371600"/>
            <a:ext cx="9144000" cy="254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32720" cy="731520"/>
          </a:xfrm>
          <a:prstGeom prst="rect">
            <a:avLst/>
          </a:prstGeom>
          <a:noFill/>
        </p:spPr>
        <p:txBody>
          <a:bodyPr wrap="square">
            <a:spAutoFit/>
          </a:bodyPr>
          <a:lstStyle/>
          <a:p>
            <a:pPr algn="ctr">
              <a:defRPr sz="3200" b="1" i="0">
                <a:solidFill>
                  <a:srgbClr val="7030A0"/>
                </a:solidFill>
                <a:latin typeface="Times New Roman"/>
              </a:defRPr>
            </a:pPr>
            <a:r>
              <a:t>AI-Based Medical Representative Visit Prioritization &amp; Route Optimization System</a:t>
            </a:r>
          </a:p>
        </p:txBody>
      </p:sp>
      <p:sp>
        <p:nvSpPr>
          <p:cNvPr id="7" name="TextBox 6"/>
          <p:cNvSpPr txBox="1"/>
          <p:nvPr/>
        </p:nvSpPr>
        <p:spPr>
          <a:xfrm>
            <a:off x="914400" y="3200400"/>
            <a:ext cx="10332720" cy="365760"/>
          </a:xfrm>
          <a:prstGeom prst="rect">
            <a:avLst/>
          </a:prstGeom>
          <a:noFill/>
        </p:spPr>
        <p:txBody>
          <a:bodyPr wrap="square">
            <a:spAutoFit/>
          </a:bodyPr>
          <a:lstStyle/>
          <a:p>
            <a:pPr algn="ctr">
              <a:defRPr sz="2200" b="0" i="0">
                <a:solidFill>
                  <a:srgbClr val="333333"/>
                </a:solidFill>
                <a:latin typeface="Times New Roman"/>
              </a:defRPr>
            </a:pPr>
            <a:r>
              <a:t>Bhakti Jayantilal Gundecha (3071)    |    Parth Lokhande (1020)    |    Udaykiran Bitla (3056)</a:t>
            </a:r>
          </a:p>
        </p:txBody>
      </p:sp>
      <p:sp>
        <p:nvSpPr>
          <p:cNvPr id="8" name="TextBox 7"/>
          <p:cNvSpPr txBox="1"/>
          <p:nvPr/>
        </p:nvSpPr>
        <p:spPr>
          <a:xfrm>
            <a:off x="914400" y="4023360"/>
            <a:ext cx="10332720" cy="320040"/>
          </a:xfrm>
          <a:prstGeom prst="rect">
            <a:avLst/>
          </a:prstGeom>
          <a:noFill/>
        </p:spPr>
        <p:txBody>
          <a:bodyPr wrap="square">
            <a:spAutoFit/>
          </a:bodyPr>
          <a:lstStyle/>
          <a:p>
            <a:pPr algn="ctr">
              <a:defRPr sz="2400" b="0" i="0">
                <a:solidFill>
                  <a:srgbClr val="333333"/>
                </a:solidFill>
                <a:latin typeface="Times New Roman"/>
              </a:defRPr>
            </a:pPr>
            <a:r>
              <a:t>Internal Guide: Prof. Mrs. M. U. Buchade</a:t>
            </a:r>
          </a:p>
        </p:txBody>
      </p:sp>
      <p:sp>
        <p:nvSpPr>
          <p:cNvPr id="9" name="TextBox 8"/>
          <p:cNvSpPr txBox="1"/>
          <p:nvPr/>
        </p:nvSpPr>
        <p:spPr>
          <a:xfrm>
            <a:off x="3657600" y="6035040"/>
            <a:ext cx="4846320" cy="274320"/>
          </a:xfrm>
          <a:prstGeom prst="rect">
            <a:avLst/>
          </a:prstGeom>
          <a:noFill/>
        </p:spPr>
        <p:txBody>
          <a:bodyPr wrap="square">
            <a:spAutoFit/>
          </a:bodyPr>
          <a:lstStyle/>
          <a:p>
            <a:pPr algn="ctr">
              <a:defRPr sz="1400" b="0" i="0">
                <a:solidFill>
                  <a:srgbClr val="666666"/>
                </a:solidFill>
                <a:latin typeface="Times New Roman"/>
              </a:defRPr>
            </a:pPr>
            <a:r>
              <a:t>Academic Year 2026-27</a:t>
            </a:r>
          </a:p>
        </p:txBody>
      </p:sp>
      <p:sp>
        <p:nvSpPr>
          <p:cNvPr id="10" name="TextBox 9"/>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2</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Problem Statement</a:t>
            </a:r>
          </a:p>
        </p:txBody>
      </p:sp>
      <p:sp>
        <p:nvSpPr>
          <p:cNvPr id="6" name="TextBox 5"/>
          <p:cNvSpPr txBox="1"/>
          <p:nvPr/>
        </p:nvSpPr>
        <p:spPr>
          <a:xfrm>
            <a:off x="640080" y="1188720"/>
            <a:ext cx="10515600" cy="731520"/>
          </a:xfrm>
          <a:prstGeom prst="rect">
            <a:avLst/>
          </a:prstGeom>
          <a:noFill/>
        </p:spPr>
        <p:txBody>
          <a:bodyPr wrap="square">
            <a:spAutoFit/>
          </a:bodyPr>
          <a:lstStyle/>
          <a:p>
            <a:pPr algn="l">
              <a:defRPr sz="1600" b="0" i="0">
                <a:solidFill>
                  <a:srgbClr val="333333"/>
                </a:solidFill>
                <a:latin typeface="Times New Roman"/>
              </a:defRPr>
            </a:pPr>
            <a:r>
              <a:t>Medical Representatives (MRs) visit multiple doctors daily across a territory. Each doctor has a different priority level, a different availability window, and a different location. Right now, most MRs plan their day using spreadsheets, memory, or fixed routes they have always followed.</a:t>
            </a:r>
          </a:p>
        </p:txBody>
      </p:sp>
      <p:sp>
        <p:nvSpPr>
          <p:cNvPr id="7" name="TextBox 6"/>
          <p:cNvSpPr txBox="1"/>
          <p:nvPr/>
        </p:nvSpPr>
        <p:spPr>
          <a:xfrm>
            <a:off x="640080" y="2194560"/>
            <a:ext cx="10515600" cy="274320"/>
          </a:xfrm>
          <a:prstGeom prst="rect">
            <a:avLst/>
          </a:prstGeom>
          <a:noFill/>
        </p:spPr>
        <p:txBody>
          <a:bodyPr wrap="square">
            <a:spAutoFit/>
          </a:bodyPr>
          <a:lstStyle/>
          <a:p>
            <a:pPr algn="l">
              <a:defRPr sz="1600" b="1" i="0">
                <a:solidFill>
                  <a:srgbClr val="000000"/>
                </a:solidFill>
                <a:latin typeface="Times New Roman"/>
              </a:defRPr>
            </a:pPr>
            <a:r>
              <a:t>This leads to real problems on the ground:</a:t>
            </a:r>
          </a:p>
        </p:txBody>
      </p:sp>
      <p:sp>
        <p:nvSpPr>
          <p:cNvPr id="8" name="TextBox 7"/>
          <p:cNvSpPr txBox="1"/>
          <p:nvPr/>
        </p:nvSpPr>
        <p:spPr>
          <a:xfrm>
            <a:off x="822960" y="2560320"/>
            <a:ext cx="10058400" cy="1828800"/>
          </a:xfrm>
          <a:prstGeom prst="rect">
            <a:avLst/>
          </a:prstGeom>
          <a:noFill/>
        </p:spPr>
        <p:txBody>
          <a:bodyPr wrap="square">
            <a:spAutoFit/>
          </a:bodyPr>
          <a:lstStyle/>
          <a:p>
            <a:pPr>
              <a:spcAft>
                <a:spcPts val="600"/>
              </a:spcAft>
              <a:defRPr sz="1500">
                <a:solidFill>
                  <a:srgbClr val="000000"/>
                </a:solidFill>
                <a:latin typeface="Times New Roman"/>
              </a:defRPr>
              <a:buChar char="•"/>
            </a:pPr>
            <a:r>
              <a:t>Repeated and overlapping travel that wastes time and fuel</a:t>
            </a:r>
          </a:p>
          <a:p>
            <a:pPr>
              <a:spcAft>
                <a:spcPts val="600"/>
              </a:spcAft>
              <a:defRPr sz="1500">
                <a:solidFill>
                  <a:srgbClr val="000000"/>
                </a:solidFill>
                <a:latin typeface="Times New Roman"/>
              </a:defRPr>
              <a:buChar char="•"/>
            </a:pPr>
            <a:r>
              <a:t>High-priority doctors get the same attention as low-priority ones</a:t>
            </a:r>
          </a:p>
          <a:p>
            <a:pPr>
              <a:spcAft>
                <a:spcPts val="600"/>
              </a:spcAft>
              <a:defRPr sz="1500">
                <a:solidFill>
                  <a:srgbClr val="000000"/>
                </a:solidFill>
                <a:latin typeface="Times New Roman"/>
              </a:defRPr>
              <a:buChar char="•"/>
            </a:pPr>
            <a:r>
              <a:t>Doctor availability windows are tracked informally, leading to missed visits</a:t>
            </a:r>
          </a:p>
          <a:p>
            <a:pPr>
              <a:spcAft>
                <a:spcPts val="600"/>
              </a:spcAft>
              <a:defRPr sz="1500">
                <a:solidFill>
                  <a:srgbClr val="000000"/>
                </a:solidFill>
                <a:latin typeface="Times New Roman"/>
              </a:defRPr>
              <a:buChar char="•"/>
            </a:pPr>
            <a:r>
              <a:t>MRs repeat familiar routes instead of choosing the shortest path</a:t>
            </a:r>
          </a:p>
          <a:p>
            <a:pPr>
              <a:spcAft>
                <a:spcPts val="600"/>
              </a:spcAft>
              <a:defRPr sz="1500">
                <a:solidFill>
                  <a:srgbClr val="000000"/>
                </a:solidFill>
                <a:latin typeface="Times New Roman"/>
              </a:defRPr>
              <a:buChar char="•"/>
            </a:pPr>
            <a:r>
              <a:t>Managers have almost no visibility into what is actually happening in the field</a:t>
            </a:r>
          </a:p>
        </p:txBody>
      </p:sp>
      <p:sp>
        <p:nvSpPr>
          <p:cNvPr id="9" name="TextBox 8"/>
          <p:cNvSpPr txBox="1"/>
          <p:nvPr/>
        </p:nvSpPr>
        <p:spPr>
          <a:xfrm>
            <a:off x="640080" y="4846320"/>
            <a:ext cx="10515600" cy="274320"/>
          </a:xfrm>
          <a:prstGeom prst="rect">
            <a:avLst/>
          </a:prstGeom>
          <a:noFill/>
        </p:spPr>
        <p:txBody>
          <a:bodyPr wrap="square">
            <a:spAutoFit/>
          </a:bodyPr>
          <a:lstStyle/>
          <a:p>
            <a:pPr algn="l">
              <a:defRPr sz="1600" b="1" i="0">
                <a:solidFill>
                  <a:srgbClr val="7030A0"/>
                </a:solidFill>
                <a:latin typeface="Times New Roman"/>
              </a:defRPr>
            </a:pPr>
            <a:r>
              <a:t>Problem Statement:</a:t>
            </a:r>
          </a:p>
        </p:txBody>
      </p:sp>
      <p:sp>
        <p:nvSpPr>
          <p:cNvPr id="10" name="TextBox 9"/>
          <p:cNvSpPr txBox="1"/>
          <p:nvPr/>
        </p:nvSpPr>
        <p:spPr>
          <a:xfrm>
            <a:off x="640080" y="5212080"/>
            <a:ext cx="10515600" cy="640080"/>
          </a:xfrm>
          <a:prstGeom prst="rect">
            <a:avLst/>
          </a:prstGeom>
          <a:noFill/>
        </p:spPr>
        <p:txBody>
          <a:bodyPr wrap="square">
            <a:spAutoFit/>
          </a:bodyPr>
          <a:lstStyle/>
          <a:p>
            <a:pPr algn="l">
              <a:defRPr sz="1600" b="0" i="0">
                <a:solidFill>
                  <a:srgbClr val="333333"/>
                </a:solidFill>
                <a:latin typeface="Times New Roman"/>
              </a:defRPr>
            </a:pPr>
            <a:r>
              <a:t>"How can AI and optimization techniques be used to automatically prioritize doctor visits and generate an efficient daily visit schedule for a Medical Representative?"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3</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Motivation</a:t>
            </a:r>
          </a:p>
        </p:txBody>
      </p:sp>
      <p:sp>
        <p:nvSpPr>
          <p:cNvPr id="6" name="TextBox 5"/>
          <p:cNvSpPr txBox="1"/>
          <p:nvPr/>
        </p:nvSpPr>
        <p:spPr>
          <a:xfrm>
            <a:off x="640080" y="1188720"/>
            <a:ext cx="10515600" cy="274320"/>
          </a:xfrm>
          <a:prstGeom prst="rect">
            <a:avLst/>
          </a:prstGeom>
          <a:noFill/>
        </p:spPr>
        <p:txBody>
          <a:bodyPr wrap="square">
            <a:spAutoFit/>
          </a:bodyPr>
          <a:lstStyle/>
          <a:p>
            <a:pPr algn="l">
              <a:defRPr sz="1600" b="1" i="0">
                <a:solidFill>
                  <a:srgbClr val="000000"/>
                </a:solidFill>
                <a:latin typeface="Times New Roman"/>
              </a:defRPr>
            </a:pPr>
            <a:r>
              <a:t>Consider a real scenario: one MR, ten doctors, one working day.</a:t>
            </a:r>
          </a:p>
        </p:txBody>
      </p:sp>
      <p:sp>
        <p:nvSpPr>
          <p:cNvPr id="7" name="TextBox 6"/>
          <p:cNvSpPr txBox="1"/>
          <p:nvPr/>
        </p:nvSpPr>
        <p:spPr>
          <a:xfrm>
            <a:off x="822960" y="1645920"/>
            <a:ext cx="10058400" cy="1828800"/>
          </a:xfrm>
          <a:prstGeom prst="rect">
            <a:avLst/>
          </a:prstGeom>
          <a:noFill/>
        </p:spPr>
        <p:txBody>
          <a:bodyPr wrap="square">
            <a:spAutoFit/>
          </a:bodyPr>
          <a:lstStyle/>
          <a:p>
            <a:pPr>
              <a:spcAft>
                <a:spcPts val="600"/>
              </a:spcAft>
              <a:defRPr sz="1500">
                <a:solidFill>
                  <a:srgbClr val="000000"/>
                </a:solidFill>
                <a:latin typeface="Times New Roman"/>
              </a:defRPr>
              <a:buChar char="•"/>
            </a:pPr>
            <a:r>
              <a:t>Doctor A and Doctor C have high prescription volume (high priority)</a:t>
            </a:r>
          </a:p>
          <a:p>
            <a:pPr>
              <a:spcAft>
                <a:spcPts val="600"/>
              </a:spcAft>
              <a:defRPr sz="1500">
                <a:solidFill>
                  <a:srgbClr val="000000"/>
                </a:solidFill>
                <a:latin typeface="Times New Roman"/>
              </a:defRPr>
              <a:buChar char="•"/>
            </a:pPr>
            <a:r>
              <a:t>Doctor D is only available after 4 PM</a:t>
            </a:r>
          </a:p>
          <a:p>
            <a:pPr>
              <a:spcAft>
                <a:spcPts val="600"/>
              </a:spcAft>
              <a:defRPr sz="1500">
                <a:solidFill>
                  <a:srgbClr val="000000"/>
                </a:solidFill>
                <a:latin typeface="Times New Roman"/>
              </a:defRPr>
              <a:buChar char="•"/>
            </a:pPr>
            <a:r>
              <a:t>Doctor E is 12 km away from the starting location</a:t>
            </a:r>
          </a:p>
          <a:p>
            <a:pPr>
              <a:spcAft>
                <a:spcPts val="600"/>
              </a:spcAft>
              <a:defRPr sz="1500">
                <a:solidFill>
                  <a:srgbClr val="000000"/>
                </a:solidFill>
                <a:latin typeface="Times New Roman"/>
              </a:defRPr>
              <a:buChar char="•"/>
            </a:pPr>
            <a:r>
              <a:t>Doctor F is barely 1 km from Doctor A</a:t>
            </a:r>
          </a:p>
          <a:p>
            <a:pPr>
              <a:spcAft>
                <a:spcPts val="600"/>
              </a:spcAft>
              <a:defRPr sz="1500">
                <a:solidFill>
                  <a:srgbClr val="000000"/>
                </a:solidFill>
                <a:latin typeface="Times New Roman"/>
              </a:defRPr>
              <a:buChar char="•"/>
            </a:pPr>
            <a:r>
              <a:t>Each visit takes 15 to 30 minutes depending on the doctor</a:t>
            </a:r>
          </a:p>
        </p:txBody>
      </p:sp>
      <p:sp>
        <p:nvSpPr>
          <p:cNvPr id="8" name="TextBox 7"/>
          <p:cNvSpPr txBox="1"/>
          <p:nvPr/>
        </p:nvSpPr>
        <p:spPr>
          <a:xfrm>
            <a:off x="640080" y="3474720"/>
            <a:ext cx="10515600" cy="640080"/>
          </a:xfrm>
          <a:prstGeom prst="rect">
            <a:avLst/>
          </a:prstGeom>
          <a:noFill/>
        </p:spPr>
        <p:txBody>
          <a:bodyPr wrap="square">
            <a:spAutoFit/>
          </a:bodyPr>
          <a:lstStyle/>
          <a:p>
            <a:pPr algn="l">
              <a:defRPr sz="1500" b="0" i="0">
                <a:solidFill>
                  <a:srgbClr val="333333"/>
                </a:solidFill>
                <a:latin typeface="Times New Roman"/>
              </a:defRPr>
            </a:pPr>
            <a:r>
              <a:t>A manual plan might handle one or two of these factors. But juggling priority, availability, distance, travel time, and visit duration at the same time? That is where a system is needed.</a:t>
            </a:r>
          </a:p>
        </p:txBody>
      </p:sp>
      <p:sp>
        <p:nvSpPr>
          <p:cNvPr id="9" name="TextBox 8"/>
          <p:cNvSpPr txBox="1"/>
          <p:nvPr/>
        </p:nvSpPr>
        <p:spPr>
          <a:xfrm>
            <a:off x="640080" y="4389120"/>
            <a:ext cx="10515600" cy="274320"/>
          </a:xfrm>
          <a:prstGeom prst="rect">
            <a:avLst/>
          </a:prstGeom>
          <a:noFill/>
        </p:spPr>
        <p:txBody>
          <a:bodyPr wrap="square">
            <a:spAutoFit/>
          </a:bodyPr>
          <a:lstStyle/>
          <a:p>
            <a:pPr algn="l">
              <a:defRPr sz="1600" b="1" i="0">
                <a:solidFill>
                  <a:srgbClr val="000000"/>
                </a:solidFill>
                <a:latin typeface="Times New Roman"/>
              </a:defRPr>
            </a:pPr>
            <a:r>
              <a:t>Our approach combines three things:</a:t>
            </a:r>
          </a:p>
        </p:txBody>
      </p:sp>
      <p:sp>
        <p:nvSpPr>
          <p:cNvPr id="10" name="TextBox 9"/>
          <p:cNvSpPr txBox="1"/>
          <p:nvPr/>
        </p:nvSpPr>
        <p:spPr>
          <a:xfrm>
            <a:off x="822960" y="4754880"/>
            <a:ext cx="10058400" cy="1371600"/>
          </a:xfrm>
          <a:prstGeom prst="rect">
            <a:avLst/>
          </a:prstGeom>
          <a:noFill/>
        </p:spPr>
        <p:txBody>
          <a:bodyPr wrap="square">
            <a:spAutoFit/>
          </a:bodyPr>
          <a:lstStyle/>
          <a:p>
            <a:pPr>
              <a:spcAft>
                <a:spcPts val="600"/>
              </a:spcAft>
              <a:defRPr sz="1500">
                <a:solidFill>
                  <a:srgbClr val="000000"/>
                </a:solidFill>
                <a:latin typeface="Times New Roman"/>
              </a:defRPr>
              <a:buChar char="•"/>
            </a:pPr>
            <a:r>
              <a:t>AI (Random Forest) for visit prioritization</a:t>
            </a:r>
          </a:p>
          <a:p>
            <a:pPr>
              <a:spcAft>
                <a:spcPts val="600"/>
              </a:spcAft>
              <a:defRPr sz="1500">
                <a:solidFill>
                  <a:srgbClr val="000000"/>
                </a:solidFill>
                <a:latin typeface="Times New Roman"/>
              </a:defRPr>
              <a:buChar char="•"/>
            </a:pPr>
            <a:r>
              <a:t>Appointment constraints for scheduling</a:t>
            </a:r>
          </a:p>
          <a:p>
            <a:pPr>
              <a:spcAft>
                <a:spcPts val="600"/>
              </a:spcAft>
              <a:defRPr sz="1500">
                <a:solidFill>
                  <a:srgbClr val="000000"/>
                </a:solidFill>
                <a:latin typeface="Times New Roman"/>
              </a:defRPr>
              <a:buChar char="•"/>
            </a:pPr>
            <a:r>
              <a:t>Google OR-Tools for route optimization</a:t>
            </a:r>
          </a:p>
        </p:txBody>
      </p:sp>
      <p:sp>
        <p:nvSpPr>
          <p:cNvPr id="11" name="TextBox 10"/>
          <p:cNvSpPr txBox="1"/>
          <p:nvPr/>
        </p:nvSpPr>
        <p:spPr>
          <a:xfrm>
            <a:off x="640080" y="5760720"/>
            <a:ext cx="10515600" cy="457200"/>
          </a:xfrm>
          <a:prstGeom prst="rect">
            <a:avLst/>
          </a:prstGeom>
          <a:noFill/>
        </p:spPr>
        <p:txBody>
          <a:bodyPr wrap="square">
            <a:spAutoFit/>
          </a:bodyPr>
          <a:lstStyle/>
          <a:p>
            <a:pPr algn="l">
              <a:defRPr sz="1300" b="0" i="0">
                <a:solidFill>
                  <a:srgbClr val="666666"/>
                </a:solidFill>
                <a:latin typeface="Times New Roman"/>
              </a:defRPr>
            </a:pPr>
            <a:r>
              <a:t>Published research (Zhang et al. 2014, Yi et al. 2003) confirms pharmaceutical sales-force scheduling is a genuine optimization problem with measurable efficiency gains when automated.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4</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Aim and Objectives</a:t>
            </a:r>
          </a:p>
        </p:txBody>
      </p:sp>
      <p:sp>
        <p:nvSpPr>
          <p:cNvPr id="6" name="TextBox 5"/>
          <p:cNvSpPr txBox="1"/>
          <p:nvPr/>
        </p:nvSpPr>
        <p:spPr>
          <a:xfrm>
            <a:off x="640080" y="1188720"/>
            <a:ext cx="10515600" cy="274320"/>
          </a:xfrm>
          <a:prstGeom prst="rect">
            <a:avLst/>
          </a:prstGeom>
          <a:noFill/>
        </p:spPr>
        <p:txBody>
          <a:bodyPr wrap="square">
            <a:spAutoFit/>
          </a:bodyPr>
          <a:lstStyle/>
          <a:p>
            <a:pPr algn="l">
              <a:defRPr sz="1800" b="1" i="0">
                <a:solidFill>
                  <a:srgbClr val="7030A0"/>
                </a:solidFill>
                <a:latin typeface="Times New Roman"/>
              </a:defRPr>
            </a:pPr>
            <a:r>
              <a:t>Aim:</a:t>
            </a:r>
          </a:p>
        </p:txBody>
      </p:sp>
      <p:sp>
        <p:nvSpPr>
          <p:cNvPr id="7" name="TextBox 6"/>
          <p:cNvSpPr txBox="1"/>
          <p:nvPr/>
        </p:nvSpPr>
        <p:spPr>
          <a:xfrm>
            <a:off x="640080" y="1554480"/>
            <a:ext cx="10515600" cy="640080"/>
          </a:xfrm>
          <a:prstGeom prst="rect">
            <a:avLst/>
          </a:prstGeom>
          <a:noFill/>
        </p:spPr>
        <p:txBody>
          <a:bodyPr wrap="square">
            <a:spAutoFit/>
          </a:bodyPr>
          <a:lstStyle/>
          <a:p>
            <a:pPr algn="l">
              <a:defRPr sz="1600" b="0" i="0">
                <a:solidFill>
                  <a:srgbClr val="333333"/>
                </a:solidFill>
                <a:latin typeface="Times New Roman"/>
              </a:defRPr>
            </a:pPr>
            <a:r>
              <a:t>To develop an AI-assisted web application that prioritizes Medical Representative doctor visits and generates optimized daily visit routes while considering appointment availability, visit duration, and travel constraints.</a:t>
            </a:r>
          </a:p>
        </p:txBody>
      </p:sp>
      <p:sp>
        <p:nvSpPr>
          <p:cNvPr id="8" name="TextBox 7"/>
          <p:cNvSpPr txBox="1"/>
          <p:nvPr/>
        </p:nvSpPr>
        <p:spPr>
          <a:xfrm>
            <a:off x="640080" y="2468880"/>
            <a:ext cx="10515600" cy="274320"/>
          </a:xfrm>
          <a:prstGeom prst="rect">
            <a:avLst/>
          </a:prstGeom>
          <a:noFill/>
        </p:spPr>
        <p:txBody>
          <a:bodyPr wrap="square">
            <a:spAutoFit/>
          </a:bodyPr>
          <a:lstStyle/>
          <a:p>
            <a:pPr algn="l">
              <a:defRPr sz="1800" b="1" i="0">
                <a:solidFill>
                  <a:srgbClr val="7030A0"/>
                </a:solidFill>
                <a:latin typeface="Times New Roman"/>
              </a:defRPr>
            </a:pPr>
            <a:r>
              <a:t>Objectives:</a:t>
            </a:r>
          </a:p>
        </p:txBody>
      </p:sp>
      <p:sp>
        <p:nvSpPr>
          <p:cNvPr id="9" name="TextBox 8"/>
          <p:cNvSpPr txBox="1"/>
          <p:nvPr/>
        </p:nvSpPr>
        <p:spPr>
          <a:xfrm>
            <a:off x="822960" y="2834640"/>
            <a:ext cx="10332720" cy="2560320"/>
          </a:xfrm>
          <a:prstGeom prst="rect">
            <a:avLst/>
          </a:prstGeom>
          <a:noFill/>
        </p:spPr>
        <p:txBody>
          <a:bodyPr wrap="square">
            <a:spAutoFit/>
          </a:bodyPr>
          <a:lstStyle/>
          <a:p>
            <a:pPr>
              <a:spcAft>
                <a:spcPts val="1000"/>
              </a:spcAft>
              <a:defRPr sz="1500">
                <a:solidFill>
                  <a:srgbClr val="000000"/>
                </a:solidFill>
                <a:latin typeface="Times New Roman"/>
              </a:defRPr>
              <a:buChar char="•"/>
            </a:pPr>
            <a:r>
              <a:t>Manage doctor profiles, MR information, appointment records, and visit history in a centralized database</a:t>
            </a:r>
          </a:p>
          <a:p>
            <a:pPr>
              <a:spcAft>
                <a:spcPts val="1000"/>
              </a:spcAft>
              <a:defRPr sz="1500">
                <a:solidFill>
                  <a:srgbClr val="000000"/>
                </a:solidFill>
                <a:latin typeface="Times New Roman"/>
              </a:defRPr>
              <a:buChar char="•"/>
            </a:pPr>
            <a:r>
              <a:t>Develop a Random Forest model that predicts a visit-priority score for each planned doctor visit</a:t>
            </a:r>
          </a:p>
          <a:p>
            <a:pPr>
              <a:spcAft>
                <a:spcPts val="1000"/>
              </a:spcAft>
              <a:defRPr sz="1500">
                <a:solidFill>
                  <a:srgbClr val="000000"/>
                </a:solidFill>
                <a:latin typeface="Times New Roman"/>
              </a:defRPr>
              <a:buChar char="•"/>
            </a:pPr>
            <a:r>
              <a:t>Use Google OR-Tools to solve a Vehicle Routing Problem with Time Windows (VRPTW) and generate an optimized daily visit sequence</a:t>
            </a:r>
          </a:p>
          <a:p>
            <a:pPr>
              <a:spcAft>
                <a:spcPts val="1000"/>
              </a:spcAft>
              <a:defRPr sz="1500">
                <a:solidFill>
                  <a:srgbClr val="000000"/>
                </a:solidFill>
                <a:latin typeface="Times New Roman"/>
              </a:defRPr>
              <a:buChar char="•"/>
            </a:pPr>
            <a:r>
              <a:t>Provide role-based dashboards: MRs see their optimized daily plan, managers see team-wide analytics</a:t>
            </a:r>
          </a:p>
          <a:p>
            <a:pPr>
              <a:spcAft>
                <a:spcPts val="1000"/>
              </a:spcAft>
              <a:defRPr sz="1500">
                <a:solidFill>
                  <a:srgbClr val="000000"/>
                </a:solidFill>
                <a:latin typeface="Times New Roman"/>
              </a:defRPr>
              <a:buChar char="•"/>
            </a:pPr>
            <a:r>
              <a:t>Evaluate the system using ML metrics (precision, recall, F1), route metrics (distance, time, visits), and application metrics (API speed, usability)</a:t>
            </a:r>
          </a:p>
        </p:txBody>
      </p:sp>
      <p:sp>
        <p:nvSpPr>
          <p:cNvPr id="10" name="TextBox 9"/>
          <p:cNvSpPr txBox="1"/>
          <p:nvPr/>
        </p:nvSpPr>
        <p:spPr>
          <a:xfrm>
            <a:off x="640080" y="5303520"/>
            <a:ext cx="10515600" cy="365760"/>
          </a:xfrm>
          <a:prstGeom prst="rect">
            <a:avLst/>
          </a:prstGeom>
          <a:noFill/>
        </p:spPr>
        <p:txBody>
          <a:bodyPr wrap="square">
            <a:spAutoFit/>
          </a:bodyPr>
          <a:lstStyle/>
          <a:p>
            <a:pPr algn="l">
              <a:defRPr sz="1400" b="0" i="0">
                <a:solidFill>
                  <a:srgbClr val="666666"/>
                </a:solidFill>
                <a:latin typeface="Times New Roman"/>
              </a:defRPr>
            </a:pPr>
            <a:r>
              <a:t>Note: Our AI focuses strictly on visit prioritization and route planning. It does not diagnose patients, predict treatments, or replace the MR's judgment.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5</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Literature Review</a:t>
            </a:r>
          </a:p>
        </p:txBody>
      </p:sp>
      <p:graphicFrame>
        <p:nvGraphicFramePr>
          <p:cNvPr id="6" name="Table 5"/>
          <p:cNvGraphicFramePr>
            <a:graphicFrameLocks noGrp="1"/>
          </p:cNvGraphicFramePr>
          <p:nvPr/>
        </p:nvGraphicFramePr>
        <p:xfrm>
          <a:off x="274320" y="1005840"/>
          <a:ext cx="11612880" cy="4572000"/>
        </p:xfrm>
        <a:graphic>
          <a:graphicData uri="http://schemas.openxmlformats.org/drawingml/2006/table">
            <a:tbl>
              <a:tblPr firstRow="1" bandRow="1">
                <a:tableStyleId>{5C22544A-7EE6-4342-B048-85BDC9FD1C3A}</a:tableStyleId>
              </a:tblPr>
              <a:tblGrid>
                <a:gridCol w="2286000"/>
                <a:gridCol w="731520"/>
                <a:gridCol w="4297680"/>
                <a:gridCol w="4297680"/>
              </a:tblGrid>
              <a:tr h="762000">
                <a:tc>
                  <a:txBody>
                    <a:bodyPr/>
                    <a:lstStyle/>
                    <a:p>
                      <a:pPr>
                        <a:defRPr sz="1200" b="1">
                          <a:solidFill>
                            <a:srgbClr val="000000"/>
                          </a:solidFill>
                          <a:latin typeface="Times New Roman"/>
                        </a:defRPr>
                      </a:pPr>
                      <a:r>
                        <a:t>Research Paper</a:t>
                      </a:r>
                    </a:p>
                  </a:txBody>
                  <a:tcPr>
                    <a:solidFill>
                      <a:srgbClr val="E8E0F0"/>
                    </a:solidFill>
                  </a:tcPr>
                </a:tc>
                <a:tc>
                  <a:txBody>
                    <a:bodyPr/>
                    <a:lstStyle/>
                    <a:p>
                      <a:pPr>
                        <a:defRPr sz="1200" b="1">
                          <a:solidFill>
                            <a:srgbClr val="000000"/>
                          </a:solidFill>
                          <a:latin typeface="Times New Roman"/>
                        </a:defRPr>
                      </a:pPr>
                      <a:r>
                        <a:t>Year</a:t>
                      </a:r>
                    </a:p>
                  </a:txBody>
                  <a:tcPr>
                    <a:solidFill>
                      <a:srgbClr val="E8E0F0"/>
                    </a:solidFill>
                  </a:tcPr>
                </a:tc>
                <a:tc>
                  <a:txBody>
                    <a:bodyPr/>
                    <a:lstStyle/>
                    <a:p>
                      <a:pPr>
                        <a:defRPr sz="1200" b="1">
                          <a:solidFill>
                            <a:srgbClr val="000000"/>
                          </a:solidFill>
                          <a:latin typeface="Times New Roman"/>
                        </a:defRPr>
                      </a:pPr>
                      <a:r>
                        <a:t>Key Point Handled / Proposed</a:t>
                      </a:r>
                    </a:p>
                  </a:txBody>
                  <a:tcPr>
                    <a:solidFill>
                      <a:srgbClr val="E8E0F0"/>
                    </a:solidFill>
                  </a:tcPr>
                </a:tc>
                <a:tc>
                  <a:txBody>
                    <a:bodyPr/>
                    <a:lstStyle/>
                    <a:p>
                      <a:pPr>
                        <a:defRPr sz="1200" b="1">
                          <a:solidFill>
                            <a:srgbClr val="000000"/>
                          </a:solidFill>
                          <a:latin typeface="Times New Roman"/>
                        </a:defRPr>
                      </a:pPr>
                      <a:r>
                        <a:t>Improvements Suggested</a:t>
                      </a:r>
                    </a:p>
                  </a:txBody>
                  <a:tcPr>
                    <a:solidFill>
                      <a:srgbClr val="E8E0F0"/>
                    </a:solidFill>
                  </a:tcPr>
                </a:tc>
              </a:tr>
              <a:tr h="762000">
                <a:tc>
                  <a:txBody>
                    <a:bodyPr/>
                    <a:lstStyle/>
                    <a:p>
                      <a:pPr>
                        <a:defRPr sz="1100">
                          <a:solidFill>
                            <a:srgbClr val="333333"/>
                          </a:solidFill>
                          <a:latin typeface="Times New Roman"/>
                        </a:defRPr>
                      </a:pPr>
                      <a:r>
                        <a:t>Zhang, Ohlmann &amp; Thomas</a:t>
                      </a:r>
                    </a:p>
                    <a:p>
                      <a:pPr>
                        <a:defRPr sz="1100">
                          <a:solidFill>
                            <a:srgbClr val="333333"/>
                          </a:solidFill>
                          <a:latin typeface="Times New Roman"/>
                        </a:defRPr>
                      </a:pPr>
                      <a:r>
                        <a:t>(European J. of OR)</a:t>
                      </a:r>
                    </a:p>
                  </a:txBody>
                  <a:tcPr>
                    <a:solidFill>
                      <a:srgbClr val="FFFFFF"/>
                    </a:solidFill>
                  </a:tcPr>
                </a:tc>
                <a:tc>
                  <a:txBody>
                    <a:bodyPr/>
                    <a:lstStyle/>
                    <a:p>
                      <a:pPr>
                        <a:defRPr sz="1100">
                          <a:solidFill>
                            <a:srgbClr val="333333"/>
                          </a:solidFill>
                          <a:latin typeface="Times New Roman"/>
                        </a:defRPr>
                      </a:pPr>
                      <a:r>
                        <a:t>2014</a:t>
                      </a:r>
                    </a:p>
                  </a:txBody>
                  <a:tcPr>
                    <a:solidFill>
                      <a:srgbClr val="FFFFFF"/>
                    </a:solidFill>
                  </a:tcPr>
                </a:tc>
                <a:tc>
                  <a:txBody>
                    <a:bodyPr/>
                    <a:lstStyle/>
                    <a:p>
                      <a:pPr>
                        <a:defRPr sz="1100">
                          <a:solidFill>
                            <a:srgbClr val="333333"/>
                          </a:solidFill>
                          <a:latin typeface="Times New Roman"/>
                        </a:defRPr>
                      </a:pPr>
                      <a:r>
                        <a:t>Models a pharma rep's daily visits as a stochastic orienteering problem with time windows.</a:t>
                      </a:r>
                    </a:p>
                  </a:txBody>
                  <a:tcPr>
                    <a:solidFill>
                      <a:srgbClr val="FFFFFF"/>
                    </a:solidFill>
                  </a:tcPr>
                </a:tc>
                <a:tc>
                  <a:txBody>
                    <a:bodyPr/>
                    <a:lstStyle/>
                    <a:p>
                      <a:pPr>
                        <a:defRPr sz="1100">
                          <a:solidFill>
                            <a:srgbClr val="333333"/>
                          </a:solidFill>
                          <a:latin typeface="Times New Roman"/>
                        </a:defRPr>
                      </a:pPr>
                      <a:r>
                        <a:t>Strong optimization but no ML-based priority prediction or web dashboard.</a:t>
                      </a:r>
                    </a:p>
                  </a:txBody>
                  <a:tcPr>
                    <a:solidFill>
                      <a:srgbClr val="FFFFFF"/>
                    </a:solidFill>
                  </a:tcPr>
                </a:tc>
              </a:tr>
              <a:tr h="762000">
                <a:tc>
                  <a:txBody>
                    <a:bodyPr/>
                    <a:lstStyle/>
                    <a:p>
                      <a:pPr>
                        <a:defRPr sz="1100">
                          <a:solidFill>
                            <a:srgbClr val="333333"/>
                          </a:solidFill>
                          <a:latin typeface="Times New Roman"/>
                        </a:defRPr>
                      </a:pPr>
                      <a:r>
                        <a:t>Bouatouche &amp; Belkadi</a:t>
                      </a:r>
                    </a:p>
                  </a:txBody>
                  <a:tcPr>
                    <a:solidFill>
                      <a:srgbClr val="FFFFFF"/>
                    </a:solidFill>
                  </a:tcPr>
                </a:tc>
                <a:tc>
                  <a:txBody>
                    <a:bodyPr/>
                    <a:lstStyle/>
                    <a:p>
                      <a:pPr>
                        <a:defRPr sz="1100">
                          <a:solidFill>
                            <a:srgbClr val="333333"/>
                          </a:solidFill>
                          <a:latin typeface="Times New Roman"/>
                        </a:defRPr>
                      </a:pPr>
                      <a:r>
                        <a:t>2025</a:t>
                      </a:r>
                    </a:p>
                  </a:txBody>
                  <a:tcPr>
                    <a:solidFill>
                      <a:srgbClr val="FFFFFF"/>
                    </a:solidFill>
                  </a:tcPr>
                </a:tc>
                <a:tc>
                  <a:txBody>
                    <a:bodyPr/>
                    <a:lstStyle/>
                    <a:p>
                      <a:pPr>
                        <a:defRPr sz="1100">
                          <a:solidFill>
                            <a:srgbClr val="333333"/>
                          </a:solidFill>
                          <a:latin typeface="Times New Roman"/>
                        </a:defRPr>
                      </a:pPr>
                      <a:r>
                        <a:t>Hybrid Firefly + Local Search for sales-rep route planning with coordinates and time windows.</a:t>
                      </a:r>
                    </a:p>
                  </a:txBody>
                  <a:tcPr>
                    <a:solidFill>
                      <a:srgbClr val="FFFFFF"/>
                    </a:solidFill>
                  </a:tcPr>
                </a:tc>
                <a:tc>
                  <a:txBody>
                    <a:bodyPr/>
                    <a:lstStyle/>
                    <a:p>
                      <a:pPr>
                        <a:defRPr sz="1100">
                          <a:solidFill>
                            <a:srgbClr val="333333"/>
                          </a:solidFill>
                          <a:latin typeface="Times New Roman"/>
                        </a:defRPr>
                      </a:pPr>
                      <a:r>
                        <a:t>Algorithm/benchmark only. No priority scoring, no end-user application.</a:t>
                      </a:r>
                    </a:p>
                  </a:txBody>
                  <a:tcPr>
                    <a:solidFill>
                      <a:srgbClr val="FFFFFF"/>
                    </a:solidFill>
                  </a:tcPr>
                </a:tc>
              </a:tr>
              <a:tr h="762000">
                <a:tc>
                  <a:txBody>
                    <a:bodyPr/>
                    <a:lstStyle/>
                    <a:p>
                      <a:pPr>
                        <a:defRPr sz="1100">
                          <a:solidFill>
                            <a:srgbClr val="333333"/>
                          </a:solidFill>
                          <a:latin typeface="Times New Roman"/>
                        </a:defRPr>
                      </a:pPr>
                      <a:r>
                        <a:t>Liu, Chen, Por &amp; Ku</a:t>
                      </a:r>
                    </a:p>
                    <a:p>
                      <a:pPr>
                        <a:defRPr sz="1100">
                          <a:solidFill>
                            <a:srgbClr val="333333"/>
                          </a:solidFill>
                          <a:latin typeface="Times New Roman"/>
                        </a:defRPr>
                      </a:pPr>
                      <a:r>
                        <a:t>(Sustainability)</a:t>
                      </a:r>
                    </a:p>
                  </a:txBody>
                  <a:tcPr>
                    <a:solidFill>
                      <a:srgbClr val="FFFFFF"/>
                    </a:solidFill>
                  </a:tcPr>
                </a:tc>
                <a:tc>
                  <a:txBody>
                    <a:bodyPr/>
                    <a:lstStyle/>
                    <a:p>
                      <a:pPr>
                        <a:defRPr sz="1100">
                          <a:solidFill>
                            <a:srgbClr val="333333"/>
                          </a:solidFill>
                          <a:latin typeface="Times New Roman"/>
                        </a:defRPr>
                      </a:pPr>
                      <a:r>
                        <a:t>2023</a:t>
                      </a:r>
                    </a:p>
                  </a:txBody>
                  <a:tcPr>
                    <a:solidFill>
                      <a:srgbClr val="FFFFFF"/>
                    </a:solidFill>
                  </a:tcPr>
                </a:tc>
                <a:tc>
                  <a:txBody>
                    <a:bodyPr/>
                    <a:lstStyle/>
                    <a:p>
                      <a:pPr>
                        <a:defRPr sz="1100">
                          <a:solidFill>
                            <a:srgbClr val="333333"/>
                          </a:solidFill>
                          <a:latin typeface="Times New Roman"/>
                        </a:defRPr>
                      </a:pPr>
                      <a:r>
                        <a:t>Systematic review of 64 VRPTW studies. Most use metaheuristic methods.</a:t>
                      </a:r>
                    </a:p>
                  </a:txBody>
                  <a:tcPr>
                    <a:solidFill>
                      <a:srgbClr val="FFFFFF"/>
                    </a:solidFill>
                  </a:tcPr>
                </a:tc>
                <a:tc>
                  <a:txBody>
                    <a:bodyPr/>
                    <a:lstStyle/>
                    <a:p>
                      <a:pPr>
                        <a:defRPr sz="1100">
                          <a:solidFill>
                            <a:srgbClr val="333333"/>
                          </a:solidFill>
                          <a:latin typeface="Times New Roman"/>
                        </a:defRPr>
                      </a:pPr>
                      <a:r>
                        <a:t>General logistics domain. Not adapted for pharma MR constraints.</a:t>
                      </a:r>
                    </a:p>
                  </a:txBody>
                  <a:tcPr>
                    <a:solidFill>
                      <a:srgbClr val="FFFFFF"/>
                    </a:solidFill>
                  </a:tcPr>
                </a:tc>
              </a:tr>
              <a:tr h="762000">
                <a:tc>
                  <a:txBody>
                    <a:bodyPr/>
                    <a:lstStyle/>
                    <a:p>
                      <a:pPr>
                        <a:defRPr sz="1100">
                          <a:solidFill>
                            <a:srgbClr val="333333"/>
                          </a:solidFill>
                          <a:latin typeface="Times New Roman"/>
                        </a:defRPr>
                      </a:pPr>
                      <a:r>
                        <a:t>Ala &amp; Chen</a:t>
                      </a:r>
                    </a:p>
                  </a:txBody>
                  <a:tcPr>
                    <a:solidFill>
                      <a:srgbClr val="FFFFFF"/>
                    </a:solidFill>
                  </a:tcPr>
                </a:tc>
                <a:tc>
                  <a:txBody>
                    <a:bodyPr/>
                    <a:lstStyle/>
                    <a:p>
                      <a:pPr>
                        <a:defRPr sz="1100">
                          <a:solidFill>
                            <a:srgbClr val="333333"/>
                          </a:solidFill>
                          <a:latin typeface="Times New Roman"/>
                        </a:defRPr>
                      </a:pPr>
                      <a:r>
                        <a:t>2022</a:t>
                      </a:r>
                    </a:p>
                  </a:txBody>
                  <a:tcPr>
                    <a:solidFill>
                      <a:srgbClr val="FFFFFF"/>
                    </a:solidFill>
                  </a:tcPr>
                </a:tc>
                <a:tc>
                  <a:txBody>
                    <a:bodyPr/>
                    <a:lstStyle/>
                    <a:p>
                      <a:pPr>
                        <a:defRPr sz="1100">
                          <a:solidFill>
                            <a:srgbClr val="333333"/>
                          </a:solidFill>
                          <a:latin typeface="Times New Roman"/>
                        </a:defRPr>
                      </a:pPr>
                      <a:r>
                        <a:t>Review of 150+ healthcare appointment scheduling papers including AI methods.</a:t>
                      </a:r>
                    </a:p>
                  </a:txBody>
                  <a:tcPr>
                    <a:solidFill>
                      <a:srgbClr val="FFFFFF"/>
                    </a:solidFill>
                  </a:tcPr>
                </a:tc>
                <a:tc>
                  <a:txBody>
                    <a:bodyPr/>
                    <a:lstStyle/>
                    <a:p>
                      <a:pPr>
                        <a:defRPr sz="1100">
                          <a:solidFill>
                            <a:srgbClr val="333333"/>
                          </a:solidFill>
                          <a:latin typeface="Times New Roman"/>
                        </a:defRPr>
                      </a:pPr>
                      <a:r>
                        <a:t>Focuses on patient scheduling, not pharmaceutical field-force routing.</a:t>
                      </a:r>
                    </a:p>
                  </a:txBody>
                  <a:tcPr>
                    <a:solidFill>
                      <a:srgbClr val="FFFFFF"/>
                    </a:solidFill>
                  </a:tcPr>
                </a:tc>
              </a:tr>
              <a:tr h="762000">
                <a:tc>
                  <a:txBody>
                    <a:bodyPr/>
                    <a:lstStyle/>
                    <a:p>
                      <a:pPr>
                        <a:defRPr sz="1100">
                          <a:solidFill>
                            <a:srgbClr val="333333"/>
                          </a:solidFill>
                          <a:latin typeface="Times New Roman"/>
                        </a:defRPr>
                      </a:pPr>
                      <a:r>
                        <a:t>Yi, Anandalingam &amp; Sorrell</a:t>
                      </a:r>
                    </a:p>
                    <a:p>
                      <a:pPr>
                        <a:defRPr sz="1100">
                          <a:solidFill>
                            <a:srgbClr val="333333"/>
                          </a:solidFill>
                          <a:latin typeface="Times New Roman"/>
                        </a:defRPr>
                      </a:pPr>
                      <a:r>
                        <a:t>(Expert Systems)</a:t>
                      </a:r>
                    </a:p>
                  </a:txBody>
                  <a:tcPr>
                    <a:solidFill>
                      <a:srgbClr val="FFFFFF"/>
                    </a:solidFill>
                  </a:tcPr>
                </a:tc>
                <a:tc>
                  <a:txBody>
                    <a:bodyPr/>
                    <a:lstStyle/>
                    <a:p>
                      <a:pPr>
                        <a:defRPr sz="1100">
                          <a:solidFill>
                            <a:srgbClr val="333333"/>
                          </a:solidFill>
                          <a:latin typeface="Times New Roman"/>
                        </a:defRPr>
                      </a:pPr>
                      <a:r>
                        <a:t>2003</a:t>
                      </a:r>
                    </a:p>
                  </a:txBody>
                  <a:tcPr>
                    <a:solidFill>
                      <a:srgbClr val="FFFFFF"/>
                    </a:solidFill>
                  </a:tcPr>
                </a:tc>
                <a:tc>
                  <a:txBody>
                    <a:bodyPr/>
                    <a:lstStyle/>
                    <a:p>
                      <a:pPr>
                        <a:defRPr sz="1100">
                          <a:solidFill>
                            <a:srgbClr val="333333"/>
                          </a:solidFill>
                          <a:latin typeface="Times New Roman"/>
                        </a:defRPr>
                      </a:pPr>
                      <a:r>
                        <a:t>Expert system for physician-detailing planning in pharma sales optimization.</a:t>
                      </a:r>
                    </a:p>
                  </a:txBody>
                  <a:tcPr>
                    <a:solidFill>
                      <a:srgbClr val="FFFFFF"/>
                    </a:solidFill>
                  </a:tcPr>
                </a:tc>
                <a:tc>
                  <a:txBody>
                    <a:bodyPr/>
                    <a:lstStyle/>
                    <a:p>
                      <a:pPr>
                        <a:defRPr sz="1100">
                          <a:solidFill>
                            <a:srgbClr val="333333"/>
                          </a:solidFill>
                          <a:latin typeface="Times New Roman"/>
                        </a:defRPr>
                      </a:pPr>
                      <a:r>
                        <a:t>Addresses sales effectiveness, not geographic route optimization.</a:t>
                      </a:r>
                    </a:p>
                  </a:txBody>
                  <a:tcPr>
                    <a:solidFill>
                      <a:srgbClr val="FFFFFF"/>
                    </a:solidFill>
                  </a:tcPr>
                </a:tc>
              </a:tr>
            </a:tbl>
          </a:graphicData>
        </a:graphic>
      </p:graphicFrame>
      <p:sp>
        <p:nvSpPr>
          <p:cNvPr id="7" name="TextBox 6"/>
          <p:cNvSpPr txBox="1"/>
          <p:nvPr/>
        </p:nvSpPr>
        <p:spPr>
          <a:xfrm>
            <a:off x="457200" y="5760720"/>
            <a:ext cx="10972800" cy="365760"/>
          </a:xfrm>
          <a:prstGeom prst="rect">
            <a:avLst/>
          </a:prstGeom>
          <a:noFill/>
        </p:spPr>
        <p:txBody>
          <a:bodyPr wrap="square">
            <a:spAutoFit/>
          </a:bodyPr>
          <a:lstStyle/>
          <a:p>
            <a:pPr algn="l">
              <a:defRPr sz="1400" b="1" i="0">
                <a:solidFill>
                  <a:srgbClr val="7030A0"/>
                </a:solidFill>
                <a:latin typeface="Times New Roman"/>
              </a:defRPr>
            </a:pPr>
            <a:r>
              <a:t>Key gap: existing work isolates ML prediction, routing, or CRM visibility. Nobody integrates all three into one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6</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Abstract / System Overview</a:t>
            </a:r>
          </a:p>
        </p:txBody>
      </p:sp>
      <p:sp>
        <p:nvSpPr>
          <p:cNvPr id="6" name="TextBox 5"/>
          <p:cNvSpPr txBox="1"/>
          <p:nvPr/>
        </p:nvSpPr>
        <p:spPr>
          <a:xfrm>
            <a:off x="640080" y="1097280"/>
            <a:ext cx="10515600" cy="914400"/>
          </a:xfrm>
          <a:prstGeom prst="rect">
            <a:avLst/>
          </a:prstGeom>
          <a:noFill/>
        </p:spPr>
        <p:txBody>
          <a:bodyPr wrap="square">
            <a:spAutoFit/>
          </a:bodyPr>
          <a:lstStyle/>
          <a:p>
            <a:pPr algn="l">
              <a:defRPr sz="1500" b="0" i="0">
                <a:solidFill>
                  <a:srgbClr val="333333"/>
                </a:solidFill>
                <a:latin typeface="Times New Roman"/>
              </a:defRPr>
            </a:pPr>
            <a:r>
              <a:t>Our system takes historical doctor and visit data, predicts which visits matter most using a Random Forest model, then feeds those priorities along with appointment constraints into Google OR-Tools. The optimizer solves a Vehicle Routing Problem with Time Windows and produces an efficient daily route. The MR sees the plan on a dashboard; the manager sees team-wide performance.</a:t>
            </a:r>
          </a:p>
        </p:txBody>
      </p:sp>
      <p:sp>
        <p:nvSpPr>
          <p:cNvPr id="7" name="TextBox 6"/>
          <p:cNvSpPr txBox="1"/>
          <p:nvPr/>
        </p:nvSpPr>
        <p:spPr>
          <a:xfrm>
            <a:off x="640080" y="2286000"/>
            <a:ext cx="10515600" cy="274320"/>
          </a:xfrm>
          <a:prstGeom prst="rect">
            <a:avLst/>
          </a:prstGeom>
          <a:noFill/>
        </p:spPr>
        <p:txBody>
          <a:bodyPr wrap="square">
            <a:spAutoFit/>
          </a:bodyPr>
          <a:lstStyle/>
          <a:p>
            <a:pPr algn="l">
              <a:defRPr sz="1600" b="1" i="0">
                <a:solidFill>
                  <a:srgbClr val="000000"/>
                </a:solidFill>
                <a:latin typeface="Times New Roman"/>
              </a:defRPr>
            </a:pPr>
            <a:r>
              <a:t>Complete Pipeline:</a:t>
            </a:r>
          </a:p>
        </p:txBody>
      </p:sp>
      <p:sp>
        <p:nvSpPr>
          <p:cNvPr id="8" name="TextBox 7"/>
          <p:cNvSpPr txBox="1"/>
          <p:nvPr/>
        </p:nvSpPr>
        <p:spPr>
          <a:xfrm>
            <a:off x="640080" y="2651760"/>
            <a:ext cx="10515600" cy="365760"/>
          </a:xfrm>
          <a:prstGeom prst="rect">
            <a:avLst/>
          </a:prstGeom>
          <a:noFill/>
        </p:spPr>
        <p:txBody>
          <a:bodyPr wrap="square">
            <a:spAutoFit/>
          </a:bodyPr>
          <a:lstStyle/>
          <a:p>
            <a:pPr algn="l">
              <a:defRPr sz="1400" b="0" i="0">
                <a:solidFill>
                  <a:srgbClr val="333333"/>
                </a:solidFill>
                <a:latin typeface="Times New Roman"/>
              </a:defRPr>
            </a:pPr>
            <a:r>
              <a:t>Historical Data  &gt;  Preprocessing  &gt;  Feature Engineering  &gt;  ML Priority Prediction  &gt;  Priority Scores  &gt;  Constraint Application  &gt;  OR-Tools Route Optimization  &gt;  Daily Visit Plan on Dashboard</a:t>
            </a:r>
          </a:p>
        </p:txBody>
      </p:sp>
      <p:sp>
        <p:nvSpPr>
          <p:cNvPr id="9" name="TextBox 8"/>
          <p:cNvSpPr txBox="1"/>
          <p:nvPr/>
        </p:nvSpPr>
        <p:spPr>
          <a:xfrm>
            <a:off x="640080" y="3383280"/>
            <a:ext cx="10515600" cy="274320"/>
          </a:xfrm>
          <a:prstGeom prst="rect">
            <a:avLst/>
          </a:prstGeom>
          <a:noFill/>
        </p:spPr>
        <p:txBody>
          <a:bodyPr wrap="square">
            <a:spAutoFit/>
          </a:bodyPr>
          <a:lstStyle/>
          <a:p>
            <a:pPr algn="l">
              <a:defRPr sz="1600" b="1" i="0">
                <a:solidFill>
                  <a:srgbClr val="000000"/>
                </a:solidFill>
                <a:latin typeface="Times New Roman"/>
              </a:defRPr>
            </a:pPr>
            <a:r>
              <a:t>How the three layers connect:</a:t>
            </a:r>
          </a:p>
        </p:txBody>
      </p:sp>
      <p:graphicFrame>
        <p:nvGraphicFramePr>
          <p:cNvPr id="10" name="Table 9"/>
          <p:cNvGraphicFramePr>
            <a:graphicFrameLocks noGrp="1"/>
          </p:cNvGraphicFramePr>
          <p:nvPr/>
        </p:nvGraphicFramePr>
        <p:xfrm>
          <a:off x="457200" y="3749039"/>
          <a:ext cx="11247120" cy="1828800"/>
        </p:xfrm>
        <a:graphic>
          <a:graphicData uri="http://schemas.openxmlformats.org/drawingml/2006/table">
            <a:tbl>
              <a:tblPr firstRow="1" bandRow="1">
                <a:tableStyleId>{5C22544A-7EE6-4342-B048-85BDC9FD1C3A}</a:tableStyleId>
              </a:tblPr>
              <a:tblGrid>
                <a:gridCol w="2011680"/>
                <a:gridCol w="5029200"/>
                <a:gridCol w="4206240"/>
              </a:tblGrid>
              <a:tr h="457200">
                <a:tc>
                  <a:txBody>
                    <a:bodyPr/>
                    <a:lstStyle/>
                    <a:p>
                      <a:pPr>
                        <a:defRPr sz="1200" b="1">
                          <a:solidFill>
                            <a:srgbClr val="000000"/>
                          </a:solidFill>
                          <a:latin typeface="Times New Roman"/>
                        </a:defRPr>
                      </a:pPr>
                      <a:r>
                        <a:t>Layer</a:t>
                      </a:r>
                    </a:p>
                  </a:txBody>
                  <a:tcPr>
                    <a:solidFill>
                      <a:srgbClr val="E8E0F0"/>
                    </a:solidFill>
                  </a:tcPr>
                </a:tc>
                <a:tc>
                  <a:txBody>
                    <a:bodyPr/>
                    <a:lstStyle/>
                    <a:p>
                      <a:pPr>
                        <a:defRPr sz="1200" b="1">
                          <a:solidFill>
                            <a:srgbClr val="000000"/>
                          </a:solidFill>
                          <a:latin typeface="Times New Roman"/>
                        </a:defRPr>
                      </a:pPr>
                      <a:r>
                        <a:t>What It Does</a:t>
                      </a:r>
                    </a:p>
                  </a:txBody>
                  <a:tcPr>
                    <a:solidFill>
                      <a:srgbClr val="E8E0F0"/>
                    </a:solidFill>
                  </a:tcPr>
                </a:tc>
                <a:tc>
                  <a:txBody>
                    <a:bodyPr/>
                    <a:lstStyle/>
                    <a:p>
                      <a:pPr>
                        <a:defRPr sz="1200" b="1">
                          <a:solidFill>
                            <a:srgbClr val="000000"/>
                          </a:solidFill>
                          <a:latin typeface="Times New Roman"/>
                        </a:defRPr>
                      </a:pPr>
                      <a:r>
                        <a:t>Output</a:t>
                      </a:r>
                    </a:p>
                  </a:txBody>
                  <a:tcPr>
                    <a:solidFill>
                      <a:srgbClr val="E8E0F0"/>
                    </a:solidFill>
                  </a:tcPr>
                </a:tc>
              </a:tr>
              <a:tr h="457200">
                <a:tc>
                  <a:txBody>
                    <a:bodyPr/>
                    <a:lstStyle/>
                    <a:p>
                      <a:pPr>
                        <a:defRPr sz="1100">
                          <a:solidFill>
                            <a:srgbClr val="333333"/>
                          </a:solidFill>
                          <a:latin typeface="Times New Roman"/>
                        </a:defRPr>
                      </a:pPr>
                      <a:r>
                        <a:t>Prediction Layer</a:t>
                      </a:r>
                    </a:p>
                  </a:txBody>
                  <a:tcPr>
                    <a:solidFill>
                      <a:srgbClr val="FFFFFF"/>
                    </a:solidFill>
                  </a:tcPr>
                </a:tc>
                <a:tc>
                  <a:txBody>
                    <a:bodyPr/>
                    <a:lstStyle/>
                    <a:p>
                      <a:pPr>
                        <a:defRPr sz="1100">
                          <a:solidFill>
                            <a:srgbClr val="333333"/>
                          </a:solidFill>
                          <a:latin typeface="Times New Roman"/>
                        </a:defRPr>
                      </a:pPr>
                      <a:r>
                        <a:t>Random Forest scores each doctor visit based on historical data</a:t>
                      </a:r>
                    </a:p>
                  </a:txBody>
                  <a:tcPr>
                    <a:solidFill>
                      <a:srgbClr val="FFFFFF"/>
                    </a:solidFill>
                  </a:tcPr>
                </a:tc>
                <a:tc>
                  <a:txBody>
                    <a:bodyPr/>
                    <a:lstStyle/>
                    <a:p>
                      <a:pPr>
                        <a:defRPr sz="1100">
                          <a:solidFill>
                            <a:srgbClr val="333333"/>
                          </a:solidFill>
                          <a:latin typeface="Times New Roman"/>
                        </a:defRPr>
                      </a:pPr>
                      <a:r>
                        <a:t>Priority score (0 to 1) per doctor</a:t>
                      </a:r>
                    </a:p>
                  </a:txBody>
                  <a:tcPr>
                    <a:solidFill>
                      <a:srgbClr val="FFFFFF"/>
                    </a:solidFill>
                  </a:tcPr>
                </a:tc>
              </a:tr>
              <a:tr h="457200">
                <a:tc>
                  <a:txBody>
                    <a:bodyPr/>
                    <a:lstStyle/>
                    <a:p>
                      <a:pPr>
                        <a:defRPr sz="1100">
                          <a:solidFill>
                            <a:srgbClr val="333333"/>
                          </a:solidFill>
                          <a:latin typeface="Times New Roman"/>
                        </a:defRPr>
                      </a:pPr>
                      <a:r>
                        <a:t>Constraint Layer</a:t>
                      </a:r>
                    </a:p>
                  </a:txBody>
                  <a:tcPr>
                    <a:solidFill>
                      <a:srgbClr val="FFFFFF"/>
                    </a:solidFill>
                  </a:tcPr>
                </a:tc>
                <a:tc>
                  <a:txBody>
                    <a:bodyPr/>
                    <a:lstStyle/>
                    <a:p>
                      <a:pPr>
                        <a:defRPr sz="1100">
                          <a:solidFill>
                            <a:srgbClr val="333333"/>
                          </a:solidFill>
                          <a:latin typeface="Times New Roman"/>
                        </a:defRPr>
                      </a:pPr>
                      <a:r>
                        <a:t>Applies doctor time windows, MR working hours, visit durations</a:t>
                      </a:r>
                    </a:p>
                  </a:txBody>
                  <a:tcPr>
                    <a:solidFill>
                      <a:srgbClr val="FFFFFF"/>
                    </a:solidFill>
                  </a:tcPr>
                </a:tc>
                <a:tc>
                  <a:txBody>
                    <a:bodyPr/>
                    <a:lstStyle/>
                    <a:p>
                      <a:pPr>
                        <a:defRPr sz="1100">
                          <a:solidFill>
                            <a:srgbClr val="333333"/>
                          </a:solidFill>
                          <a:latin typeface="Times New Roman"/>
                        </a:defRPr>
                      </a:pPr>
                      <a:r>
                        <a:t>Feasible visit set with timing rules</a:t>
                      </a:r>
                    </a:p>
                  </a:txBody>
                  <a:tcPr>
                    <a:solidFill>
                      <a:srgbClr val="FFFFFF"/>
                    </a:solidFill>
                  </a:tcPr>
                </a:tc>
              </a:tr>
              <a:tr h="457200">
                <a:tc>
                  <a:txBody>
                    <a:bodyPr/>
                    <a:lstStyle/>
                    <a:p>
                      <a:pPr>
                        <a:defRPr sz="1100">
                          <a:solidFill>
                            <a:srgbClr val="333333"/>
                          </a:solidFill>
                          <a:latin typeface="Times New Roman"/>
                        </a:defRPr>
                      </a:pPr>
                      <a:r>
                        <a:t>Optimization Layer</a:t>
                      </a:r>
                    </a:p>
                  </a:txBody>
                  <a:tcPr>
                    <a:solidFill>
                      <a:srgbClr val="FFFFFF"/>
                    </a:solidFill>
                  </a:tcPr>
                </a:tc>
                <a:tc>
                  <a:txBody>
                    <a:bodyPr/>
                    <a:lstStyle/>
                    <a:p>
                      <a:pPr>
                        <a:defRPr sz="1100">
                          <a:solidFill>
                            <a:srgbClr val="333333"/>
                          </a:solidFill>
                          <a:latin typeface="Times New Roman"/>
                        </a:defRPr>
                      </a:pPr>
                      <a:r>
                        <a:t>Google OR-Tools solves VRPTW for best sequence</a:t>
                      </a:r>
                    </a:p>
                  </a:txBody>
                  <a:tcPr>
                    <a:solidFill>
                      <a:srgbClr val="FFFFFF"/>
                    </a:solidFill>
                  </a:tcPr>
                </a:tc>
                <a:tc>
                  <a:txBody>
                    <a:bodyPr/>
                    <a:lstStyle/>
                    <a:p>
                      <a:pPr>
                        <a:defRPr sz="1100">
                          <a:solidFill>
                            <a:srgbClr val="333333"/>
                          </a:solidFill>
                          <a:latin typeface="Times New Roman"/>
                        </a:defRPr>
                      </a:pPr>
                      <a:r>
                        <a:t>Ordered daily route with time slots</a:t>
                      </a:r>
                    </a:p>
                  </a:txBody>
                  <a:tcPr>
                    <a:solidFill>
                      <a:srgbClr val="FFFFFF"/>
                    </a:solidFill>
                  </a:tcPr>
                </a:tc>
              </a:tr>
            </a:tbl>
          </a:graphicData>
        </a:graphic>
      </p:graphicFrame>
      <p:pic>
        <p:nvPicPr>
          <p:cNvPr id="11" name="Picture 10" descr="pipeline_diagram_1788999304656.jpg"/>
          <p:cNvPicPr>
            <a:picLocks noChangeAspect="1"/>
          </p:cNvPicPr>
          <p:nvPr/>
        </p:nvPicPr>
        <p:blipFill>
          <a:blip r:embed="rId2"/>
          <a:stretch>
            <a:fillRect/>
          </a:stretch>
        </p:blipFill>
        <p:spPr>
          <a:xfrm>
            <a:off x="457200" y="2286000"/>
            <a:ext cx="11247120" cy="228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7</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Requirements, Test Environment and Tools</a:t>
            </a:r>
          </a:p>
        </p:txBody>
      </p:sp>
      <p:sp>
        <p:nvSpPr>
          <p:cNvPr id="6" name="TextBox 5"/>
          <p:cNvSpPr txBox="1"/>
          <p:nvPr/>
        </p:nvSpPr>
        <p:spPr>
          <a:xfrm>
            <a:off x="640080" y="1097280"/>
            <a:ext cx="5029200" cy="274320"/>
          </a:xfrm>
          <a:prstGeom prst="rect">
            <a:avLst/>
          </a:prstGeom>
          <a:noFill/>
        </p:spPr>
        <p:txBody>
          <a:bodyPr wrap="square">
            <a:spAutoFit/>
          </a:bodyPr>
          <a:lstStyle/>
          <a:p>
            <a:pPr algn="l">
              <a:defRPr sz="1600" b="1" i="0">
                <a:solidFill>
                  <a:srgbClr val="000000"/>
                </a:solidFill>
                <a:latin typeface="Times New Roman"/>
              </a:defRPr>
            </a:pPr>
            <a:r>
              <a:t>Hardware Requirements:</a:t>
            </a:r>
          </a:p>
        </p:txBody>
      </p:sp>
      <p:sp>
        <p:nvSpPr>
          <p:cNvPr id="7" name="TextBox 6"/>
          <p:cNvSpPr txBox="1"/>
          <p:nvPr/>
        </p:nvSpPr>
        <p:spPr>
          <a:xfrm>
            <a:off x="822960" y="1463040"/>
            <a:ext cx="5029200" cy="1371600"/>
          </a:xfrm>
          <a:prstGeom prst="rect">
            <a:avLst/>
          </a:prstGeom>
          <a:noFill/>
        </p:spPr>
        <p:txBody>
          <a:bodyPr wrap="square">
            <a:spAutoFit/>
          </a:bodyPr>
          <a:lstStyle/>
          <a:p>
            <a:pPr>
              <a:spcAft>
                <a:spcPts val="600"/>
              </a:spcAft>
              <a:defRPr sz="1400">
                <a:solidFill>
                  <a:srgbClr val="000000"/>
                </a:solidFill>
                <a:latin typeface="Times New Roman"/>
              </a:defRPr>
              <a:buChar char="•"/>
            </a:pPr>
            <a:r>
              <a:t>Processor: Intel i5 or equivalent</a:t>
            </a:r>
          </a:p>
          <a:p>
            <a:pPr>
              <a:spcAft>
                <a:spcPts val="600"/>
              </a:spcAft>
              <a:defRPr sz="1400">
                <a:solidFill>
                  <a:srgbClr val="000000"/>
                </a:solidFill>
                <a:latin typeface="Times New Roman"/>
              </a:defRPr>
              <a:buChar char="•"/>
            </a:pPr>
            <a:r>
              <a:t>RAM: 8 GB minimum, 16 GB preferred</a:t>
            </a:r>
          </a:p>
          <a:p>
            <a:pPr>
              <a:spcAft>
                <a:spcPts val="600"/>
              </a:spcAft>
              <a:defRPr sz="1400">
                <a:solidFill>
                  <a:srgbClr val="000000"/>
                </a:solidFill>
                <a:latin typeface="Times New Roman"/>
              </a:defRPr>
              <a:buChar char="•"/>
            </a:pPr>
            <a:r>
              <a:t>Storage: SSD with 50 GB+ free space</a:t>
            </a:r>
          </a:p>
          <a:p>
            <a:pPr>
              <a:spcAft>
                <a:spcPts val="600"/>
              </a:spcAft>
              <a:defRPr sz="1400">
                <a:solidFill>
                  <a:srgbClr val="000000"/>
                </a:solidFill>
                <a:latin typeface="Times New Roman"/>
              </a:defRPr>
              <a:buChar char="•"/>
            </a:pPr>
            <a:r>
              <a:t>Internet connectivity for API access</a:t>
            </a:r>
          </a:p>
        </p:txBody>
      </p:sp>
      <p:sp>
        <p:nvSpPr>
          <p:cNvPr id="8" name="TextBox 7"/>
          <p:cNvSpPr txBox="1"/>
          <p:nvPr/>
        </p:nvSpPr>
        <p:spPr>
          <a:xfrm>
            <a:off x="640080" y="3017520"/>
            <a:ext cx="5029200" cy="274320"/>
          </a:xfrm>
          <a:prstGeom prst="rect">
            <a:avLst/>
          </a:prstGeom>
          <a:noFill/>
        </p:spPr>
        <p:txBody>
          <a:bodyPr wrap="square">
            <a:spAutoFit/>
          </a:bodyPr>
          <a:lstStyle/>
          <a:p>
            <a:pPr algn="l">
              <a:defRPr sz="1600" b="1" i="0">
                <a:solidFill>
                  <a:srgbClr val="000000"/>
                </a:solidFill>
                <a:latin typeface="Times New Roman"/>
              </a:defRPr>
            </a:pPr>
            <a:r>
              <a:t>Deployment:</a:t>
            </a:r>
          </a:p>
        </p:txBody>
      </p:sp>
      <p:sp>
        <p:nvSpPr>
          <p:cNvPr id="9" name="TextBox 8"/>
          <p:cNvSpPr txBox="1"/>
          <p:nvPr/>
        </p:nvSpPr>
        <p:spPr>
          <a:xfrm>
            <a:off x="640080" y="3383280"/>
            <a:ext cx="5029200" cy="457200"/>
          </a:xfrm>
          <a:prstGeom prst="rect">
            <a:avLst/>
          </a:prstGeom>
          <a:noFill/>
        </p:spPr>
        <p:txBody>
          <a:bodyPr wrap="square">
            <a:spAutoFit/>
          </a:bodyPr>
          <a:lstStyle/>
          <a:p>
            <a:pPr algn="l">
              <a:defRPr sz="1400" b="0" i="0">
                <a:solidFill>
                  <a:srgbClr val="333333"/>
                </a:solidFill>
                <a:latin typeface="Times New Roman"/>
              </a:defRPr>
            </a:pPr>
            <a:r>
              <a:t>Web-based application. Cloud deployment planned after integration testing is complete.</a:t>
            </a:r>
          </a:p>
        </p:txBody>
      </p:sp>
      <p:sp>
        <p:nvSpPr>
          <p:cNvPr id="10" name="TextBox 9"/>
          <p:cNvSpPr txBox="1"/>
          <p:nvPr/>
        </p:nvSpPr>
        <p:spPr>
          <a:xfrm>
            <a:off x="6400800" y="1097280"/>
            <a:ext cx="5029200" cy="274320"/>
          </a:xfrm>
          <a:prstGeom prst="rect">
            <a:avLst/>
          </a:prstGeom>
          <a:noFill/>
        </p:spPr>
        <p:txBody>
          <a:bodyPr wrap="square">
            <a:spAutoFit/>
          </a:bodyPr>
          <a:lstStyle/>
          <a:p>
            <a:pPr algn="l">
              <a:defRPr sz="1600" b="1" i="0">
                <a:solidFill>
                  <a:srgbClr val="000000"/>
                </a:solidFill>
                <a:latin typeface="Times New Roman"/>
              </a:defRPr>
            </a:pPr>
            <a:r>
              <a:t>Software Stack:</a:t>
            </a:r>
          </a:p>
        </p:txBody>
      </p:sp>
      <p:graphicFrame>
        <p:nvGraphicFramePr>
          <p:cNvPr id="11" name="Table 10"/>
          <p:cNvGraphicFramePr>
            <a:graphicFrameLocks noGrp="1"/>
          </p:cNvGraphicFramePr>
          <p:nvPr/>
        </p:nvGraphicFramePr>
        <p:xfrm>
          <a:off x="6400800" y="1463040"/>
          <a:ext cx="5303520" cy="4114800"/>
        </p:xfrm>
        <a:graphic>
          <a:graphicData uri="http://schemas.openxmlformats.org/drawingml/2006/table">
            <a:tbl>
              <a:tblPr firstRow="1" bandRow="1">
                <a:tableStyleId>{5C22544A-7EE6-4342-B048-85BDC9FD1C3A}</a:tableStyleId>
              </a:tblPr>
              <a:tblGrid>
                <a:gridCol w="1828800"/>
                <a:gridCol w="3474720"/>
              </a:tblGrid>
              <a:tr h="411480">
                <a:tc>
                  <a:txBody>
                    <a:bodyPr/>
                    <a:lstStyle/>
                    <a:p>
                      <a:pPr>
                        <a:defRPr sz="1200" b="1">
                          <a:solidFill>
                            <a:srgbClr val="000000"/>
                          </a:solidFill>
                          <a:latin typeface="Times New Roman"/>
                        </a:defRPr>
                      </a:pPr>
                      <a:r>
                        <a:t>Category</a:t>
                      </a:r>
                    </a:p>
                  </a:txBody>
                  <a:tcPr>
                    <a:solidFill>
                      <a:srgbClr val="E8E0F0"/>
                    </a:solidFill>
                  </a:tcPr>
                </a:tc>
                <a:tc>
                  <a:txBody>
                    <a:bodyPr/>
                    <a:lstStyle/>
                    <a:p>
                      <a:pPr>
                        <a:defRPr sz="1200" b="1">
                          <a:solidFill>
                            <a:srgbClr val="000000"/>
                          </a:solidFill>
                          <a:latin typeface="Times New Roman"/>
                        </a:defRPr>
                      </a:pPr>
                      <a:r>
                        <a:t>Technology</a:t>
                      </a:r>
                    </a:p>
                  </a:txBody>
                  <a:tcPr>
                    <a:solidFill>
                      <a:srgbClr val="E8E0F0"/>
                    </a:solidFill>
                  </a:tcPr>
                </a:tc>
              </a:tr>
              <a:tr h="411480">
                <a:tc>
                  <a:txBody>
                    <a:bodyPr/>
                    <a:lstStyle/>
                    <a:p>
                      <a:pPr>
                        <a:defRPr sz="1100">
                          <a:solidFill>
                            <a:srgbClr val="333333"/>
                          </a:solidFill>
                          <a:latin typeface="Times New Roman"/>
                        </a:defRPr>
                      </a:pPr>
                      <a:r>
                        <a:t>Language</a:t>
                      </a:r>
                    </a:p>
                  </a:txBody>
                  <a:tcPr>
                    <a:solidFill>
                      <a:srgbClr val="FFFFFF"/>
                    </a:solidFill>
                  </a:tcPr>
                </a:tc>
                <a:tc>
                  <a:txBody>
                    <a:bodyPr/>
                    <a:lstStyle/>
                    <a:p>
                      <a:pPr>
                        <a:defRPr sz="1100">
                          <a:solidFill>
                            <a:srgbClr val="333333"/>
                          </a:solidFill>
                          <a:latin typeface="Times New Roman"/>
                        </a:defRPr>
                      </a:pPr>
                      <a:r>
                        <a:t>Python 3.x</a:t>
                      </a:r>
                    </a:p>
                  </a:txBody>
                  <a:tcPr>
                    <a:solidFill>
                      <a:srgbClr val="FFFFFF"/>
                    </a:solidFill>
                  </a:tcPr>
                </a:tc>
              </a:tr>
              <a:tr h="411480">
                <a:tc>
                  <a:txBody>
                    <a:bodyPr/>
                    <a:lstStyle/>
                    <a:p>
                      <a:pPr>
                        <a:defRPr sz="1100">
                          <a:solidFill>
                            <a:srgbClr val="333333"/>
                          </a:solidFill>
                          <a:latin typeface="Times New Roman"/>
                        </a:defRPr>
                      </a:pPr>
                      <a:r>
                        <a:t>Frontend</a:t>
                      </a:r>
                    </a:p>
                  </a:txBody>
                  <a:tcPr>
                    <a:solidFill>
                      <a:srgbClr val="FFFFFF"/>
                    </a:solidFill>
                  </a:tcPr>
                </a:tc>
                <a:tc>
                  <a:txBody>
                    <a:bodyPr/>
                    <a:lstStyle/>
                    <a:p>
                      <a:pPr>
                        <a:defRPr sz="1100">
                          <a:solidFill>
                            <a:srgbClr val="333333"/>
                          </a:solidFill>
                          <a:latin typeface="Times New Roman"/>
                        </a:defRPr>
                      </a:pPr>
                      <a:r>
                        <a:t>React.js</a:t>
                      </a:r>
                    </a:p>
                  </a:txBody>
                  <a:tcPr>
                    <a:solidFill>
                      <a:srgbClr val="FFFFFF"/>
                    </a:solidFill>
                  </a:tcPr>
                </a:tc>
              </a:tr>
              <a:tr h="411480">
                <a:tc>
                  <a:txBody>
                    <a:bodyPr/>
                    <a:lstStyle/>
                    <a:p>
                      <a:pPr>
                        <a:defRPr sz="1100">
                          <a:solidFill>
                            <a:srgbClr val="333333"/>
                          </a:solidFill>
                          <a:latin typeface="Times New Roman"/>
                        </a:defRPr>
                      </a:pPr>
                      <a:r>
                        <a:t>Backend</a:t>
                      </a:r>
                    </a:p>
                  </a:txBody>
                  <a:tcPr>
                    <a:solidFill>
                      <a:srgbClr val="FFFFFF"/>
                    </a:solidFill>
                  </a:tcPr>
                </a:tc>
                <a:tc>
                  <a:txBody>
                    <a:bodyPr/>
                    <a:lstStyle/>
                    <a:p>
                      <a:pPr>
                        <a:defRPr sz="1100">
                          <a:solidFill>
                            <a:srgbClr val="333333"/>
                          </a:solidFill>
                          <a:latin typeface="Times New Roman"/>
                        </a:defRPr>
                      </a:pPr>
                      <a:r>
                        <a:t>FastAPI</a:t>
                      </a:r>
                    </a:p>
                  </a:txBody>
                  <a:tcPr>
                    <a:solidFill>
                      <a:srgbClr val="FFFFFF"/>
                    </a:solidFill>
                  </a:tcPr>
                </a:tc>
              </a:tr>
              <a:tr h="411480">
                <a:tc>
                  <a:txBody>
                    <a:bodyPr/>
                    <a:lstStyle/>
                    <a:p>
                      <a:pPr>
                        <a:defRPr sz="1100">
                          <a:solidFill>
                            <a:srgbClr val="333333"/>
                          </a:solidFill>
                          <a:latin typeface="Times New Roman"/>
                        </a:defRPr>
                      </a:pPr>
                      <a:r>
                        <a:t>Database</a:t>
                      </a:r>
                    </a:p>
                  </a:txBody>
                  <a:tcPr>
                    <a:solidFill>
                      <a:srgbClr val="FFFFFF"/>
                    </a:solidFill>
                  </a:tcPr>
                </a:tc>
                <a:tc>
                  <a:txBody>
                    <a:bodyPr/>
                    <a:lstStyle/>
                    <a:p>
                      <a:pPr>
                        <a:defRPr sz="1100">
                          <a:solidFill>
                            <a:srgbClr val="333333"/>
                          </a:solidFill>
                          <a:latin typeface="Times New Roman"/>
                        </a:defRPr>
                      </a:pPr>
                      <a:r>
                        <a:t>MySQL</a:t>
                      </a:r>
                    </a:p>
                  </a:txBody>
                  <a:tcPr>
                    <a:solidFill>
                      <a:srgbClr val="FFFFFF"/>
                    </a:solidFill>
                  </a:tcPr>
                </a:tc>
              </a:tr>
              <a:tr h="411480">
                <a:tc>
                  <a:txBody>
                    <a:bodyPr/>
                    <a:lstStyle/>
                    <a:p>
                      <a:pPr>
                        <a:defRPr sz="1100">
                          <a:solidFill>
                            <a:srgbClr val="333333"/>
                          </a:solidFill>
                          <a:latin typeface="Times New Roman"/>
                        </a:defRPr>
                      </a:pPr>
                      <a:r>
                        <a:t>ML</a:t>
                      </a:r>
                    </a:p>
                  </a:txBody>
                  <a:tcPr>
                    <a:solidFill>
                      <a:srgbClr val="FFFFFF"/>
                    </a:solidFill>
                  </a:tcPr>
                </a:tc>
                <a:tc>
                  <a:txBody>
                    <a:bodyPr/>
                    <a:lstStyle/>
                    <a:p>
                      <a:pPr>
                        <a:defRPr sz="1100">
                          <a:solidFill>
                            <a:srgbClr val="333333"/>
                          </a:solidFill>
                          <a:latin typeface="Times New Roman"/>
                        </a:defRPr>
                      </a:pPr>
                      <a:r>
                        <a:t>Scikit-learn</a:t>
                      </a:r>
                    </a:p>
                  </a:txBody>
                  <a:tcPr>
                    <a:solidFill>
                      <a:srgbClr val="FFFFFF"/>
                    </a:solidFill>
                  </a:tcPr>
                </a:tc>
              </a:tr>
              <a:tr h="411480">
                <a:tc>
                  <a:txBody>
                    <a:bodyPr/>
                    <a:lstStyle/>
                    <a:p>
                      <a:pPr>
                        <a:defRPr sz="1100">
                          <a:solidFill>
                            <a:srgbClr val="333333"/>
                          </a:solidFill>
                          <a:latin typeface="Times New Roman"/>
                        </a:defRPr>
                      </a:pPr>
                      <a:r>
                        <a:t>Data Processing</a:t>
                      </a:r>
                    </a:p>
                  </a:txBody>
                  <a:tcPr>
                    <a:solidFill>
                      <a:srgbClr val="FFFFFF"/>
                    </a:solidFill>
                  </a:tcPr>
                </a:tc>
                <a:tc>
                  <a:txBody>
                    <a:bodyPr/>
                    <a:lstStyle/>
                    <a:p>
                      <a:pPr>
                        <a:defRPr sz="1100">
                          <a:solidFill>
                            <a:srgbClr val="333333"/>
                          </a:solidFill>
                          <a:latin typeface="Times New Roman"/>
                        </a:defRPr>
                      </a:pPr>
                      <a:r>
                        <a:t>Pandas, NumPy</a:t>
                      </a:r>
                    </a:p>
                  </a:txBody>
                  <a:tcPr>
                    <a:solidFill>
                      <a:srgbClr val="FFFFFF"/>
                    </a:solidFill>
                  </a:tcPr>
                </a:tc>
              </a:tr>
              <a:tr h="411480">
                <a:tc>
                  <a:txBody>
                    <a:bodyPr/>
                    <a:lstStyle/>
                    <a:p>
                      <a:pPr>
                        <a:defRPr sz="1100">
                          <a:solidFill>
                            <a:srgbClr val="333333"/>
                          </a:solidFill>
                          <a:latin typeface="Times New Roman"/>
                        </a:defRPr>
                      </a:pPr>
                      <a:r>
                        <a:t>Optimization</a:t>
                      </a:r>
                    </a:p>
                  </a:txBody>
                  <a:tcPr>
                    <a:solidFill>
                      <a:srgbClr val="FFFFFF"/>
                    </a:solidFill>
                  </a:tcPr>
                </a:tc>
                <a:tc>
                  <a:txBody>
                    <a:bodyPr/>
                    <a:lstStyle/>
                    <a:p>
                      <a:pPr>
                        <a:defRPr sz="1100">
                          <a:solidFill>
                            <a:srgbClr val="333333"/>
                          </a:solidFill>
                          <a:latin typeface="Times New Roman"/>
                        </a:defRPr>
                      </a:pPr>
                      <a:r>
                        <a:t>Google OR-Tools</a:t>
                      </a:r>
                    </a:p>
                  </a:txBody>
                  <a:tcPr>
                    <a:solidFill>
                      <a:srgbClr val="FFFFFF"/>
                    </a:solidFill>
                  </a:tcPr>
                </a:tc>
              </a:tr>
              <a:tr h="411480">
                <a:tc>
                  <a:txBody>
                    <a:bodyPr/>
                    <a:lstStyle/>
                    <a:p>
                      <a:pPr>
                        <a:defRPr sz="1100">
                          <a:solidFill>
                            <a:srgbClr val="333333"/>
                          </a:solidFill>
                          <a:latin typeface="Times New Roman"/>
                        </a:defRPr>
                      </a:pPr>
                      <a:r>
                        <a:t>Version Control</a:t>
                      </a:r>
                    </a:p>
                  </a:txBody>
                  <a:tcPr>
                    <a:solidFill>
                      <a:srgbClr val="FFFFFF"/>
                    </a:solidFill>
                  </a:tcPr>
                </a:tc>
                <a:tc>
                  <a:txBody>
                    <a:bodyPr/>
                    <a:lstStyle/>
                    <a:p>
                      <a:pPr>
                        <a:defRPr sz="1100">
                          <a:solidFill>
                            <a:srgbClr val="333333"/>
                          </a:solidFill>
                          <a:latin typeface="Times New Roman"/>
                        </a:defRPr>
                      </a:pPr>
                      <a:r>
                        <a:t>Git / GitHub</a:t>
                      </a:r>
                    </a:p>
                  </a:txBody>
                  <a:tcPr>
                    <a:solidFill>
                      <a:srgbClr val="FFFFFF"/>
                    </a:solidFill>
                  </a:tcPr>
                </a:tc>
              </a:tr>
              <a:tr h="411480">
                <a:tc>
                  <a:txBody>
                    <a:bodyPr/>
                    <a:lstStyle/>
                    <a:p>
                      <a:pPr>
                        <a:defRPr sz="1100">
                          <a:solidFill>
                            <a:srgbClr val="333333"/>
                          </a:solidFill>
                          <a:latin typeface="Times New Roman"/>
                        </a:defRPr>
                      </a:pPr>
                      <a:r>
                        <a:t>IDE</a:t>
                      </a:r>
                    </a:p>
                  </a:txBody>
                  <a:tcPr>
                    <a:solidFill>
                      <a:srgbClr val="FFFFFF"/>
                    </a:solidFill>
                  </a:tcPr>
                </a:tc>
                <a:tc>
                  <a:txBody>
                    <a:bodyPr/>
                    <a:lstStyle/>
                    <a:p>
                      <a:pPr>
                        <a:defRPr sz="1100">
                          <a:solidFill>
                            <a:srgbClr val="333333"/>
                          </a:solidFill>
                          <a:latin typeface="Times New Roman"/>
                        </a:defRPr>
                      </a:pPr>
                      <a:r>
                        <a:t>Visual Studio Code</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8</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Proposed System</a:t>
            </a:r>
          </a:p>
        </p:txBody>
      </p:sp>
      <p:sp>
        <p:nvSpPr>
          <p:cNvPr id="6" name="TextBox 5"/>
          <p:cNvSpPr txBox="1"/>
          <p:nvPr/>
        </p:nvSpPr>
        <p:spPr>
          <a:xfrm>
            <a:off x="640080" y="1097280"/>
            <a:ext cx="10515600" cy="274320"/>
          </a:xfrm>
          <a:prstGeom prst="rect">
            <a:avLst/>
          </a:prstGeom>
          <a:noFill/>
        </p:spPr>
        <p:txBody>
          <a:bodyPr wrap="square">
            <a:spAutoFit/>
          </a:bodyPr>
          <a:lstStyle/>
          <a:p>
            <a:pPr algn="l">
              <a:defRPr sz="1600" b="1" i="0">
                <a:solidFill>
                  <a:srgbClr val="000000"/>
                </a:solidFill>
                <a:latin typeface="Times New Roman"/>
              </a:defRPr>
            </a:pPr>
            <a:r>
              <a:t>How the system works, step by step:</a:t>
            </a:r>
          </a:p>
        </p:txBody>
      </p:sp>
      <p:sp>
        <p:nvSpPr>
          <p:cNvPr id="7" name="TextBox 6"/>
          <p:cNvSpPr txBox="1"/>
          <p:nvPr/>
        </p:nvSpPr>
        <p:spPr>
          <a:xfrm>
            <a:off x="822960" y="1554480"/>
            <a:ext cx="10332720" cy="4114800"/>
          </a:xfrm>
          <a:prstGeom prst="rect">
            <a:avLst/>
          </a:prstGeom>
          <a:noFill/>
        </p:spPr>
        <p:txBody>
          <a:bodyPr wrap="square">
            <a:spAutoFit/>
          </a:bodyPr>
          <a:lstStyle/>
          <a:p>
            <a:pPr>
              <a:spcAft>
                <a:spcPts val="1000"/>
              </a:spcAft>
              <a:defRPr sz="1400">
                <a:solidFill>
                  <a:srgbClr val="000000"/>
                </a:solidFill>
                <a:latin typeface="Times New Roman"/>
              </a:defRPr>
              <a:buChar char="•"/>
            </a:pPr>
            <a:r>
              <a:t>Step 1: Collect historical data (doctor profiles, visit history, appointments) and store in MySQL.</a:t>
            </a:r>
          </a:p>
          <a:p>
            <a:pPr>
              <a:spcAft>
                <a:spcPts val="1000"/>
              </a:spcAft>
              <a:defRPr sz="1400">
                <a:solidFill>
                  <a:srgbClr val="000000"/>
                </a:solidFill>
                <a:latin typeface="Times New Roman"/>
              </a:defRPr>
              <a:buChar char="•"/>
            </a:pPr>
            <a:r>
              <a:t>Step 2: Preprocess data: clean missing values, encode categories, normalize numerical features.</a:t>
            </a:r>
          </a:p>
          <a:p>
            <a:pPr>
              <a:spcAft>
                <a:spcPts val="1000"/>
              </a:spcAft>
              <a:defRPr sz="1400">
                <a:solidFill>
                  <a:srgbClr val="000000"/>
                </a:solidFill>
                <a:latin typeface="Times New Roman"/>
              </a:defRPr>
              <a:buChar char="•"/>
            </a:pPr>
            <a:r>
              <a:t>Step 3: Engineer features: days since last visit, visit frequency, specialty, prescription volume.</a:t>
            </a:r>
          </a:p>
          <a:p>
            <a:pPr>
              <a:spcAft>
                <a:spcPts val="1000"/>
              </a:spcAft>
              <a:defRPr sz="1400">
                <a:solidFill>
                  <a:srgbClr val="000000"/>
                </a:solidFill>
                <a:latin typeface="Times New Roman"/>
              </a:defRPr>
              <a:buChar char="•"/>
            </a:pPr>
            <a:r>
              <a:t>Step 4: Train a Random Forest model that predicts a priority score (0 to 1) per doctor visit.</a:t>
            </a:r>
          </a:p>
          <a:p>
            <a:pPr>
              <a:spcAft>
                <a:spcPts val="1000"/>
              </a:spcAft>
              <a:defRPr sz="1400">
                <a:solidFill>
                  <a:srgbClr val="000000"/>
                </a:solidFill>
                <a:latin typeface="Times New Roman"/>
              </a:defRPr>
              <a:buChar char="•"/>
            </a:pPr>
            <a:r>
              <a:t>Step 5: Apply constraints: Doctor A only available 10 AM to 12 PM, MR works 9 AM to 6 PM, each visit takes 20 min.</a:t>
            </a:r>
          </a:p>
          <a:p>
            <a:pPr>
              <a:spcAft>
                <a:spcPts val="1000"/>
              </a:spcAft>
              <a:defRPr sz="1400">
                <a:solidFill>
                  <a:srgbClr val="000000"/>
                </a:solidFill>
                <a:latin typeface="Times New Roman"/>
              </a:defRPr>
              <a:buChar char="•"/>
            </a:pPr>
            <a:r>
              <a:t>Step 6: Feed priorities and constraints to Google OR-Tools. The solver produces an optimized visit sequence.</a:t>
            </a:r>
          </a:p>
          <a:p>
            <a:pPr>
              <a:spcAft>
                <a:spcPts val="1000"/>
              </a:spcAft>
              <a:defRPr sz="1400">
                <a:solidFill>
                  <a:srgbClr val="000000"/>
                </a:solidFill>
                <a:latin typeface="Times New Roman"/>
              </a:defRPr>
              <a:buChar char="•"/>
            </a:pPr>
            <a:r>
              <a:t>Step 7: Display the optimized plan on the MR dashboard. Manager sees team-wide schedules and analytics.</a:t>
            </a:r>
          </a:p>
        </p:txBody>
      </p:sp>
      <p:sp>
        <p:nvSpPr>
          <p:cNvPr id="8" name="TextBox 7"/>
          <p:cNvSpPr txBox="1"/>
          <p:nvPr/>
        </p:nvSpPr>
        <p:spPr>
          <a:xfrm>
            <a:off x="640080" y="5486400"/>
            <a:ext cx="10515600" cy="457200"/>
          </a:xfrm>
          <a:prstGeom prst="rect">
            <a:avLst/>
          </a:prstGeom>
          <a:noFill/>
        </p:spPr>
        <p:txBody>
          <a:bodyPr wrap="square">
            <a:spAutoFit/>
          </a:bodyPr>
          <a:lstStyle/>
          <a:p>
            <a:pPr algn="l">
              <a:defRPr sz="1400" b="0" i="0">
                <a:solidFill>
                  <a:srgbClr val="666666"/>
                </a:solidFill>
                <a:latin typeface="Times New Roman"/>
              </a:defRPr>
            </a:pPr>
            <a:r>
              <a:t>The ML model and the optimizer are two separate components. The model scores the visits; the optimizer sequences them. They can be evaluated independently.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9</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Proposed Outcome</a:t>
            </a:r>
          </a:p>
        </p:txBody>
      </p:sp>
      <p:sp>
        <p:nvSpPr>
          <p:cNvPr id="6" name="TextBox 5"/>
          <p:cNvSpPr txBox="1"/>
          <p:nvPr/>
        </p:nvSpPr>
        <p:spPr>
          <a:xfrm>
            <a:off x="640080" y="1097280"/>
            <a:ext cx="10515600" cy="274320"/>
          </a:xfrm>
          <a:prstGeom prst="rect">
            <a:avLst/>
          </a:prstGeom>
          <a:noFill/>
        </p:spPr>
        <p:txBody>
          <a:bodyPr wrap="square">
            <a:spAutoFit/>
          </a:bodyPr>
          <a:lstStyle/>
          <a:p>
            <a:pPr algn="l">
              <a:defRPr sz="1600" b="1" i="0">
                <a:solidFill>
                  <a:srgbClr val="000000"/>
                </a:solidFill>
                <a:latin typeface="Times New Roman"/>
              </a:defRPr>
            </a:pPr>
            <a:r>
              <a:t>We will evaluate the system at three levels:</a:t>
            </a:r>
          </a:p>
        </p:txBody>
      </p:sp>
      <p:sp>
        <p:nvSpPr>
          <p:cNvPr id="7" name="TextBox 6"/>
          <p:cNvSpPr txBox="1"/>
          <p:nvPr/>
        </p:nvSpPr>
        <p:spPr>
          <a:xfrm>
            <a:off x="457200" y="1554480"/>
            <a:ext cx="3474720" cy="274320"/>
          </a:xfrm>
          <a:prstGeom prst="rect">
            <a:avLst/>
          </a:prstGeom>
          <a:noFill/>
        </p:spPr>
        <p:txBody>
          <a:bodyPr wrap="square">
            <a:spAutoFit/>
          </a:bodyPr>
          <a:lstStyle/>
          <a:p>
            <a:pPr algn="l">
              <a:defRPr sz="1500" b="1" i="0">
                <a:solidFill>
                  <a:srgbClr val="7030A0"/>
                </a:solidFill>
                <a:latin typeface="Times New Roman"/>
              </a:defRPr>
            </a:pPr>
            <a:r>
              <a:t>ML Evaluation:</a:t>
            </a:r>
          </a:p>
        </p:txBody>
      </p:sp>
      <p:sp>
        <p:nvSpPr>
          <p:cNvPr id="8" name="TextBox 7"/>
          <p:cNvSpPr txBox="1"/>
          <p:nvPr/>
        </p:nvSpPr>
        <p:spPr>
          <a:xfrm>
            <a:off x="548640" y="1920240"/>
            <a:ext cx="3291840" cy="2286000"/>
          </a:xfrm>
          <a:prstGeom prst="rect">
            <a:avLst/>
          </a:prstGeom>
          <a:noFill/>
        </p:spPr>
        <p:txBody>
          <a:bodyPr wrap="square">
            <a:spAutoFit/>
          </a:bodyPr>
          <a:lstStyle/>
          <a:p>
            <a:pPr>
              <a:spcAft>
                <a:spcPts val="600"/>
              </a:spcAft>
              <a:defRPr sz="1300">
                <a:solidFill>
                  <a:srgbClr val="000000"/>
                </a:solidFill>
                <a:latin typeface="Times New Roman"/>
              </a:defRPr>
              <a:buChar char="•"/>
            </a:pPr>
            <a:r>
              <a:t>Accuracy</a:t>
            </a:r>
          </a:p>
          <a:p>
            <a:pPr>
              <a:spcAft>
                <a:spcPts val="600"/>
              </a:spcAft>
              <a:defRPr sz="1300">
                <a:solidFill>
                  <a:srgbClr val="000000"/>
                </a:solidFill>
                <a:latin typeface="Times New Roman"/>
              </a:defRPr>
              <a:buChar char="•"/>
            </a:pPr>
            <a:r>
              <a:t>Precision</a:t>
            </a:r>
          </a:p>
          <a:p>
            <a:pPr>
              <a:spcAft>
                <a:spcPts val="600"/>
              </a:spcAft>
              <a:defRPr sz="1300">
                <a:solidFill>
                  <a:srgbClr val="000000"/>
                </a:solidFill>
                <a:latin typeface="Times New Roman"/>
              </a:defRPr>
              <a:buChar char="•"/>
            </a:pPr>
            <a:r>
              <a:t>Recall</a:t>
            </a:r>
          </a:p>
          <a:p>
            <a:pPr>
              <a:spcAft>
                <a:spcPts val="600"/>
              </a:spcAft>
              <a:defRPr sz="1300">
                <a:solidFill>
                  <a:srgbClr val="000000"/>
                </a:solidFill>
                <a:latin typeface="Times New Roman"/>
              </a:defRPr>
              <a:buChar char="•"/>
            </a:pPr>
            <a:r>
              <a:t>F1-Score</a:t>
            </a:r>
          </a:p>
          <a:p>
            <a:pPr>
              <a:spcAft>
                <a:spcPts val="600"/>
              </a:spcAft>
              <a:defRPr sz="1300">
                <a:solidFill>
                  <a:srgbClr val="000000"/>
                </a:solidFill>
                <a:latin typeface="Times New Roman"/>
              </a:defRPr>
              <a:buChar char="•"/>
            </a:pPr>
            <a:r>
              <a:t>Confusion matrix</a:t>
            </a:r>
          </a:p>
        </p:txBody>
      </p:sp>
      <p:sp>
        <p:nvSpPr>
          <p:cNvPr id="9" name="TextBox 8"/>
          <p:cNvSpPr txBox="1"/>
          <p:nvPr/>
        </p:nvSpPr>
        <p:spPr>
          <a:xfrm>
            <a:off x="4114800" y="1554480"/>
            <a:ext cx="3657600" cy="274320"/>
          </a:xfrm>
          <a:prstGeom prst="rect">
            <a:avLst/>
          </a:prstGeom>
          <a:noFill/>
        </p:spPr>
        <p:txBody>
          <a:bodyPr wrap="square">
            <a:spAutoFit/>
          </a:bodyPr>
          <a:lstStyle/>
          <a:p>
            <a:pPr algn="l">
              <a:defRPr sz="1500" b="1" i="0">
                <a:solidFill>
                  <a:srgbClr val="7030A0"/>
                </a:solidFill>
                <a:latin typeface="Times New Roman"/>
              </a:defRPr>
            </a:pPr>
            <a:r>
              <a:t>Route Evaluation:</a:t>
            </a:r>
          </a:p>
        </p:txBody>
      </p:sp>
      <p:sp>
        <p:nvSpPr>
          <p:cNvPr id="10" name="TextBox 9"/>
          <p:cNvSpPr txBox="1"/>
          <p:nvPr/>
        </p:nvSpPr>
        <p:spPr>
          <a:xfrm>
            <a:off x="4206240" y="1920240"/>
            <a:ext cx="3474720" cy="2286000"/>
          </a:xfrm>
          <a:prstGeom prst="rect">
            <a:avLst/>
          </a:prstGeom>
          <a:noFill/>
        </p:spPr>
        <p:txBody>
          <a:bodyPr wrap="square">
            <a:spAutoFit/>
          </a:bodyPr>
          <a:lstStyle/>
          <a:p>
            <a:pPr>
              <a:spcAft>
                <a:spcPts val="600"/>
              </a:spcAft>
              <a:defRPr sz="1300">
                <a:solidFill>
                  <a:srgbClr val="000000"/>
                </a:solidFill>
                <a:latin typeface="Times New Roman"/>
              </a:defRPr>
              <a:buChar char="•"/>
            </a:pPr>
            <a:r>
              <a:t>Total travel distance (km)</a:t>
            </a:r>
          </a:p>
          <a:p>
            <a:pPr>
              <a:spcAft>
                <a:spcPts val="600"/>
              </a:spcAft>
              <a:defRPr sz="1300">
                <a:solidFill>
                  <a:srgbClr val="000000"/>
                </a:solidFill>
                <a:latin typeface="Times New Roman"/>
              </a:defRPr>
              <a:buChar char="•"/>
            </a:pPr>
            <a:r>
              <a:t>Total travel time</a:t>
            </a:r>
          </a:p>
          <a:p>
            <a:pPr>
              <a:spcAft>
                <a:spcPts val="600"/>
              </a:spcAft>
              <a:defRPr sz="1300">
                <a:solidFill>
                  <a:srgbClr val="000000"/>
                </a:solidFill>
                <a:latin typeface="Times New Roman"/>
              </a:defRPr>
              <a:buChar char="•"/>
            </a:pPr>
            <a:r>
              <a:t>Visits completed per day</a:t>
            </a:r>
          </a:p>
          <a:p>
            <a:pPr>
              <a:spcAft>
                <a:spcPts val="600"/>
              </a:spcAft>
              <a:defRPr sz="1300">
                <a:solidFill>
                  <a:srgbClr val="000000"/>
                </a:solidFill>
                <a:latin typeface="Times New Roman"/>
              </a:defRPr>
              <a:buChar char="•"/>
            </a:pPr>
            <a:r>
              <a:t>Late arrivals</a:t>
            </a:r>
          </a:p>
          <a:p>
            <a:pPr>
              <a:spcAft>
                <a:spcPts val="600"/>
              </a:spcAft>
              <a:defRPr sz="1300">
                <a:solidFill>
                  <a:srgbClr val="000000"/>
                </a:solidFill>
                <a:latin typeface="Times New Roman"/>
              </a:defRPr>
              <a:buChar char="•"/>
            </a:pPr>
            <a:r>
              <a:t>Waiting time</a:t>
            </a:r>
          </a:p>
          <a:p>
            <a:pPr>
              <a:spcAft>
                <a:spcPts val="600"/>
              </a:spcAft>
              <a:defRPr sz="1300">
                <a:solidFill>
                  <a:srgbClr val="000000"/>
                </a:solidFill>
                <a:latin typeface="Times New Roman"/>
              </a:defRPr>
              <a:buChar char="•"/>
            </a:pPr>
            <a:r>
              <a:t>% improvement over baseline</a:t>
            </a:r>
          </a:p>
        </p:txBody>
      </p:sp>
      <p:sp>
        <p:nvSpPr>
          <p:cNvPr id="11" name="TextBox 10"/>
          <p:cNvSpPr txBox="1"/>
          <p:nvPr/>
        </p:nvSpPr>
        <p:spPr>
          <a:xfrm>
            <a:off x="8046720" y="1554480"/>
            <a:ext cx="3657600" cy="274320"/>
          </a:xfrm>
          <a:prstGeom prst="rect">
            <a:avLst/>
          </a:prstGeom>
          <a:noFill/>
        </p:spPr>
        <p:txBody>
          <a:bodyPr wrap="square">
            <a:spAutoFit/>
          </a:bodyPr>
          <a:lstStyle/>
          <a:p>
            <a:pPr algn="l">
              <a:defRPr sz="1500" b="1" i="0">
                <a:solidFill>
                  <a:srgbClr val="7030A0"/>
                </a:solidFill>
                <a:latin typeface="Times New Roman"/>
              </a:defRPr>
            </a:pPr>
            <a:r>
              <a:t>System Evaluation:</a:t>
            </a:r>
          </a:p>
        </p:txBody>
      </p:sp>
      <p:sp>
        <p:nvSpPr>
          <p:cNvPr id="12" name="TextBox 11"/>
          <p:cNvSpPr txBox="1"/>
          <p:nvPr/>
        </p:nvSpPr>
        <p:spPr>
          <a:xfrm>
            <a:off x="8138160" y="1920240"/>
            <a:ext cx="3474720" cy="2286000"/>
          </a:xfrm>
          <a:prstGeom prst="rect">
            <a:avLst/>
          </a:prstGeom>
          <a:noFill/>
        </p:spPr>
        <p:txBody>
          <a:bodyPr wrap="square">
            <a:spAutoFit/>
          </a:bodyPr>
          <a:lstStyle/>
          <a:p>
            <a:pPr>
              <a:spcAft>
                <a:spcPts val="600"/>
              </a:spcAft>
              <a:defRPr sz="1300">
                <a:solidFill>
                  <a:srgbClr val="000000"/>
                </a:solidFill>
                <a:latin typeface="Times New Roman"/>
              </a:defRPr>
              <a:buChar char="•"/>
            </a:pPr>
            <a:r>
              <a:t>API response time</a:t>
            </a:r>
          </a:p>
          <a:p>
            <a:pPr>
              <a:spcAft>
                <a:spcPts val="600"/>
              </a:spcAft>
              <a:defRPr sz="1300">
                <a:solidFill>
                  <a:srgbClr val="000000"/>
                </a:solidFill>
                <a:latin typeface="Times New Roman"/>
              </a:defRPr>
              <a:buChar char="•"/>
            </a:pPr>
            <a:r>
              <a:t>Dashboard load time</a:t>
            </a:r>
          </a:p>
          <a:p>
            <a:pPr>
              <a:spcAft>
                <a:spcPts val="600"/>
              </a:spcAft>
              <a:defRPr sz="1300">
                <a:solidFill>
                  <a:srgbClr val="000000"/>
                </a:solidFill>
                <a:latin typeface="Times New Roman"/>
              </a:defRPr>
              <a:buChar char="•"/>
            </a:pPr>
            <a:r>
              <a:t>Role-based access control</a:t>
            </a:r>
          </a:p>
          <a:p>
            <a:pPr>
              <a:spcAft>
                <a:spcPts val="600"/>
              </a:spcAft>
              <a:defRPr sz="1300">
                <a:solidFill>
                  <a:srgbClr val="000000"/>
                </a:solidFill>
                <a:latin typeface="Times New Roman"/>
              </a:defRPr>
              <a:buChar char="•"/>
            </a:pPr>
            <a:r>
              <a:t>Data validation</a:t>
            </a:r>
          </a:p>
        </p:txBody>
      </p:sp>
      <p:sp>
        <p:nvSpPr>
          <p:cNvPr id="13" name="TextBox 12"/>
          <p:cNvSpPr txBox="1"/>
          <p:nvPr/>
        </p:nvSpPr>
        <p:spPr>
          <a:xfrm>
            <a:off x="640080" y="4572000"/>
            <a:ext cx="10515600" cy="640080"/>
          </a:xfrm>
          <a:prstGeom prst="rect">
            <a:avLst/>
          </a:prstGeom>
          <a:noFill/>
        </p:spPr>
        <p:txBody>
          <a:bodyPr wrap="square">
            <a:spAutoFit/>
          </a:bodyPr>
          <a:lstStyle/>
          <a:p>
            <a:pPr algn="l">
              <a:defRPr sz="1400" b="0" i="0">
                <a:solidFill>
                  <a:srgbClr val="333333"/>
                </a:solidFill>
                <a:latin typeface="Times New Roman"/>
              </a:defRPr>
            </a:pPr>
            <a:r>
              <a:t>Important: these are our evaluation criteria and planning targets. The values shown are not achieved results. We will only report actual numbers after implementation and testing. The baseline for route comparison will be a nearest-neighbour heuristic and a simulated manual planning approach.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10</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Architecture</a:t>
            </a:r>
          </a:p>
        </p:txBody>
      </p:sp>
      <p:sp>
        <p:nvSpPr>
          <p:cNvPr id="6" name="TextBox 5"/>
          <p:cNvSpPr txBox="1"/>
          <p:nvPr/>
        </p:nvSpPr>
        <p:spPr>
          <a:xfrm>
            <a:off x="640080" y="1097280"/>
            <a:ext cx="10515600" cy="274320"/>
          </a:xfrm>
          <a:prstGeom prst="rect">
            <a:avLst/>
          </a:prstGeom>
          <a:noFill/>
        </p:spPr>
        <p:txBody>
          <a:bodyPr wrap="square">
            <a:spAutoFit/>
          </a:bodyPr>
          <a:lstStyle/>
          <a:p>
            <a:pPr algn="l">
              <a:defRPr sz="1600" b="1" i="0">
                <a:solidFill>
                  <a:srgbClr val="000000"/>
                </a:solidFill>
                <a:latin typeface="Times New Roman"/>
              </a:defRPr>
            </a:pPr>
            <a:r>
              <a:t>Layered System Architecture:</a:t>
            </a:r>
          </a:p>
        </p:txBody>
      </p:sp>
      <p:sp>
        <p:nvSpPr>
          <p:cNvPr id="7" name="TextBox 6"/>
          <p:cNvSpPr txBox="1"/>
          <p:nvPr/>
        </p:nvSpPr>
        <p:spPr>
          <a:xfrm>
            <a:off x="1371600" y="1554480"/>
            <a:ext cx="9144000" cy="228600"/>
          </a:xfrm>
          <a:prstGeom prst="rect">
            <a:avLst/>
          </a:prstGeom>
          <a:noFill/>
        </p:spPr>
        <p:txBody>
          <a:bodyPr wrap="square">
            <a:spAutoFit/>
          </a:bodyPr>
          <a:lstStyle/>
          <a:p>
            <a:pPr algn="l">
              <a:defRPr sz="1400" b="0" i="0">
                <a:solidFill>
                  <a:srgbClr val="333333"/>
                </a:solidFill>
                <a:latin typeface="Times New Roman"/>
              </a:defRPr>
            </a:pPr>
            <a:r>
              <a:t>Users: Medical Representative, Doctor, Manager</a:t>
            </a:r>
          </a:p>
        </p:txBody>
      </p:sp>
      <p:sp>
        <p:nvSpPr>
          <p:cNvPr id="8" name="TextBox 7"/>
          <p:cNvSpPr txBox="1"/>
          <p:nvPr/>
        </p:nvSpPr>
        <p:spPr>
          <a:xfrm>
            <a:off x="1371600" y="1828800"/>
            <a:ext cx="9144000" cy="228600"/>
          </a:xfrm>
          <a:prstGeom prst="rect">
            <a:avLst/>
          </a:prstGeom>
          <a:noFill/>
        </p:spPr>
        <p:txBody>
          <a:bodyPr wrap="square">
            <a:spAutoFit/>
          </a:bodyPr>
          <a:lstStyle/>
          <a:p>
            <a:pPr algn="l">
              <a:defRPr sz="1400" b="0" i="0">
                <a:solidFill>
                  <a:srgbClr val="333333"/>
                </a:solidFill>
                <a:latin typeface="Times New Roman"/>
              </a:defRPr>
            </a:pPr>
            <a:r>
              <a:t>      |</a:t>
            </a:r>
          </a:p>
        </p:txBody>
      </p:sp>
      <p:sp>
        <p:nvSpPr>
          <p:cNvPr id="9" name="TextBox 8"/>
          <p:cNvSpPr txBox="1"/>
          <p:nvPr/>
        </p:nvSpPr>
        <p:spPr>
          <a:xfrm>
            <a:off x="1371600" y="2103120"/>
            <a:ext cx="9144000" cy="228600"/>
          </a:xfrm>
          <a:prstGeom prst="rect">
            <a:avLst/>
          </a:prstGeom>
          <a:noFill/>
        </p:spPr>
        <p:txBody>
          <a:bodyPr wrap="square">
            <a:spAutoFit/>
          </a:bodyPr>
          <a:lstStyle/>
          <a:p>
            <a:pPr algn="l">
              <a:defRPr sz="1400" b="0" i="0">
                <a:solidFill>
                  <a:srgbClr val="333333"/>
                </a:solidFill>
                <a:latin typeface="Times New Roman"/>
              </a:defRPr>
            </a:pPr>
            <a:r>
              <a:t>      v</a:t>
            </a:r>
          </a:p>
        </p:txBody>
      </p:sp>
      <p:sp>
        <p:nvSpPr>
          <p:cNvPr id="10" name="TextBox 9"/>
          <p:cNvSpPr txBox="1"/>
          <p:nvPr/>
        </p:nvSpPr>
        <p:spPr>
          <a:xfrm>
            <a:off x="1371600" y="2377440"/>
            <a:ext cx="9144000" cy="228600"/>
          </a:xfrm>
          <a:prstGeom prst="rect">
            <a:avLst/>
          </a:prstGeom>
          <a:noFill/>
        </p:spPr>
        <p:txBody>
          <a:bodyPr wrap="square">
            <a:spAutoFit/>
          </a:bodyPr>
          <a:lstStyle/>
          <a:p>
            <a:pPr algn="l">
              <a:defRPr sz="1400" b="0" i="0">
                <a:solidFill>
                  <a:srgbClr val="333333"/>
                </a:solidFill>
                <a:latin typeface="Times New Roman"/>
              </a:defRPr>
            </a:pPr>
            <a:r>
              <a:t>React.js Frontend (role-based dashboards for MR, Doctor, Manager)</a:t>
            </a:r>
          </a:p>
        </p:txBody>
      </p:sp>
      <p:sp>
        <p:nvSpPr>
          <p:cNvPr id="11" name="TextBox 10"/>
          <p:cNvSpPr txBox="1"/>
          <p:nvPr/>
        </p:nvSpPr>
        <p:spPr>
          <a:xfrm>
            <a:off x="1371600" y="2651760"/>
            <a:ext cx="9144000" cy="228600"/>
          </a:xfrm>
          <a:prstGeom prst="rect">
            <a:avLst/>
          </a:prstGeom>
          <a:noFill/>
        </p:spPr>
        <p:txBody>
          <a:bodyPr wrap="square">
            <a:spAutoFit/>
          </a:bodyPr>
          <a:lstStyle/>
          <a:p>
            <a:pPr algn="l">
              <a:defRPr sz="1400" b="0" i="0">
                <a:solidFill>
                  <a:srgbClr val="333333"/>
                </a:solidFill>
                <a:latin typeface="Times New Roman"/>
              </a:defRPr>
            </a:pPr>
            <a:r>
              <a:t>      |  REST APIs</a:t>
            </a:r>
          </a:p>
        </p:txBody>
      </p:sp>
      <p:sp>
        <p:nvSpPr>
          <p:cNvPr id="12" name="TextBox 11"/>
          <p:cNvSpPr txBox="1"/>
          <p:nvPr/>
        </p:nvSpPr>
        <p:spPr>
          <a:xfrm>
            <a:off x="1371600" y="2926080"/>
            <a:ext cx="9144000" cy="228600"/>
          </a:xfrm>
          <a:prstGeom prst="rect">
            <a:avLst/>
          </a:prstGeom>
          <a:noFill/>
        </p:spPr>
        <p:txBody>
          <a:bodyPr wrap="square">
            <a:spAutoFit/>
          </a:bodyPr>
          <a:lstStyle/>
          <a:p>
            <a:pPr algn="l">
              <a:defRPr sz="1400" b="0" i="0">
                <a:solidFill>
                  <a:srgbClr val="333333"/>
                </a:solidFill>
                <a:latin typeface="Times New Roman"/>
              </a:defRPr>
            </a:pPr>
            <a:r>
              <a:t>      v</a:t>
            </a:r>
          </a:p>
        </p:txBody>
      </p:sp>
      <p:sp>
        <p:nvSpPr>
          <p:cNvPr id="13" name="TextBox 12"/>
          <p:cNvSpPr txBox="1"/>
          <p:nvPr/>
        </p:nvSpPr>
        <p:spPr>
          <a:xfrm>
            <a:off x="1371600" y="3200400"/>
            <a:ext cx="9144000" cy="228600"/>
          </a:xfrm>
          <a:prstGeom prst="rect">
            <a:avLst/>
          </a:prstGeom>
          <a:noFill/>
        </p:spPr>
        <p:txBody>
          <a:bodyPr wrap="square">
            <a:spAutoFit/>
          </a:bodyPr>
          <a:lstStyle/>
          <a:p>
            <a:pPr algn="l">
              <a:defRPr sz="1400" b="0" i="0">
                <a:solidFill>
                  <a:srgbClr val="333333"/>
                </a:solidFill>
                <a:latin typeface="Times New Roman"/>
              </a:defRPr>
            </a:pPr>
            <a:r>
              <a:t>FastAPI Backend (authentication, business logic, model orchestration)</a:t>
            </a:r>
          </a:p>
        </p:txBody>
      </p:sp>
      <p:sp>
        <p:nvSpPr>
          <p:cNvPr id="14" name="TextBox 13"/>
          <p:cNvSpPr txBox="1"/>
          <p:nvPr/>
        </p:nvSpPr>
        <p:spPr>
          <a:xfrm>
            <a:off x="1371600" y="3474720"/>
            <a:ext cx="9144000" cy="228600"/>
          </a:xfrm>
          <a:prstGeom prst="rect">
            <a:avLst/>
          </a:prstGeom>
          <a:noFill/>
        </p:spPr>
        <p:txBody>
          <a:bodyPr wrap="square">
            <a:spAutoFit/>
          </a:bodyPr>
          <a:lstStyle/>
          <a:p>
            <a:pPr algn="l">
              <a:defRPr sz="1400" b="0" i="0">
                <a:solidFill>
                  <a:srgbClr val="333333"/>
                </a:solidFill>
                <a:latin typeface="Times New Roman"/>
              </a:defRPr>
            </a:pPr>
            <a:r>
              <a:t>      |</a:t>
            </a:r>
          </a:p>
        </p:txBody>
      </p:sp>
      <p:sp>
        <p:nvSpPr>
          <p:cNvPr id="15" name="TextBox 14"/>
          <p:cNvSpPr txBox="1"/>
          <p:nvPr/>
        </p:nvSpPr>
        <p:spPr>
          <a:xfrm>
            <a:off x="1371600" y="3749040"/>
            <a:ext cx="9144000" cy="228600"/>
          </a:xfrm>
          <a:prstGeom prst="rect">
            <a:avLst/>
          </a:prstGeom>
          <a:noFill/>
        </p:spPr>
        <p:txBody>
          <a:bodyPr wrap="square">
            <a:spAutoFit/>
          </a:bodyPr>
          <a:lstStyle/>
          <a:p>
            <a:pPr algn="l">
              <a:defRPr sz="1400" b="0" i="0">
                <a:solidFill>
                  <a:srgbClr val="333333"/>
                </a:solidFill>
                <a:latin typeface="Times New Roman"/>
              </a:defRPr>
            </a:pPr>
            <a:r>
              <a:t>      v</a:t>
            </a:r>
          </a:p>
        </p:txBody>
      </p:sp>
      <p:sp>
        <p:nvSpPr>
          <p:cNvPr id="16" name="TextBox 15"/>
          <p:cNvSpPr txBox="1"/>
          <p:nvPr/>
        </p:nvSpPr>
        <p:spPr>
          <a:xfrm>
            <a:off x="1371600" y="4023360"/>
            <a:ext cx="9144000" cy="228600"/>
          </a:xfrm>
          <a:prstGeom prst="rect">
            <a:avLst/>
          </a:prstGeom>
          <a:noFill/>
        </p:spPr>
        <p:txBody>
          <a:bodyPr wrap="square">
            <a:spAutoFit/>
          </a:bodyPr>
          <a:lstStyle/>
          <a:p>
            <a:pPr algn="l">
              <a:defRPr sz="1400" b="0" i="0">
                <a:solidFill>
                  <a:srgbClr val="333333"/>
                </a:solidFill>
                <a:latin typeface="Times New Roman"/>
              </a:defRPr>
            </a:pPr>
            <a:r>
              <a:t>Three backend services:</a:t>
            </a:r>
          </a:p>
        </p:txBody>
      </p:sp>
      <p:graphicFrame>
        <p:nvGraphicFramePr>
          <p:cNvPr id="17" name="Table 16"/>
          <p:cNvGraphicFramePr>
            <a:graphicFrameLocks noGrp="1"/>
          </p:cNvGraphicFramePr>
          <p:nvPr/>
        </p:nvGraphicFramePr>
        <p:xfrm>
          <a:off x="1371600" y="4389120"/>
          <a:ext cx="9144000" cy="1371600"/>
        </p:xfrm>
        <a:graphic>
          <a:graphicData uri="http://schemas.openxmlformats.org/drawingml/2006/table">
            <a:tbl>
              <a:tblPr firstRow="1" bandRow="1">
                <a:tableStyleId>{5C22544A-7EE6-4342-B048-85BDC9FD1C3A}</a:tableStyleId>
              </a:tblPr>
              <a:tblGrid>
                <a:gridCol w="3017520"/>
                <a:gridCol w="3017520"/>
                <a:gridCol w="3108960"/>
              </a:tblGrid>
              <a:tr h="685800">
                <a:tc>
                  <a:txBody>
                    <a:bodyPr/>
                    <a:lstStyle/>
                    <a:p>
                      <a:pPr>
                        <a:defRPr sz="1200" b="1">
                          <a:solidFill>
                            <a:srgbClr val="000000"/>
                          </a:solidFill>
                          <a:latin typeface="Times New Roman"/>
                        </a:defRPr>
                      </a:pPr>
                      <a:r>
                        <a:t>MySQL Database</a:t>
                      </a:r>
                    </a:p>
                  </a:txBody>
                  <a:tcPr>
                    <a:solidFill>
                      <a:srgbClr val="E8E0F0"/>
                    </a:solidFill>
                  </a:tcPr>
                </a:tc>
                <a:tc>
                  <a:txBody>
                    <a:bodyPr/>
                    <a:lstStyle/>
                    <a:p>
                      <a:pPr>
                        <a:defRPr sz="1200" b="1">
                          <a:solidFill>
                            <a:srgbClr val="000000"/>
                          </a:solidFill>
                          <a:latin typeface="Times New Roman"/>
                        </a:defRPr>
                      </a:pPr>
                      <a:r>
                        <a:t>Random Forest Engine</a:t>
                      </a:r>
                    </a:p>
                  </a:txBody>
                  <a:tcPr>
                    <a:solidFill>
                      <a:srgbClr val="E8E0F0"/>
                    </a:solidFill>
                  </a:tcPr>
                </a:tc>
                <a:tc>
                  <a:txBody>
                    <a:bodyPr/>
                    <a:lstStyle/>
                    <a:p>
                      <a:pPr>
                        <a:defRPr sz="1200" b="1">
                          <a:solidFill>
                            <a:srgbClr val="000000"/>
                          </a:solidFill>
                          <a:latin typeface="Times New Roman"/>
                        </a:defRPr>
                      </a:pPr>
                      <a:r>
                        <a:t>Google OR-Tools</a:t>
                      </a:r>
                    </a:p>
                  </a:txBody>
                  <a:tcPr>
                    <a:solidFill>
                      <a:srgbClr val="E8E0F0"/>
                    </a:solidFill>
                  </a:tcPr>
                </a:tc>
              </a:tr>
              <a:tr h="685800">
                <a:tc>
                  <a:txBody>
                    <a:bodyPr/>
                    <a:lstStyle/>
                    <a:p>
                      <a:pPr>
                        <a:defRPr sz="1100">
                          <a:solidFill>
                            <a:srgbClr val="333333"/>
                          </a:solidFill>
                          <a:latin typeface="Times New Roman"/>
                        </a:defRPr>
                      </a:pPr>
                      <a:r>
                        <a:t>Doctors, MRs, appointments, visit history</a:t>
                      </a:r>
                    </a:p>
                  </a:txBody>
                  <a:tcPr>
                    <a:solidFill>
                      <a:srgbClr val="FFFFFF"/>
                    </a:solidFill>
                  </a:tcPr>
                </a:tc>
                <a:tc>
                  <a:txBody>
                    <a:bodyPr/>
                    <a:lstStyle/>
                    <a:p>
                      <a:pPr>
                        <a:defRPr sz="1100">
                          <a:solidFill>
                            <a:srgbClr val="333333"/>
                          </a:solidFill>
                          <a:latin typeface="Times New Roman"/>
                        </a:defRPr>
                      </a:pPr>
                      <a:r>
                        <a:t>Predicts visit-priority score per doctor</a:t>
                      </a:r>
                    </a:p>
                  </a:txBody>
                  <a:tcPr>
                    <a:solidFill>
                      <a:srgbClr val="FFFFFF"/>
                    </a:solidFill>
                  </a:tcPr>
                </a:tc>
                <a:tc>
                  <a:txBody>
                    <a:bodyPr/>
                    <a:lstStyle/>
                    <a:p>
                      <a:pPr>
                        <a:defRPr sz="1100">
                          <a:solidFill>
                            <a:srgbClr val="333333"/>
                          </a:solidFill>
                          <a:latin typeface="Times New Roman"/>
                        </a:defRPr>
                      </a:pPr>
                      <a:r>
                        <a:t>VRPTW route optimization with constraints</a:t>
                      </a:r>
                    </a:p>
                  </a:txBody>
                  <a:tcPr>
                    <a:solidFill>
                      <a:srgbClr val="FFFFFF"/>
                    </a:solidFill>
                  </a:tcPr>
                </a:tc>
              </a:tr>
            </a:tbl>
          </a:graphicData>
        </a:graphic>
      </p:graphicFrame>
      <p:sp>
        <p:nvSpPr>
          <p:cNvPr id="18" name="TextBox 17"/>
          <p:cNvSpPr txBox="1"/>
          <p:nvPr/>
        </p:nvSpPr>
        <p:spPr>
          <a:xfrm>
            <a:off x="640080" y="5943600"/>
            <a:ext cx="10515600" cy="365760"/>
          </a:xfrm>
          <a:prstGeom prst="rect">
            <a:avLst/>
          </a:prstGeom>
          <a:noFill/>
        </p:spPr>
        <p:txBody>
          <a:bodyPr wrap="square">
            <a:spAutoFit/>
          </a:bodyPr>
          <a:lstStyle/>
          <a:p>
            <a:pPr algn="l">
              <a:defRPr sz="1400" b="0" i="0">
                <a:solidFill>
                  <a:srgbClr val="333333"/>
                </a:solidFill>
                <a:latin typeface="Times New Roman"/>
              </a:defRPr>
            </a:pPr>
            <a:r>
              <a:t>Key point: the ML model and OR-Tools are separate modules. The model scores visits, the optimizer sequences them. Either can be improved or replaced without affecting the other.</a:t>
            </a:r>
          </a:p>
        </p:txBody>
      </p:sp>
      <p:pic>
        <p:nvPicPr>
          <p:cNvPr id="19" name="Picture 18" descr="architecture_diagram_1788999294989.jpg"/>
          <p:cNvPicPr>
            <a:picLocks noChangeAspect="1"/>
          </p:cNvPicPr>
          <p:nvPr/>
        </p:nvPicPr>
        <p:blipFill>
          <a:blip r:embed="rId2"/>
          <a:stretch>
            <a:fillRect/>
          </a:stretch>
        </p:blipFill>
        <p:spPr>
          <a:xfrm>
            <a:off x="914400" y="1371600"/>
            <a:ext cx="10058400" cy="4389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11</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References</a:t>
            </a:r>
          </a:p>
        </p:txBody>
      </p:sp>
      <p:sp>
        <p:nvSpPr>
          <p:cNvPr id="6" name="TextBox 5"/>
          <p:cNvSpPr txBox="1"/>
          <p:nvPr/>
        </p:nvSpPr>
        <p:spPr>
          <a:xfrm>
            <a:off x="640080" y="1280160"/>
            <a:ext cx="10515600" cy="502920"/>
          </a:xfrm>
          <a:prstGeom prst="rect">
            <a:avLst/>
          </a:prstGeom>
          <a:noFill/>
        </p:spPr>
        <p:txBody>
          <a:bodyPr wrap="square">
            <a:spAutoFit/>
          </a:bodyPr>
          <a:lstStyle/>
          <a:p>
            <a:pPr algn="l">
              <a:defRPr sz="1300" b="0" i="0">
                <a:solidFill>
                  <a:srgbClr val="333333"/>
                </a:solidFill>
                <a:latin typeface="Times New Roman"/>
              </a:defRPr>
            </a:pPr>
            <a:r>
              <a:t>[1]  J. C. Yi, G. Anandalingam, and L. A. Sorrell, "An expert system to physician-detailing planning," Expert Systems with Applications, vol. 25, no. 4, pp. 533-544, 2003.</a:t>
            </a:r>
          </a:p>
        </p:txBody>
      </p:sp>
      <p:sp>
        <p:nvSpPr>
          <p:cNvPr id="7" name="TextBox 6"/>
          <p:cNvSpPr txBox="1"/>
          <p:nvPr/>
        </p:nvSpPr>
        <p:spPr>
          <a:xfrm>
            <a:off x="640080" y="1920240"/>
            <a:ext cx="10515600" cy="502920"/>
          </a:xfrm>
          <a:prstGeom prst="rect">
            <a:avLst/>
          </a:prstGeom>
          <a:noFill/>
        </p:spPr>
        <p:txBody>
          <a:bodyPr wrap="square">
            <a:spAutoFit/>
          </a:bodyPr>
          <a:lstStyle/>
          <a:p>
            <a:pPr algn="l">
              <a:defRPr sz="1300" b="0" i="0">
                <a:solidFill>
                  <a:srgbClr val="333333"/>
                </a:solidFill>
                <a:latin typeface="Times New Roman"/>
              </a:defRPr>
            </a:pPr>
            <a:r>
              <a:t>[2]  S. Zhang, J. W. Ohlmann, and B. W. Thomas, "A priori orienteering with time windows and stochastic wait times at customers," European J. of OR, vol. 239, no. 1, pp. 70-79, 2014.</a:t>
            </a:r>
          </a:p>
        </p:txBody>
      </p:sp>
      <p:sp>
        <p:nvSpPr>
          <p:cNvPr id="8" name="TextBox 7"/>
          <p:cNvSpPr txBox="1"/>
          <p:nvPr/>
        </p:nvSpPr>
        <p:spPr>
          <a:xfrm>
            <a:off x="640080" y="2560320"/>
            <a:ext cx="10515600" cy="502920"/>
          </a:xfrm>
          <a:prstGeom prst="rect">
            <a:avLst/>
          </a:prstGeom>
          <a:noFill/>
        </p:spPr>
        <p:txBody>
          <a:bodyPr wrap="square">
            <a:spAutoFit/>
          </a:bodyPr>
          <a:lstStyle/>
          <a:p>
            <a:pPr algn="l">
              <a:defRPr sz="1300" b="0" i="0">
                <a:solidFill>
                  <a:srgbClr val="333333"/>
                </a:solidFill>
                <a:latin typeface="Times New Roman"/>
              </a:defRPr>
            </a:pPr>
            <a:r>
              <a:t>[3]  A. Bouatouche and A. Belkadi, "A hybrid firefly algorithm for the sales representative planning problem," 2025.</a:t>
            </a:r>
          </a:p>
        </p:txBody>
      </p:sp>
      <p:sp>
        <p:nvSpPr>
          <p:cNvPr id="9" name="TextBox 8"/>
          <p:cNvSpPr txBox="1"/>
          <p:nvPr/>
        </p:nvSpPr>
        <p:spPr>
          <a:xfrm>
            <a:off x="640080" y="3200400"/>
            <a:ext cx="10515600" cy="502920"/>
          </a:xfrm>
          <a:prstGeom prst="rect">
            <a:avLst/>
          </a:prstGeom>
          <a:noFill/>
        </p:spPr>
        <p:txBody>
          <a:bodyPr wrap="square">
            <a:spAutoFit/>
          </a:bodyPr>
          <a:lstStyle/>
          <a:p>
            <a:pPr algn="l">
              <a:defRPr sz="1300" b="0" i="0">
                <a:solidFill>
                  <a:srgbClr val="333333"/>
                </a:solidFill>
                <a:latin typeface="Times New Roman"/>
              </a:defRPr>
            </a:pPr>
            <a:r>
              <a:t>[4]  X. Liu et al., "A Systematic Literature Review of Vehicle Routing Problems with Time Windows," Sustainability, vol. 15, no. 15, 2023.</a:t>
            </a:r>
          </a:p>
        </p:txBody>
      </p:sp>
      <p:sp>
        <p:nvSpPr>
          <p:cNvPr id="10" name="TextBox 9"/>
          <p:cNvSpPr txBox="1"/>
          <p:nvPr/>
        </p:nvSpPr>
        <p:spPr>
          <a:xfrm>
            <a:off x="640080" y="3840480"/>
            <a:ext cx="10515600" cy="502920"/>
          </a:xfrm>
          <a:prstGeom prst="rect">
            <a:avLst/>
          </a:prstGeom>
          <a:noFill/>
        </p:spPr>
        <p:txBody>
          <a:bodyPr wrap="square">
            <a:spAutoFit/>
          </a:bodyPr>
          <a:lstStyle/>
          <a:p>
            <a:pPr algn="l">
              <a:defRPr sz="1300" b="0" i="0">
                <a:solidFill>
                  <a:srgbClr val="333333"/>
                </a:solidFill>
                <a:latin typeface="Times New Roman"/>
              </a:defRPr>
            </a:pPr>
            <a:r>
              <a:t>[5]  A. Ala and F. Chen, "Appointment Scheduling Problem in Complexity Systems of the Healthcare Services," 2022.</a:t>
            </a:r>
          </a:p>
        </p:txBody>
      </p:sp>
      <p:sp>
        <p:nvSpPr>
          <p:cNvPr id="11" name="TextBox 10"/>
          <p:cNvSpPr txBox="1"/>
          <p:nvPr/>
        </p:nvSpPr>
        <p:spPr>
          <a:xfrm>
            <a:off x="640080" y="4480560"/>
            <a:ext cx="10515600" cy="502920"/>
          </a:xfrm>
          <a:prstGeom prst="rect">
            <a:avLst/>
          </a:prstGeom>
          <a:noFill/>
        </p:spPr>
        <p:txBody>
          <a:bodyPr wrap="square">
            <a:spAutoFit/>
          </a:bodyPr>
          <a:lstStyle/>
          <a:p>
            <a:pPr algn="l">
              <a:defRPr sz="1300" b="0" i="0">
                <a:solidFill>
                  <a:srgbClr val="333333"/>
                </a:solidFill>
                <a:latin typeface="Times New Roman"/>
              </a:defRPr>
            </a:pPr>
            <a:r>
              <a:t>[6]  Google OR-Tools Documentation, "Vehicle Routing Problem with Time Windows (VRPTW)."</a:t>
            </a:r>
          </a:p>
        </p:txBody>
      </p:sp>
      <p:sp>
        <p:nvSpPr>
          <p:cNvPr id="12" name="TextBox 11"/>
          <p:cNvSpPr txBox="1"/>
          <p:nvPr/>
        </p:nvSpPr>
        <p:spPr>
          <a:xfrm>
            <a:off x="640080" y="5486400"/>
            <a:ext cx="10515600" cy="274320"/>
          </a:xfrm>
          <a:prstGeom prst="rect">
            <a:avLst/>
          </a:prstGeom>
          <a:noFill/>
        </p:spPr>
        <p:txBody>
          <a:bodyPr wrap="square">
            <a:spAutoFit/>
          </a:bodyPr>
          <a:lstStyle/>
          <a:p>
            <a:pPr algn="l">
              <a:defRPr sz="1200" b="0" i="0">
                <a:solidFill>
                  <a:srgbClr val="666666"/>
                </a:solidFill>
                <a:latin typeface="Times New Roman"/>
              </a:defRPr>
            </a:pPr>
            <a:r>
              <a:t>Complete bibliographic details with DOIs will be provided in the final project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228600"/>
          </a:xfrm>
          <a:prstGeom prst="rect">
            <a:avLst/>
          </a:prstGeom>
          <a:noFill/>
        </p:spPr>
        <p:txBody>
          <a:bodyPr wrap="square">
            <a:spAutoFit/>
          </a:bodyPr>
          <a:lstStyle/>
          <a:p>
            <a:pPr algn="l">
              <a:defRPr sz="1000" b="0" i="1">
                <a:solidFill>
                  <a:srgbClr val="666666"/>
                </a:solidFill>
                <a:latin typeface="Times New Roman"/>
              </a:defRPr>
            </a:pPr>
            <a:r>
              <a:t>AI-Based Medical Representative Visit Prioritization &amp; Route Optimization System</a:t>
            </a:r>
          </a:p>
        </p:txBody>
      </p:sp>
      <p:sp>
        <p:nvSpPr>
          <p:cNvPr id="3" name="Rectangle 2"/>
          <p:cNvSpPr/>
          <p:nvPr/>
        </p:nvSpPr>
        <p:spPr>
          <a:xfrm>
            <a:off x="457200" y="384048"/>
            <a:ext cx="11247120" cy="9525"/>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12</a:t>
            </a:r>
          </a:p>
        </p:txBody>
      </p:sp>
      <p:sp>
        <p:nvSpPr>
          <p:cNvPr id="5" name="TextBox 4"/>
          <p:cNvSpPr txBox="1"/>
          <p:nvPr/>
        </p:nvSpPr>
        <p:spPr>
          <a:xfrm>
            <a:off x="457200" y="502920"/>
            <a:ext cx="10972800" cy="502920"/>
          </a:xfrm>
          <a:prstGeom prst="rect">
            <a:avLst/>
          </a:prstGeom>
          <a:noFill/>
        </p:spPr>
        <p:txBody>
          <a:bodyPr wrap="square">
            <a:spAutoFit/>
          </a:bodyPr>
          <a:lstStyle/>
          <a:p>
            <a:pPr algn="l">
              <a:defRPr sz="2800" b="0" i="0">
                <a:solidFill>
                  <a:srgbClr val="7030A0"/>
                </a:solidFill>
                <a:latin typeface="Times New Roman"/>
              </a:defRPr>
            </a:pPr>
            <a:r>
              <a:t>Project Plan 1.0</a:t>
            </a:r>
          </a:p>
        </p:txBody>
      </p:sp>
      <p:graphicFrame>
        <p:nvGraphicFramePr>
          <p:cNvPr id="6" name="Table 5"/>
          <p:cNvGraphicFramePr>
            <a:graphicFrameLocks noGrp="1"/>
          </p:cNvGraphicFramePr>
          <p:nvPr/>
        </p:nvGraphicFramePr>
        <p:xfrm>
          <a:off x="457200" y="1188720"/>
          <a:ext cx="11247120" cy="4114800"/>
        </p:xfrm>
        <a:graphic>
          <a:graphicData uri="http://schemas.openxmlformats.org/drawingml/2006/table">
            <a:tbl>
              <a:tblPr firstRow="1" bandRow="1">
                <a:tableStyleId>{5C22544A-7EE6-4342-B048-85BDC9FD1C3A}</a:tableStyleId>
              </a:tblPr>
              <a:tblGrid>
                <a:gridCol w="1828800"/>
                <a:gridCol w="1371600"/>
                <a:gridCol w="8046720"/>
              </a:tblGrid>
              <a:tr h="457200">
                <a:tc>
                  <a:txBody>
                    <a:bodyPr/>
                    <a:lstStyle/>
                    <a:p>
                      <a:pPr>
                        <a:defRPr sz="1200" b="1">
                          <a:solidFill>
                            <a:srgbClr val="000000"/>
                          </a:solidFill>
                          <a:latin typeface="Times New Roman"/>
                        </a:defRPr>
                      </a:pPr>
                      <a:r>
                        <a:t>Phase</a:t>
                      </a:r>
                    </a:p>
                  </a:txBody>
                  <a:tcPr>
                    <a:solidFill>
                      <a:srgbClr val="E8E0F0"/>
                    </a:solidFill>
                  </a:tcPr>
                </a:tc>
                <a:tc>
                  <a:txBody>
                    <a:bodyPr/>
                    <a:lstStyle/>
                    <a:p>
                      <a:pPr>
                        <a:defRPr sz="1200" b="1">
                          <a:solidFill>
                            <a:srgbClr val="000000"/>
                          </a:solidFill>
                          <a:latin typeface="Times New Roman"/>
                        </a:defRPr>
                      </a:pPr>
                      <a:r>
                        <a:t>Duration</a:t>
                      </a:r>
                    </a:p>
                  </a:txBody>
                  <a:tcPr>
                    <a:solidFill>
                      <a:srgbClr val="E8E0F0"/>
                    </a:solidFill>
                  </a:tcPr>
                </a:tc>
                <a:tc>
                  <a:txBody>
                    <a:bodyPr/>
                    <a:lstStyle/>
                    <a:p>
                      <a:pPr>
                        <a:defRPr sz="1200" b="1">
                          <a:solidFill>
                            <a:srgbClr val="000000"/>
                          </a:solidFill>
                          <a:latin typeface="Times New Roman"/>
                        </a:defRPr>
                      </a:pPr>
                      <a:r>
                        <a:t>Work</a:t>
                      </a:r>
                    </a:p>
                  </a:txBody>
                  <a:tcPr>
                    <a:solidFill>
                      <a:srgbClr val="E8E0F0"/>
                    </a:solidFill>
                  </a:tcPr>
                </a:tc>
              </a:tr>
              <a:tr h="457200">
                <a:tc>
                  <a:txBody>
                    <a:bodyPr/>
                    <a:lstStyle/>
                    <a:p>
                      <a:pPr>
                        <a:defRPr sz="1100">
                          <a:solidFill>
                            <a:srgbClr val="333333"/>
                          </a:solidFill>
                          <a:latin typeface="Times New Roman"/>
                        </a:defRPr>
                      </a:pPr>
                      <a:r>
                        <a:t>Research</a:t>
                      </a:r>
                    </a:p>
                  </a:txBody>
                  <a:tcPr>
                    <a:solidFill>
                      <a:srgbClr val="FFFFFF"/>
                    </a:solidFill>
                  </a:tcPr>
                </a:tc>
                <a:tc>
                  <a:txBody>
                    <a:bodyPr/>
                    <a:lstStyle/>
                    <a:p>
                      <a:pPr>
                        <a:defRPr sz="1100">
                          <a:solidFill>
                            <a:srgbClr val="333333"/>
                          </a:solidFill>
                          <a:latin typeface="Times New Roman"/>
                        </a:defRPr>
                      </a:pPr>
                      <a:r>
                        <a:t>Weeks 1-2</a:t>
                      </a:r>
                    </a:p>
                  </a:txBody>
                  <a:tcPr>
                    <a:solidFill>
                      <a:srgbClr val="FFFFFF"/>
                    </a:solidFill>
                  </a:tcPr>
                </a:tc>
                <a:tc>
                  <a:txBody>
                    <a:bodyPr/>
                    <a:lstStyle/>
                    <a:p>
                      <a:pPr>
                        <a:defRPr sz="1100">
                          <a:solidFill>
                            <a:srgbClr val="333333"/>
                          </a:solidFill>
                          <a:latin typeface="Times New Roman"/>
                        </a:defRPr>
                      </a:pPr>
                      <a:r>
                        <a:t>Literature survey, problem finalization, requirement analysis</a:t>
                      </a:r>
                    </a:p>
                  </a:txBody>
                  <a:tcPr>
                    <a:solidFill>
                      <a:srgbClr val="FFFFFF"/>
                    </a:solidFill>
                  </a:tcPr>
                </a:tc>
              </a:tr>
              <a:tr h="457200">
                <a:tc>
                  <a:txBody>
                    <a:bodyPr/>
                    <a:lstStyle/>
                    <a:p>
                      <a:pPr>
                        <a:defRPr sz="1100">
                          <a:solidFill>
                            <a:srgbClr val="333333"/>
                          </a:solidFill>
                          <a:latin typeface="Times New Roman"/>
                        </a:defRPr>
                      </a:pPr>
                      <a:r>
                        <a:t>Dataset</a:t>
                      </a:r>
                    </a:p>
                  </a:txBody>
                  <a:tcPr>
                    <a:solidFill>
                      <a:srgbClr val="FFFFFF"/>
                    </a:solidFill>
                  </a:tcPr>
                </a:tc>
                <a:tc>
                  <a:txBody>
                    <a:bodyPr/>
                    <a:lstStyle/>
                    <a:p>
                      <a:pPr>
                        <a:defRPr sz="1100">
                          <a:solidFill>
                            <a:srgbClr val="333333"/>
                          </a:solidFill>
                          <a:latin typeface="Times New Roman"/>
                        </a:defRPr>
                      </a:pPr>
                      <a:r>
                        <a:t>Weeks 3-4</a:t>
                      </a:r>
                    </a:p>
                  </a:txBody>
                  <a:tcPr>
                    <a:solidFill>
                      <a:srgbClr val="FFFFFF"/>
                    </a:solidFill>
                  </a:tcPr>
                </a:tc>
                <a:tc>
                  <a:txBody>
                    <a:bodyPr/>
                    <a:lstStyle/>
                    <a:p>
                      <a:pPr>
                        <a:defRPr sz="1100">
                          <a:solidFill>
                            <a:srgbClr val="333333"/>
                          </a:solidFill>
                          <a:latin typeface="Times New Roman"/>
                        </a:defRPr>
                      </a:pPr>
                      <a:r>
                        <a:t>Dataset identification, acquisition, cleaning, preprocessing</a:t>
                      </a:r>
                    </a:p>
                  </a:txBody>
                  <a:tcPr>
                    <a:solidFill>
                      <a:srgbClr val="FFFFFF"/>
                    </a:solidFill>
                  </a:tcPr>
                </a:tc>
              </a:tr>
              <a:tr h="457200">
                <a:tc>
                  <a:txBody>
                    <a:bodyPr/>
                    <a:lstStyle/>
                    <a:p>
                      <a:pPr>
                        <a:defRPr sz="1100">
                          <a:solidFill>
                            <a:srgbClr val="333333"/>
                          </a:solidFill>
                          <a:latin typeface="Times New Roman"/>
                        </a:defRPr>
                      </a:pPr>
                      <a:r>
                        <a:t>ML Model</a:t>
                      </a:r>
                    </a:p>
                  </a:txBody>
                  <a:tcPr>
                    <a:solidFill>
                      <a:srgbClr val="FFFFFF"/>
                    </a:solidFill>
                  </a:tcPr>
                </a:tc>
                <a:tc>
                  <a:txBody>
                    <a:bodyPr/>
                    <a:lstStyle/>
                    <a:p>
                      <a:pPr>
                        <a:defRPr sz="1100">
                          <a:solidFill>
                            <a:srgbClr val="333333"/>
                          </a:solidFill>
                          <a:latin typeface="Times New Roman"/>
                        </a:defRPr>
                      </a:pPr>
                      <a:r>
                        <a:t>Weeks 5-7</a:t>
                      </a:r>
                    </a:p>
                  </a:txBody>
                  <a:tcPr>
                    <a:solidFill>
                      <a:srgbClr val="FFFFFF"/>
                    </a:solidFill>
                  </a:tcPr>
                </a:tc>
                <a:tc>
                  <a:txBody>
                    <a:bodyPr/>
                    <a:lstStyle/>
                    <a:p>
                      <a:pPr>
                        <a:defRPr sz="1100">
                          <a:solidFill>
                            <a:srgbClr val="333333"/>
                          </a:solidFill>
                          <a:latin typeface="Times New Roman"/>
                        </a:defRPr>
                      </a:pPr>
                      <a:r>
                        <a:t>Feature engineering, Random Forest training and evaluation</a:t>
                      </a:r>
                    </a:p>
                  </a:txBody>
                  <a:tcPr>
                    <a:solidFill>
                      <a:srgbClr val="FFFFFF"/>
                    </a:solidFill>
                  </a:tcPr>
                </a:tc>
              </a:tr>
              <a:tr h="457200">
                <a:tc>
                  <a:txBody>
                    <a:bodyPr/>
                    <a:lstStyle/>
                    <a:p>
                      <a:pPr>
                        <a:defRPr sz="1100">
                          <a:solidFill>
                            <a:srgbClr val="333333"/>
                          </a:solidFill>
                          <a:latin typeface="Times New Roman"/>
                        </a:defRPr>
                      </a:pPr>
                      <a:r>
                        <a:t>Optimization</a:t>
                      </a:r>
                    </a:p>
                  </a:txBody>
                  <a:tcPr>
                    <a:solidFill>
                      <a:srgbClr val="FFFFFF"/>
                    </a:solidFill>
                  </a:tcPr>
                </a:tc>
                <a:tc>
                  <a:txBody>
                    <a:bodyPr/>
                    <a:lstStyle/>
                    <a:p>
                      <a:pPr>
                        <a:defRPr sz="1100">
                          <a:solidFill>
                            <a:srgbClr val="333333"/>
                          </a:solidFill>
                          <a:latin typeface="Times New Roman"/>
                        </a:defRPr>
                      </a:pPr>
                      <a:r>
                        <a:t>Weeks 8-9</a:t>
                      </a:r>
                    </a:p>
                  </a:txBody>
                  <a:tcPr>
                    <a:solidFill>
                      <a:srgbClr val="FFFFFF"/>
                    </a:solidFill>
                  </a:tcPr>
                </a:tc>
                <a:tc>
                  <a:txBody>
                    <a:bodyPr/>
                    <a:lstStyle/>
                    <a:p>
                      <a:pPr>
                        <a:defRPr sz="1100">
                          <a:solidFill>
                            <a:srgbClr val="333333"/>
                          </a:solidFill>
                          <a:latin typeface="Times New Roman"/>
                        </a:defRPr>
                      </a:pPr>
                      <a:r>
                        <a:t>VRPTW formulation, Google OR-Tools implementation</a:t>
                      </a:r>
                    </a:p>
                  </a:txBody>
                  <a:tcPr>
                    <a:solidFill>
                      <a:srgbClr val="FFFFFF"/>
                    </a:solidFill>
                  </a:tcPr>
                </a:tc>
              </a:tr>
              <a:tr h="457200">
                <a:tc>
                  <a:txBody>
                    <a:bodyPr/>
                    <a:lstStyle/>
                    <a:p>
                      <a:pPr>
                        <a:defRPr sz="1100">
                          <a:solidFill>
                            <a:srgbClr val="333333"/>
                          </a:solidFill>
                          <a:latin typeface="Times New Roman"/>
                        </a:defRPr>
                      </a:pPr>
                      <a:r>
                        <a:t>Backend</a:t>
                      </a:r>
                    </a:p>
                  </a:txBody>
                  <a:tcPr>
                    <a:solidFill>
                      <a:srgbClr val="FFFFFF"/>
                    </a:solidFill>
                  </a:tcPr>
                </a:tc>
                <a:tc>
                  <a:txBody>
                    <a:bodyPr/>
                    <a:lstStyle/>
                    <a:p>
                      <a:pPr>
                        <a:defRPr sz="1100">
                          <a:solidFill>
                            <a:srgbClr val="333333"/>
                          </a:solidFill>
                          <a:latin typeface="Times New Roman"/>
                        </a:defRPr>
                      </a:pPr>
                      <a:r>
                        <a:t>Weeks 10-11</a:t>
                      </a:r>
                    </a:p>
                  </a:txBody>
                  <a:tcPr>
                    <a:solidFill>
                      <a:srgbClr val="FFFFFF"/>
                    </a:solidFill>
                  </a:tcPr>
                </a:tc>
                <a:tc>
                  <a:txBody>
                    <a:bodyPr/>
                    <a:lstStyle/>
                    <a:p>
                      <a:pPr>
                        <a:defRPr sz="1100">
                          <a:solidFill>
                            <a:srgbClr val="333333"/>
                          </a:solidFill>
                          <a:latin typeface="Times New Roman"/>
                        </a:defRPr>
                      </a:pPr>
                      <a:r>
                        <a:t>FastAPI REST endpoints, MySQL database design, authentication</a:t>
                      </a:r>
                    </a:p>
                  </a:txBody>
                  <a:tcPr>
                    <a:solidFill>
                      <a:srgbClr val="FFFFFF"/>
                    </a:solidFill>
                  </a:tcPr>
                </a:tc>
              </a:tr>
              <a:tr h="457200">
                <a:tc>
                  <a:txBody>
                    <a:bodyPr/>
                    <a:lstStyle/>
                    <a:p>
                      <a:pPr>
                        <a:defRPr sz="1100">
                          <a:solidFill>
                            <a:srgbClr val="333333"/>
                          </a:solidFill>
                          <a:latin typeface="Times New Roman"/>
                        </a:defRPr>
                      </a:pPr>
                      <a:r>
                        <a:t>Frontend</a:t>
                      </a:r>
                    </a:p>
                  </a:txBody>
                  <a:tcPr>
                    <a:solidFill>
                      <a:srgbClr val="FFFFFF"/>
                    </a:solidFill>
                  </a:tcPr>
                </a:tc>
                <a:tc>
                  <a:txBody>
                    <a:bodyPr/>
                    <a:lstStyle/>
                    <a:p>
                      <a:pPr>
                        <a:defRPr sz="1100">
                          <a:solidFill>
                            <a:srgbClr val="333333"/>
                          </a:solidFill>
                          <a:latin typeface="Times New Roman"/>
                        </a:defRPr>
                      </a:pPr>
                      <a:r>
                        <a:t>Weeks 12-13</a:t>
                      </a:r>
                    </a:p>
                  </a:txBody>
                  <a:tcPr>
                    <a:solidFill>
                      <a:srgbClr val="FFFFFF"/>
                    </a:solidFill>
                  </a:tcPr>
                </a:tc>
                <a:tc>
                  <a:txBody>
                    <a:bodyPr/>
                    <a:lstStyle/>
                    <a:p>
                      <a:pPr>
                        <a:defRPr sz="1100">
                          <a:solidFill>
                            <a:srgbClr val="333333"/>
                          </a:solidFill>
                          <a:latin typeface="Times New Roman"/>
                        </a:defRPr>
                      </a:pPr>
                      <a:r>
                        <a:t>React.js UI, MR dashboard, Manager dashboard</a:t>
                      </a:r>
                    </a:p>
                  </a:txBody>
                  <a:tcPr>
                    <a:solidFill>
                      <a:srgbClr val="FFFFFF"/>
                    </a:solidFill>
                  </a:tcPr>
                </a:tc>
              </a:tr>
              <a:tr h="457200">
                <a:tc>
                  <a:txBody>
                    <a:bodyPr/>
                    <a:lstStyle/>
                    <a:p>
                      <a:pPr>
                        <a:defRPr sz="1100">
                          <a:solidFill>
                            <a:srgbClr val="333333"/>
                          </a:solidFill>
                          <a:latin typeface="Times New Roman"/>
                        </a:defRPr>
                      </a:pPr>
                      <a:r>
                        <a:t>Integration</a:t>
                      </a:r>
                    </a:p>
                  </a:txBody>
                  <a:tcPr>
                    <a:solidFill>
                      <a:srgbClr val="FFFFFF"/>
                    </a:solidFill>
                  </a:tcPr>
                </a:tc>
                <a:tc>
                  <a:txBody>
                    <a:bodyPr/>
                    <a:lstStyle/>
                    <a:p>
                      <a:pPr>
                        <a:defRPr sz="1100">
                          <a:solidFill>
                            <a:srgbClr val="333333"/>
                          </a:solidFill>
                          <a:latin typeface="Times New Roman"/>
                        </a:defRPr>
                      </a:pPr>
                      <a:r>
                        <a:t>Weeks 14-15</a:t>
                      </a:r>
                    </a:p>
                  </a:txBody>
                  <a:tcPr>
                    <a:solidFill>
                      <a:srgbClr val="FFFFFF"/>
                    </a:solidFill>
                  </a:tcPr>
                </a:tc>
                <a:tc>
                  <a:txBody>
                    <a:bodyPr/>
                    <a:lstStyle/>
                    <a:p>
                      <a:pPr>
                        <a:defRPr sz="1100">
                          <a:solidFill>
                            <a:srgbClr val="333333"/>
                          </a:solidFill>
                          <a:latin typeface="Times New Roman"/>
                        </a:defRPr>
                      </a:pPr>
                      <a:r>
                        <a:t>Connect ML + optimizer + backend + frontend end-to-end</a:t>
                      </a:r>
                    </a:p>
                  </a:txBody>
                  <a:tcPr>
                    <a:solidFill>
                      <a:srgbClr val="FFFFFF"/>
                    </a:solidFill>
                  </a:tcPr>
                </a:tc>
              </a:tr>
              <a:tr h="457200">
                <a:tc>
                  <a:txBody>
                    <a:bodyPr/>
                    <a:lstStyle/>
                    <a:p>
                      <a:pPr>
                        <a:defRPr sz="1100">
                          <a:solidFill>
                            <a:srgbClr val="333333"/>
                          </a:solidFill>
                          <a:latin typeface="Times New Roman"/>
                        </a:defRPr>
                      </a:pPr>
                      <a:r>
                        <a:t>Testing</a:t>
                      </a:r>
                    </a:p>
                  </a:txBody>
                  <a:tcPr>
                    <a:solidFill>
                      <a:srgbClr val="FFFFFF"/>
                    </a:solidFill>
                  </a:tcPr>
                </a:tc>
                <a:tc>
                  <a:txBody>
                    <a:bodyPr/>
                    <a:lstStyle/>
                    <a:p>
                      <a:pPr>
                        <a:defRPr sz="1100">
                          <a:solidFill>
                            <a:srgbClr val="333333"/>
                          </a:solidFill>
                          <a:latin typeface="Times New Roman"/>
                        </a:defRPr>
                      </a:pPr>
                      <a:r>
                        <a:t>Weeks 16-17</a:t>
                      </a:r>
                    </a:p>
                  </a:txBody>
                  <a:tcPr>
                    <a:solidFill>
                      <a:srgbClr val="FFFFFF"/>
                    </a:solidFill>
                  </a:tcPr>
                </a:tc>
                <a:tc>
                  <a:txBody>
                    <a:bodyPr/>
                    <a:lstStyle/>
                    <a:p>
                      <a:pPr>
                        <a:defRPr sz="1100">
                          <a:solidFill>
                            <a:srgbClr val="333333"/>
                          </a:solidFill>
                          <a:latin typeface="Times New Roman"/>
                        </a:defRPr>
                      </a:pPr>
                      <a:r>
                        <a:t>System testing, performance evaluation, documentation</a:t>
                      </a:r>
                    </a:p>
                  </a:txBody>
                  <a:tcPr>
                    <a:solidFill>
                      <a:srgbClr val="FFFFFF"/>
                    </a:solidFill>
                  </a:tcPr>
                </a:tc>
              </a:tr>
            </a:tbl>
          </a:graphicData>
        </a:graphic>
      </p:graphicFrame>
      <p:sp>
        <p:nvSpPr>
          <p:cNvPr id="7" name="TextBox 6"/>
          <p:cNvSpPr txBox="1"/>
          <p:nvPr/>
        </p:nvSpPr>
        <p:spPr>
          <a:xfrm>
            <a:off x="640080" y="5486400"/>
            <a:ext cx="10515600" cy="274320"/>
          </a:xfrm>
          <a:prstGeom prst="rect">
            <a:avLst/>
          </a:prstGeom>
          <a:noFill/>
        </p:spPr>
        <p:txBody>
          <a:bodyPr wrap="square">
            <a:spAutoFit/>
          </a:bodyPr>
          <a:lstStyle/>
          <a:p>
            <a:pPr algn="l">
              <a:defRPr sz="1400" b="0" i="0">
                <a:solidFill>
                  <a:srgbClr val="666666"/>
                </a:solidFill>
                <a:latin typeface="Times New Roman"/>
              </a:defRPr>
            </a:pPr>
            <a:r>
              <a:t>This is Project Plan 1.0. We will refine the timeline based on feedback from this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2286000"/>
            <a:ext cx="12191695" cy="731520"/>
          </a:xfrm>
          <a:prstGeom prst="rect">
            <a:avLst/>
          </a:prstGeom>
          <a:noFill/>
        </p:spPr>
        <p:txBody>
          <a:bodyPr wrap="square">
            <a:spAutoFit/>
          </a:bodyPr>
          <a:lstStyle/>
          <a:p>
            <a:pPr algn="ctr">
              <a:defRPr sz="4400" b="0" i="0">
                <a:solidFill>
                  <a:srgbClr val="7030A0"/>
                </a:solidFill>
                <a:latin typeface="Times New Roman"/>
              </a:defRPr>
            </a:pPr>
            <a:r>
              <a:t>Thank You</a:t>
            </a:r>
          </a:p>
        </p:txBody>
      </p:sp>
      <p:sp>
        <p:nvSpPr>
          <p:cNvPr id="3" name="TextBox 2"/>
          <p:cNvSpPr txBox="1"/>
          <p:nvPr/>
        </p:nvSpPr>
        <p:spPr>
          <a:xfrm>
            <a:off x="0" y="3200400"/>
            <a:ext cx="12191695" cy="365760"/>
          </a:xfrm>
          <a:prstGeom prst="rect">
            <a:avLst/>
          </a:prstGeom>
          <a:noFill/>
        </p:spPr>
        <p:txBody>
          <a:bodyPr wrap="square">
            <a:spAutoFit/>
          </a:bodyPr>
          <a:lstStyle/>
          <a:p>
            <a:pPr algn="ctr">
              <a:defRPr sz="2000" b="0" i="0">
                <a:solidFill>
                  <a:srgbClr val="666666"/>
                </a:solidFill>
                <a:latin typeface="Times New Roman"/>
              </a:defRPr>
            </a:pPr>
            <a:r>
              <a:t>Questions &amp; Suggestions Welcome</a:t>
            </a:r>
          </a:p>
        </p:txBody>
      </p:sp>
      <p:sp>
        <p:nvSpPr>
          <p:cNvPr id="4" name="TextBox 3"/>
          <p:cNvSpPr txBox="1"/>
          <p:nvPr/>
        </p:nvSpPr>
        <p:spPr>
          <a:xfrm>
            <a:off x="0" y="4389120"/>
            <a:ext cx="12191695" cy="274320"/>
          </a:xfrm>
          <a:prstGeom prst="rect">
            <a:avLst/>
          </a:prstGeom>
          <a:noFill/>
        </p:spPr>
        <p:txBody>
          <a:bodyPr wrap="square">
            <a:spAutoFit/>
          </a:bodyPr>
          <a:lstStyle/>
          <a:p>
            <a:pPr algn="ctr">
              <a:defRPr sz="1600" b="0" i="0">
                <a:solidFill>
                  <a:srgbClr val="333333"/>
                </a:solidFill>
                <a:latin typeface="Times New Roman"/>
              </a:defRPr>
            </a:pPr>
            <a:r>
              <a:t>Bhakti Jayantilal Gundecha  |  Parth Lokhande  |  Udaykiran Bitla</a:t>
            </a:r>
          </a:p>
        </p:txBody>
      </p:sp>
      <p:sp>
        <p:nvSpPr>
          <p:cNvPr id="5" name="TextBox 4"/>
          <p:cNvSpPr txBox="1"/>
          <p:nvPr/>
        </p:nvSpPr>
        <p:spPr>
          <a:xfrm>
            <a:off x="0" y="4754880"/>
            <a:ext cx="12191695" cy="274320"/>
          </a:xfrm>
          <a:prstGeom prst="rect">
            <a:avLst/>
          </a:prstGeom>
          <a:noFill/>
        </p:spPr>
        <p:txBody>
          <a:bodyPr wrap="square">
            <a:spAutoFit/>
          </a:bodyPr>
          <a:lstStyle/>
          <a:p>
            <a:pPr algn="ctr">
              <a:defRPr sz="1400" b="0" i="0">
                <a:solidFill>
                  <a:srgbClr val="666666"/>
                </a:solidFill>
                <a:latin typeface="Times New Roman"/>
              </a:defRPr>
            </a:pPr>
            <a:r>
              <a:t>Guide: Prof. Mrs. M. U. Buchade  |  Group 19  |  Dept. of AI &amp; DS</a:t>
            </a:r>
          </a:p>
        </p:txBody>
      </p:sp>
      <p:sp>
        <p:nvSpPr>
          <p:cNvPr id="6" name="TextBox 5"/>
          <p:cNvSpPr txBox="1"/>
          <p:nvPr/>
        </p:nvSpPr>
        <p:spPr>
          <a:xfrm>
            <a:off x="11430000" y="6492240"/>
            <a:ext cx="640080" cy="228600"/>
          </a:xfrm>
          <a:prstGeom prst="rect">
            <a:avLst/>
          </a:prstGeom>
          <a:noFill/>
        </p:spPr>
        <p:txBody>
          <a:bodyPr wrap="square">
            <a:spAutoFit/>
          </a:bodyPr>
          <a:lstStyle/>
          <a:p>
            <a:pPr algn="r">
              <a:defRPr sz="1100" b="0" i="0">
                <a:solidFill>
                  <a:srgbClr val="666666"/>
                </a:solidFill>
                <a:latin typeface="Times New Roman"/>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